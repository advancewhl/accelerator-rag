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a45220862d4bdd" /><Relationship Type="http://schemas.openxmlformats.org/officeDocument/2006/relationships/extended-properties" Target="/docProps/app.xml" Id="Rd6d36cfdeff746e5" /><Relationship Type="http://schemas.openxmlformats.org/officeDocument/2006/relationships/officeDocument" Target="/ppt/presentation.xml" Id="Rb69526e9068547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09382867544992"/>
  </p:sldMasterIdLst>
  <p:notesMasterIdLst>
    <p:notesMasterId xmlns:r="http://schemas.openxmlformats.org/officeDocument/2006/relationships" r:id="R2a815eab572a4092"/>
  </p:notesMasterIdLst>
  <p:sldIdLst>
    <p:sldId xmlns:r="http://schemas.openxmlformats.org/officeDocument/2006/relationships" id="256" r:id="Rcf30325fd034485e"/>
  </p:sldIdLst>
  <p:sldSz cx="16897350" cy="84486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1663397e624e5d" /><Relationship Type="http://schemas.openxmlformats.org/officeDocument/2006/relationships/slideMaster" Target="/ppt/slideMasters/slideMaster1.xml" Id="Rd909382867544992" /><Relationship Type="http://schemas.openxmlformats.org/officeDocument/2006/relationships/notesMaster" Target="/ppt/notesMasters/notesMaster1.xml" Id="R2a815eab572a4092" /><Relationship Type="http://schemas.openxmlformats.org/officeDocument/2006/relationships/presProps" Target="/ppt/presProps.xml" Id="R365662780b6042e8" /><Relationship Type="http://schemas.openxmlformats.org/officeDocument/2006/relationships/tableStyles" Target="/ppt/tableStyles.xml" Id="Rae757e5828bb4bbe" /><Relationship Type="http://schemas.openxmlformats.org/officeDocument/2006/relationships/slide" Target="/ppt/slides/slide1.xml" Id="Rcf30325fd03448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59511708ce40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d6c8d21c4c499a" /><Relationship Type="http://schemas.openxmlformats.org/officeDocument/2006/relationships/notesMaster" Target="/ppt/notesMasters/notesMaster1.xml" Id="R993c87d6db0d4a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of /tmp/codex-clipboard-2ca996f2-4aae-4a40-8404-9c980f6d13bd.png. Fonts: SimSun and Times New Roman. All elements are native PowerPoint shapes and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62596c00246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2ffc6775a14cc4" /><Relationship Type="http://schemas.openxmlformats.org/officeDocument/2006/relationships/slideLayout" Target="/ppt/slideLayouts/slideLayout1.xml" Id="Rb4f6608b12e447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f6608b12e447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5fd6208f94fb3" /><Relationship Type="http://schemas.openxmlformats.org/officeDocument/2006/relationships/notesSlide" Target="/ppt/notesSlides/notesSlide1.xml" Id="Rbb507d5f6a754d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0F83936-918E-4F67-950B-B32D9C00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8600"/>
            <a:ext cx="8896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92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RAG 技术发展路线图（2020–2026）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57F6E-7675-4336-8684-B8AB1B0F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7181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025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从文档检索到 Agentic Knowledge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E78AD-332B-4E67-B552-DDFCD6DE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352550"/>
            <a:ext cx="16611600" cy="6286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111111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9210B-FCB3-469C-B3BC-C0496F50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28750"/>
            <a:ext cx="889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核心问题：LLM 如何访问、组织、验证并利用外部知识？</a:t>
            </a:r>
          </a:p>
        </p:txBody>
      </p:sp>
      <p:sp>
        <p:nvSpPr>
          <p:cNvPr id="5" name="Stage 1">
            <a:extLst xmlns:a="http://schemas.openxmlformats.org/drawingml/2006/main">
              <a:ext uri="{FF2B5EF4-FFF2-40B4-BE49-F238E27FC236}">
                <a16:creationId xmlns:a16="http://schemas.microsoft.com/office/drawing/2014/main" id="{E8EDAF71-916F-4D13-A4A1-422DF17C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62200"/>
            <a:ext cx="2609850" cy="4924425"/>
          </a:xfrm>
          <a:prstGeom xmlns:a="http://schemas.openxmlformats.org/drawingml/2006/main" prst="roundRect">
            <a:avLst>
              <a:gd name="adj" fmla="val 47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11111"/>
            </a:solidFill>
            <a:prstDash val="dash"/>
          </a:ln>
        </p:spPr>
      </p:sp>
      <p:sp>
        <p:nvSpPr>
          <p:cNvPr id="6" name="Stage 2">
            <a:extLst xmlns:a="http://schemas.openxmlformats.org/drawingml/2006/main">
              <a:ext uri="{FF2B5EF4-FFF2-40B4-BE49-F238E27FC236}">
                <a16:creationId xmlns:a16="http://schemas.microsoft.com/office/drawing/2014/main" id="{540A8D56-10E0-4FA9-9EFC-0C78193B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362200"/>
            <a:ext cx="2476500" cy="49244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11111"/>
            </a:solidFill>
            <a:prstDash val="dash"/>
          </a:ln>
        </p:spPr>
      </p:sp>
      <p:sp>
        <p:nvSpPr>
          <p:cNvPr id="7" name="Stage 3">
            <a:extLst xmlns:a="http://schemas.openxmlformats.org/drawingml/2006/main">
              <a:ext uri="{FF2B5EF4-FFF2-40B4-BE49-F238E27FC236}">
                <a16:creationId xmlns:a16="http://schemas.microsoft.com/office/drawing/2014/main" id="{09CAC674-0AF1-4E12-B7AD-7D57BF34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62200"/>
            <a:ext cx="2771775" cy="4924425"/>
          </a:xfrm>
          <a:prstGeom xmlns:a="http://schemas.openxmlformats.org/drawingml/2006/main" prst="roundRect">
            <a:avLst>
              <a:gd name="adj" fmla="val 44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11111"/>
            </a:solidFill>
            <a:prstDash val="dash"/>
          </a:ln>
        </p:spPr>
      </p:sp>
      <p:sp>
        <p:nvSpPr>
          <p:cNvPr id="8" name="Stage 4">
            <a:extLst xmlns:a="http://schemas.openxmlformats.org/drawingml/2006/main">
              <a:ext uri="{FF2B5EF4-FFF2-40B4-BE49-F238E27FC236}">
                <a16:creationId xmlns:a16="http://schemas.microsoft.com/office/drawing/2014/main" id="{5931C54C-7539-4356-ACFC-11847271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62200"/>
            <a:ext cx="3057525" cy="4924425"/>
          </a:xfrm>
          <a:prstGeom xmlns:a="http://schemas.openxmlformats.org/drawingml/2006/main" prst="roundRect">
            <a:avLst>
              <a:gd name="adj" fmla="val 40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11111"/>
            </a:solidFill>
            <a:prstDash val="dash"/>
          </a:ln>
        </p:spPr>
      </p:sp>
      <p:sp>
        <p:nvSpPr>
          <p:cNvPr id="9" name="Stage 5">
            <a:extLst xmlns:a="http://schemas.openxmlformats.org/drawingml/2006/main">
              <a:ext uri="{FF2B5EF4-FFF2-40B4-BE49-F238E27FC236}">
                <a16:creationId xmlns:a16="http://schemas.microsoft.com/office/drawing/2014/main" id="{849EE00E-E767-40BD-A316-C999B588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2362200"/>
            <a:ext cx="2438400" cy="4924425"/>
          </a:xfrm>
          <a:prstGeom xmlns:a="http://schemas.openxmlformats.org/drawingml/2006/main" prst="roundRect">
            <a:avLst>
              <a:gd name="adj" fmla="val 50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11111"/>
            </a:solidFill>
            <a:prstDash val="dash"/>
          </a:ln>
        </p:spPr>
      </p:sp>
      <p:sp>
        <p:nvSpPr>
          <p:cNvPr id="10" name="Stage 6">
            <a:extLst xmlns:a="http://schemas.openxmlformats.org/drawingml/2006/main">
              <a:ext uri="{FF2B5EF4-FFF2-40B4-BE49-F238E27FC236}">
                <a16:creationId xmlns:a16="http://schemas.microsoft.com/office/drawing/2014/main" id="{2B6C5822-3FF4-4F10-99B7-946A91B7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2362200"/>
            <a:ext cx="2628900" cy="4924425"/>
          </a:xfrm>
          <a:prstGeom xmlns:a="http://schemas.openxmlformats.org/drawingml/2006/main" prst="roundRect">
            <a:avLst>
              <a:gd name="adj" fmla="val 47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11111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12C41-A2A2-4FF3-A3C7-1E532FE6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9812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233CC-2AA2-4A51-A2F7-27C362D2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76475"/>
            <a:ext cx="95250" cy="85725"/>
          </a:xfrm>
          <a:custGeom xmlns:a="http://schemas.openxmlformats.org/drawingml/2006/main"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DA1D1-952D-4690-B0F7-66A72505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9812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753AB-F96A-4F60-8BDE-B590E1B6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76475"/>
            <a:ext cx="95250" cy="85725"/>
          </a:xfrm>
          <a:custGeom xmlns:a="http://schemas.openxmlformats.org/drawingml/2006/main"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E1B5E-005E-4644-8F59-505FADAC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812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84EC7-1584-4E44-9921-8FE96242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76475"/>
            <a:ext cx="95250" cy="85725"/>
          </a:xfrm>
          <a:custGeom xmlns:a="http://schemas.openxmlformats.org/drawingml/2006/main"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B3990-2775-4C00-981F-0FD6854C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812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B85C65-C4AC-44F1-9A2A-7B98BA5E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76475"/>
            <a:ext cx="95250" cy="85725"/>
          </a:xfrm>
          <a:custGeom xmlns:a="http://schemas.openxmlformats.org/drawingml/2006/main"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BEA11B-2E95-4879-8455-BB4FE121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19812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6378D9-D60A-4FED-8F4F-ED1B03AF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2276475"/>
            <a:ext cx="95250" cy="85725"/>
          </a:xfrm>
          <a:custGeom xmlns:a="http://schemas.openxmlformats.org/drawingml/2006/main"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37934A-3B3A-427A-9952-09280208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19812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47E3D8-3D16-4D37-BC2F-5329A20B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0975" y="2276475"/>
            <a:ext cx="95250" cy="85725"/>
          </a:xfrm>
          <a:custGeom xmlns:a="http://schemas.openxmlformats.org/drawingml/2006/main"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C18873-3D3F-4CFC-80A4-277E573F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447925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3F29F8-FEE7-42F9-834C-8C111DA7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245745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1.  2020 起点：RAG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537ADE-D8C2-450B-97BE-56466C5C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38400"/>
            <a:ext cx="2343150" cy="657225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79EE7E-E268-40FA-96A6-EF94D454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47925"/>
            <a:ext cx="23050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2.  2021–2022</a:t>
            </a:r>
          </a:p>
          <a:p xmlns:a="http://schemas.openxmlformats.org/drawingml/2006/main">
            <a:pPr algn="ctr">
              <a:defRPr sz="157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Naive RAG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5E475A-BEB3-4CE3-B699-9839F133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438400"/>
            <a:ext cx="2638425" cy="657225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546B1E-6E73-4B8C-81B2-0E6F1869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447925"/>
            <a:ext cx="26003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3.  2023–2024</a:t>
            </a:r>
          </a:p>
          <a:p xmlns:a="http://schemas.openxmlformats.org/drawingml/2006/main">
            <a:pPr algn="ctr">
              <a:defRPr sz="157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Advanced / Modular RAG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633BB8-316B-46E5-A189-726DC85C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47925"/>
            <a:ext cx="29241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9B0086-50A8-4F96-9887-F174859A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2886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4.  2024 知识结构化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E4DB35-B791-4094-AD4F-F675A8B9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2438400"/>
            <a:ext cx="2305050" cy="657225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4BEB0E-AA7E-4BEF-B33A-B61B676F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2447925"/>
            <a:ext cx="2266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5.  2024–2025</a:t>
            </a:r>
          </a:p>
          <a:p xmlns:a="http://schemas.openxmlformats.org/drawingml/2006/main">
            <a:pPr algn="ctr">
              <a:defRPr sz="157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检索决策与可靠性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06E263-2724-498F-998C-5C393D76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825" y="2438400"/>
            <a:ext cx="2495550" cy="657225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B2FD16-29AE-4E43-B509-23D5EB60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2447925"/>
            <a:ext cx="24574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6.  2025–2026</a:t>
            </a:r>
          </a:p>
          <a:p xmlns:a="http://schemas.openxmlformats.org/drawingml/2006/main">
            <a:pPr algn="ctr">
              <a:defRPr sz="157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Agentic RAG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7C82A6-B463-47F9-A40F-0DCB22DA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010025"/>
            <a:ext cx="561975" cy="600075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9A65E5-D61D-4153-9603-0BB133B9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0025"/>
            <a:ext cx="7239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CD7F1C-1FCE-4F57-9616-8F7FA37E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010025"/>
            <a:ext cx="70485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A378C5-943B-4882-B8E2-BBB2320A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0767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Query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AB76A3-08B6-411E-B870-BF8B6F28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Retriever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934643-5D17-4C14-AF61-4940DE32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0767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Generator</a:t>
            </a:r>
          </a:p>
        </p:txBody>
      </p:sp>
      <p:cxnSp>
        <p:nvCxnSpPr>
          <p:cNvPr id="181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800100" y="431006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182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714500" y="4310063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DC4B41-1F65-4925-9931-3D4E2C3F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8864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5A5"/>
            </a:solidFill>
            <a:prstDash val="dash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ABB865-CD09-4816-8DE1-756E6EE6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150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00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外部知识增强生成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DCF071-8924-4547-9590-7137C05B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419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00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参数化记忆 + 非参数化记忆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BCC4A1-D553-4AB6-BCB4-A2FFEA13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724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00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代表：Lewis et al., 2020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A2533E-495F-4F05-A11D-FF1A5A01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181350"/>
            <a:ext cx="15240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31A021-AA2F-4C00-B48A-C107D6DF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004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文档解析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039FA2-8AB6-44BA-B0CE-2D8F7A57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619500"/>
            <a:ext cx="15240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D33CC5-FF39-48C0-B713-B5683E8F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3855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切块</a:t>
            </a:r>
          </a:p>
        </p:txBody>
      </p:sp>
      <p:cxnSp>
        <p:nvCxnSpPr>
          <p:cNvPr id="191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4105275" y="3514725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C957B8-F91D-4691-BB24-9851293E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57650"/>
            <a:ext cx="15240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6A593E4-5790-42E9-BCD0-5648B26A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767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Embedding</a:t>
            </a:r>
          </a:p>
        </p:txBody>
      </p:sp>
      <p:cxnSp>
        <p:nvCxnSpPr>
          <p:cNvPr id="194" name=""/>
          <p:cNvCxnSpPr>
            <a:stCxn xmlns:a="http://schemas.openxmlformats.org/drawingml/2006/main" id="49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4105275" y="3952875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1105EE-AF22-4D08-B081-10A72920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495800"/>
            <a:ext cx="15240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C220EC-5D80-459D-9701-AA6C21DE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1485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向量库</a:t>
            </a:r>
          </a:p>
        </p:txBody>
      </p:sp>
      <p:cxnSp>
        <p:nvCxnSpPr>
          <p:cNvPr id="197" name=""/>
          <p:cNvCxnSpPr>
            <a:stCxn xmlns:a="http://schemas.openxmlformats.org/drawingml/2006/main" id="52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4105275" y="4391025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836182-ECF3-407C-86BE-94CAEF36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933950"/>
            <a:ext cx="15240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A354AAD-0618-4250-8C31-FE811B2C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3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Top-K</a:t>
            </a:r>
          </a:p>
        </p:txBody>
      </p:sp>
      <p:cxnSp>
        <p:nvCxnSpPr>
          <p:cNvPr id="200" name=""/>
          <p:cNvCxnSpPr>
            <a:stCxn xmlns:a="http://schemas.openxmlformats.org/drawingml/2006/main" id="55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4105275" y="4829175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F3FAA6C-5EC6-467E-BBF3-7E31B1E8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372100"/>
            <a:ext cx="15240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4A191E-C532-49C2-B25F-FF6014E8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9115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LLM</a:t>
            </a:r>
          </a:p>
        </p:txBody>
      </p:sp>
      <p:cxnSp>
        <p:nvCxnSpPr>
          <p:cNvPr id="203" name=""/>
          <p:cNvCxnSpPr>
            <a:stCxn xmlns:a="http://schemas.openxmlformats.org/drawingml/2006/main" id="58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4105275" y="5267325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F3AB370-196F-48FA-AE02-EF24BD54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88645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5A5"/>
            </a:solidFill>
            <a:prstDash val="dash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F98BB8-E3E1-4749-9EA2-0ED36521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1150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工程化落地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5BE53A3-4F82-4243-8529-CA268AE7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4198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快速接入私有知识库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C91CDDE-F377-4685-A83A-663FFD54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7246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451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问题：Chunk 边界、固定 Top-K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5538670-E6CB-4493-B135-8B132FBE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81350"/>
            <a:ext cx="177165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1AAE866-96B1-4918-9C6F-E35EE2C9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004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Query Rewrite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C911A76-0115-40C3-8A99-A42EEC58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619500"/>
            <a:ext cx="177165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310B4F6-3397-48C7-B25F-3FE6A7E3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3855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Hybrid Retrieval</a:t>
            </a:r>
          </a:p>
        </p:txBody>
      </p:sp>
      <p:cxnSp>
        <p:nvCxnSpPr>
          <p:cNvPr id="212" name=""/>
          <p:cNvCxnSpPr>
            <a:stCxn xmlns:a="http://schemas.openxmlformats.org/drawingml/2006/main" id="68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>
            <a:off x="6877050" y="3514725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EF736A8-4442-4F1E-B9AD-24A7490B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57650"/>
            <a:ext cx="177165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CA4D00D-FB26-4ED9-96E6-6DC010B6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767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Metadata Filter</a:t>
            </a:r>
          </a:p>
        </p:txBody>
      </p:sp>
      <p:cxnSp>
        <p:nvCxnSpPr>
          <p:cNvPr id="215" name=""/>
          <p:cNvCxnSpPr>
            <a:stCxn xmlns:a="http://schemas.openxmlformats.org/drawingml/2006/main" id="70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6877050" y="3952875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0067949-DE84-4339-A4BD-3E53FFCD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495800"/>
            <a:ext cx="177165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9D14771-7E5C-43A4-9775-3526EE9A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1485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Reranker</a:t>
            </a:r>
          </a:p>
        </p:txBody>
      </p:sp>
      <p:cxnSp>
        <p:nvCxnSpPr>
          <p:cNvPr id="218" name=""/>
          <p:cNvCxnSpPr>
            <a:stCxn xmlns:a="http://schemas.openxmlformats.org/drawingml/2006/main" id="73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6877050" y="4391025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FDC012B-ABA7-42D6-AB3C-418C1FA9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933950"/>
            <a:ext cx="177165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C19BA71-5694-4068-99E8-C3D80293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Context Compression</a:t>
            </a:r>
          </a:p>
        </p:txBody>
      </p:sp>
      <p:cxnSp>
        <p:nvCxnSpPr>
          <p:cNvPr id="221" name=""/>
          <p:cNvCxnSpPr>
            <a:stCxn xmlns:a="http://schemas.openxmlformats.org/drawingml/2006/main" id="76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6877050" y="4829175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48FF219-16B9-41C5-896F-DD5D9902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372100"/>
            <a:ext cx="177165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12421C4-3FD9-4BC0-B466-5B46CE6F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9115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Parent-Child / Fusion</a:t>
            </a:r>
          </a:p>
        </p:txBody>
      </p:sp>
      <p:cxnSp>
        <p:nvCxnSpPr>
          <p:cNvPr id="224" name=""/>
          <p:cNvCxnSpPr>
            <a:stCxn xmlns:a="http://schemas.openxmlformats.org/drawingml/2006/main" id="79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6877050" y="5267325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EBF7350-653B-4114-8473-FC2B2E3A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8864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5A5"/>
            </a:solidFill>
            <a:prstDash val="dash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AB1B12D-981F-43D1-8D44-A52267AD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6115050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检索链路优化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078047E-B7EC-46AF-8987-343EEFDD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642937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从黑盒 Retriever 到模块组合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FA7179A-E1D6-46DE-8AC8-CCCFE0A0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24225"/>
            <a:ext cx="1400175" cy="24193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A8A8A8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7062999-EFB2-4529-BB9C-2FC5236C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24225"/>
            <a:ext cx="1390650" cy="2419350"/>
          </a:xfrm>
          <a:prstGeom xmlns:a="http://schemas.openxmlformats.org/drawingml/2006/main" prst="roundRect">
            <a:avLst>
              <a:gd name="adj" fmla="val 61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A8A8A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5559BE6-98A9-4229-B74F-FBBC6A31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81375"/>
            <a:ext cx="128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GraphRAG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772001D-4748-4B4A-BCB3-EE3F1BD7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143375"/>
            <a:ext cx="12382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A8A8A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809FCB8-38D6-42C0-A2E9-55D56531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81475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25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实体 - 关系 - 社区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1180B77-F643-4ACD-97EC-881DA3FD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981575"/>
            <a:ext cx="1238250" cy="61912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A8A8A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4DA453D-96BF-40F6-A7A1-8D523045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10150"/>
            <a:ext cx="1181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Local / Global</a:t>
            </a:r>
          </a:p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Search</a:t>
            </a:r>
          </a:p>
        </p:txBody>
      </p:sp>
      <p:cxnSp>
        <p:nvCxnSpPr>
          <p:cNvPr id="235" name=""/>
          <p:cNvCxnSpPr>
            <a:stCxn xmlns:a="http://schemas.openxmlformats.org/drawingml/2006/main" id="91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9182100" y="4657725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D9DFA78-9A19-4D63-A866-F076CDD9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62325"/>
            <a:ext cx="1314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Hierarchical RAG /</a:t>
            </a:r>
          </a:p>
          <a:p xmlns:a="http://schemas.openxmlformats.org/drawingml/2006/main">
            <a:pPr algn="ctr">
              <a:defRPr sz="1238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RAPTOR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4FB59C9-37FE-4589-BC62-EC408F39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33850"/>
            <a:ext cx="1238250" cy="676275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A8A8A8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126CB28-6E16-4F62-BB99-B86CDEB0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171950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Chunk–Cluster–</a:t>
            </a:r>
          </a:p>
          <a:p xmlns:a="http://schemas.openxmlformats.org/drawingml/2006/main">
            <a:pPr algn="ctr">
              <a:defRPr sz="10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Summary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B419FFA-B901-4D3A-A056-04AE56DE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095875"/>
            <a:ext cx="12382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A8A8A8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CF60BF6-2ABD-4566-9557-6D02B439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133975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多层级检索</a:t>
            </a:r>
          </a:p>
        </p:txBody>
      </p:sp>
      <p:cxnSp>
        <p:nvCxnSpPr>
          <p:cNvPr id="241" name=""/>
          <p:cNvCxnSpPr>
            <a:stCxn xmlns:a="http://schemas.openxmlformats.org/drawingml/2006/main" id="97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10639425" y="48101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B3017CB-30AA-4B17-8E02-C92DE543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88645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5A5"/>
            </a:solidFill>
            <a:prstDash val="dash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9E2BCD1-1D34-4FCD-9DD9-8FA8A0FB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6381750"/>
            <a:ext cx="2828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00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从文本相似度到结构化知识理解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29E680E-EAF8-48A4-BFEE-5C940EC9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3419475"/>
            <a:ext cx="16383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45CBE57-1C26-46CA-8D20-478A9527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343852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Adaptive RAG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D3018DA-138A-4B16-81BA-8FD2BEFC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4210050"/>
            <a:ext cx="16383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5E115B3-5472-4B16-970C-AFA82C7E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22910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Self-RAG</a:t>
            </a:r>
          </a:p>
        </p:txBody>
      </p:sp>
      <p:cxnSp>
        <p:nvCxnSpPr>
          <p:cNvPr id="248" name=""/>
          <p:cNvCxnSpPr>
            <a:stCxn xmlns:a="http://schemas.openxmlformats.org/drawingml/2006/main" id="104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12830175" y="3933825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8CB61B5-62B7-4CCE-8655-6E86BB40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5000625"/>
            <a:ext cx="16383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C39F8E6-653F-4BC9-8BC4-051F4B20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501967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CRAG</a:t>
            </a:r>
          </a:p>
        </p:txBody>
      </p:sp>
      <p:cxnSp>
        <p:nvCxnSpPr>
          <p:cNvPr id="251" name=""/>
          <p:cNvCxnSpPr>
            <a:stCxn xmlns:a="http://schemas.openxmlformats.org/drawingml/2006/main" id="106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12830175" y="4724400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26A987E-EE92-4FC1-82DC-4DAC625F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58864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5A5"/>
            </a:solidFill>
            <a:prstDash val="dash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7211C43-2505-45F4-8C51-E89D412C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115050"/>
            <a:ext cx="2181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何时检索、查什么、查多少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71B7CE8-F4F4-4AD5-8999-A32260D7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419850"/>
            <a:ext cx="2181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自反思 / 纠错 / 验证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3BEC13F-BB62-4CBF-B3FA-1B9C7E47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724650"/>
            <a:ext cx="2181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从 Accuracy 到 Reliability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D4A3BFB-F998-41B5-9581-9BC7E1E2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095750"/>
            <a:ext cx="904875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BD2C4AB-CB90-4720-8ED7-F68968DE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4152900"/>
            <a:ext cx="828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Planning /</a:t>
            </a:r>
          </a:p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Routing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8F572B9-C937-4562-8394-039567B7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5275" y="3324225"/>
            <a:ext cx="1114425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43C851C-6F23-46A1-BBCE-C83596B6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325" y="3343275"/>
            <a:ext cx="10763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Tool Use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F199BF3-5A29-40E2-9277-607DEADD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5275" y="3905250"/>
            <a:ext cx="1114425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36A69F3-3CAF-4441-9E57-9B97898C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325" y="3924300"/>
            <a:ext cx="10763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Memory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439C973-0F19-4402-9098-499EA72F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5275" y="4486275"/>
            <a:ext cx="1114425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4C75037-EAD1-4DAA-85EF-40E375FA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325" y="4505325"/>
            <a:ext cx="10763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Multimodal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E135E34-24A1-4A19-B880-0125B5DA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5275" y="5067300"/>
            <a:ext cx="1114425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1B75F9C-6473-4A40-9F09-0302C086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325" y="5086350"/>
            <a:ext cx="10763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Online Data</a:t>
            </a:r>
          </a:p>
        </p:txBody>
      </p:sp>
      <p:cxnSp>
        <p:nvCxnSpPr>
          <p:cNvPr id="266" name=""/>
          <p:cNvCxnSpPr>
            <a:stCxn xmlns:a="http://schemas.openxmlformats.org/drawingml/2006/main" id="116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 flipV="1">
            <a:off x="15192375" y="3567113"/>
            <a:ext cx="342900" cy="842963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267" name=""/>
          <p:cNvCxnSpPr>
            <a:stCxn xmlns:a="http://schemas.openxmlformats.org/drawingml/2006/main" id="116" idx="3"/>
            <a:endCxn xmlns:a="http://schemas.openxmlformats.org/drawingml/2006/main" id="120" idx="1"/>
          </p:cNvCxnSpPr>
          <p:nvPr/>
        </p:nvCxnSpPr>
        <p:spPr>
          <a:xfrm xmlns:a="http://schemas.openxmlformats.org/drawingml/2006/main" flipV="1">
            <a:off x="15192375" y="4148138"/>
            <a:ext cx="342900" cy="261938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268" name=""/>
          <p:cNvCxnSpPr>
            <a:stCxn xmlns:a="http://schemas.openxmlformats.org/drawingml/2006/main" id="116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15192375" y="4410075"/>
            <a:ext cx="342900" cy="319088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269" name=""/>
          <p:cNvCxnSpPr>
            <a:stCxn xmlns:a="http://schemas.openxmlformats.org/drawingml/2006/main" id="116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15192375" y="4410075"/>
            <a:ext cx="342900" cy="900113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B1FEAE8-8860-47D1-A4F4-2C4E719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5A5"/>
            </a:solidFill>
            <a:prstDash val="dash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C1A4F61-0A03-4CB9-AE62-9E04C5E6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6115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25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检索与推理交替进行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C7389B4-C01E-404C-ACB6-54A0E04D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6419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25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面向任务的动态知识访问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D082BC1-482C-417B-A798-B4F81D91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67246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25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RAG 成为 Agent 的知识基础设施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A0779CF-B8DC-4DA6-BA18-0503A0EC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400550"/>
            <a:ext cx="295275" cy="3143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F39CFF5-79E6-4F0C-A22F-89DD56C2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400550"/>
            <a:ext cx="295275" cy="3143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6E55A39-CD44-4A88-A8F3-5AD55A62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00550"/>
            <a:ext cx="295275" cy="3143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7011263-35B7-48AB-A548-50045ACD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400550"/>
            <a:ext cx="295275" cy="3143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7E635AB-E9A4-43FE-8760-468AFF26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400550"/>
            <a:ext cx="295275" cy="3143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CFFA333-9002-42C8-8473-3F8F9803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7610475"/>
            <a:ext cx="16611600" cy="638175"/>
          </a:xfrm>
          <a:prstGeom xmlns:a="http://schemas.openxmlformats.org/drawingml/2006/main" prst="roundRect">
            <a:avLst>
              <a:gd name="adj" fmla="val 20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111111"/>
            </a:solidFill>
            <a:prstDash val="dash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2D75B65-4E68-40AD-B0D7-169072F1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705725"/>
            <a:ext cx="11753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结论：RAG 不是单线替代，而是检索能力、知识组织、流程控制、知识模态与可靠性五个维度的并行升级。</a:t>
            </a:r>
          </a:p>
        </p:txBody>
      </p:sp>
    </p:spTree>
    <p:extLst>
      <p:ext uri="{BB962C8B-B14F-4D97-AF65-F5344CB8AC3E}">
        <p14:creationId xmlns:p14="http://schemas.microsoft.com/office/powerpoint/2010/main" val="10531749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2026-09-08T09:06:15.6190000Z</dcterms:created>
  <dcterms:modified xsi:type="dcterms:W3CDTF">2026-09-08T09:06:15.6190000Z</dcterms:modified>
</coreProperties>
</file>