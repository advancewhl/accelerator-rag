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ac80098e604884" /><Relationship Type="http://schemas.openxmlformats.org/officeDocument/2006/relationships/extended-properties" Target="/docProps/app.xml" Id="R37832a966f3e40d2" /><Relationship Type="http://schemas.openxmlformats.org/officeDocument/2006/relationships/officeDocument" Target="/ppt/presentation.xml" Id="Rcc8c0e2777a14b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a482e113be4f5f"/>
  </p:sldMasterIdLst>
  <p:notesMasterIdLst>
    <p:notesMasterId xmlns:r="http://schemas.openxmlformats.org/officeDocument/2006/relationships" r:id="R56b488ba2ab246f7"/>
  </p:notesMasterIdLst>
  <p:sldIdLst>
    <p:sldId xmlns:r="http://schemas.openxmlformats.org/officeDocument/2006/relationships" id="256" r:id="R4eac7e24e686435d"/>
    <p:sldId xmlns:r="http://schemas.openxmlformats.org/officeDocument/2006/relationships" id="257" r:id="R183a356125bf4f0b"/>
    <p:sldId xmlns:r="http://schemas.openxmlformats.org/officeDocument/2006/relationships" id="258" r:id="R3d6ae403b00b4e5a"/>
    <p:sldId xmlns:r="http://schemas.openxmlformats.org/officeDocument/2006/relationships" id="259" r:id="Rd1567ec6eb5d4f87"/>
    <p:sldId xmlns:r="http://schemas.openxmlformats.org/officeDocument/2006/relationships" id="260" r:id="Rff9d620894444220"/>
    <p:sldId xmlns:r="http://schemas.openxmlformats.org/officeDocument/2006/relationships" id="261" r:id="Rbb7c8fbdbe0e4d64"/>
    <p:sldId xmlns:r="http://schemas.openxmlformats.org/officeDocument/2006/relationships" id="262" r:id="Raed48bbdbad64101"/>
    <p:sldId xmlns:r="http://schemas.openxmlformats.org/officeDocument/2006/relationships" id="263" r:id="R69fc7424fc9c4fbd"/>
  </p:sldIdLst>
  <p:sldSz cx="16897350" cy="84486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a0463ab3f647e8" /><Relationship Type="http://schemas.openxmlformats.org/officeDocument/2006/relationships/slideMaster" Target="/ppt/slideMasters/slideMaster1.xml" Id="Re3a482e113be4f5f" /><Relationship Type="http://schemas.openxmlformats.org/officeDocument/2006/relationships/notesMaster" Target="/ppt/notesMasters/notesMaster1.xml" Id="R56b488ba2ab246f7" /><Relationship Type="http://schemas.openxmlformats.org/officeDocument/2006/relationships/presProps" Target="/ppt/presProps.xml" Id="Rff36eb1c383d471c" /><Relationship Type="http://schemas.openxmlformats.org/officeDocument/2006/relationships/tableStyles" Target="/ppt/tableStyles.xml" Id="R9d1756dd10d84524" /><Relationship Type="http://schemas.openxmlformats.org/officeDocument/2006/relationships/slide" Target="/ppt/slides/slide1.xml" Id="R4eac7e24e686435d" /><Relationship Type="http://schemas.openxmlformats.org/officeDocument/2006/relationships/slide" Target="/ppt/slides/slide2.xml" Id="R183a356125bf4f0b" /><Relationship Type="http://schemas.openxmlformats.org/officeDocument/2006/relationships/slide" Target="/ppt/slides/slide3.xml" Id="R3d6ae403b00b4e5a" /><Relationship Type="http://schemas.openxmlformats.org/officeDocument/2006/relationships/slide" Target="/ppt/slides/slide4.xml" Id="Rd1567ec6eb5d4f87" /><Relationship Type="http://schemas.openxmlformats.org/officeDocument/2006/relationships/slide" Target="/ppt/slides/slide5.xml" Id="Rff9d620894444220" /><Relationship Type="http://schemas.openxmlformats.org/officeDocument/2006/relationships/slide" Target="/ppt/slides/slide6.xml" Id="Rbb7c8fbdbe0e4d64" /><Relationship Type="http://schemas.openxmlformats.org/officeDocument/2006/relationships/slide" Target="/ppt/slides/slide7.xml" Id="Raed48bbdbad64101" /><Relationship Type="http://schemas.openxmlformats.org/officeDocument/2006/relationships/slide" Target="/ppt/slides/slide8.xml" Id="R69fc7424fc9c4f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6f5ec81db645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8f7fe03d524fa7" /><Relationship Type="http://schemas.openxmlformats.org/officeDocument/2006/relationships/notesMaster" Target="/ppt/notesMasters/notesMaster1.xml" Id="Ra6d87ebdaa8c40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1d1407ded94c24" /><Relationship Type="http://schemas.openxmlformats.org/officeDocument/2006/relationships/notesMaster" Target="/ppt/notesMasters/notesMaster1.xml" Id="R346fa154cc2646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2785526f334b89" /><Relationship Type="http://schemas.openxmlformats.org/officeDocument/2006/relationships/notesMaster" Target="/ppt/notesMasters/notesMaster1.xml" Id="R0a73689577da42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84499e440140b9" /><Relationship Type="http://schemas.openxmlformats.org/officeDocument/2006/relationships/notesMaster" Target="/ppt/notesMasters/notesMaster1.xml" Id="Rb5fe430b5dd84a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f3b63762684af5" /><Relationship Type="http://schemas.openxmlformats.org/officeDocument/2006/relationships/notesMaster" Target="/ppt/notesMasters/notesMaster1.xml" Id="Rc22c2962388841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387d2a88a549d9" /><Relationship Type="http://schemas.openxmlformats.org/officeDocument/2006/relationships/notesMaster" Target="/ppt/notesMasters/notesMaster1.xml" Id="Rc6dddb7758824c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c2392e6a054c6b" /><Relationship Type="http://schemas.openxmlformats.org/officeDocument/2006/relationships/notesMaster" Target="/ppt/notesMasters/notesMaster1.xml" Id="R879f3b77e67249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ba29fdd7154132" /><Relationship Type="http://schemas.openxmlformats.org/officeDocument/2006/relationships/notesMaster" Target="/ppt/notesMasters/notesMaster1.xml" Id="R12f6a9f9862f41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spc="-1">
                <a:latin typeface="Arial"/>
                <a:ea typeface="Arial"/>
                <a:cs typeface="Arial"/>
              </a:rPr>
              <a:t>Editable English reconstruction of the user-provided reference image. All frames, boxes, arrows, and labels are native PowerPoint objects. Font: Times New Roman.</a:t>
            </a:r>
            <a:endParaRPr sz="2000" b="0" spc="-1"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spc="-1">
                <a:latin typeface="Arial"/>
                <a:ea typeface="Arial"/>
                <a:cs typeface="Arial"/>
              </a:rPr>
              <a:t>Editable Chinese reconstruction of the user-provided reference image. All frames, boxes, arrows, and labels are native PowerPoint objects. Font: SimSun.</a:t>
            </a:r>
            <a:endParaRPr sz="2000" b="0" spc="-1"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内容依据：/home/whloong/projects/accelerator-rag/output/pdf/SHINE_EPICS_风险敏感混合检索_综合研究设计报告.pdf，主要参考第 5–9 页。版式与字体依据：/home/whloong/组会/26-9-8_rag分析.pptx。新增文字与公式为对报告所述方法的结构化表达；未加入虚构实验结果。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内容依据：/home/whloong/projects/accelerator-rag/output/pdf/SHINE_EPICS_风险敏感混合检索_综合研究设计报告.pdf，主要参考第 8–10 页。版式与字体依据：/home/whloong/组会/26-9-8_rag分析.pptx。新增文字与公式为对报告所述方法的结构化表达；未加入虚构实验结果。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内容依据：/home/whloong/projects/accelerator-rag/output/pdf/SHINE_EPICS_风险敏感混合检索_综合研究设计报告.pdf，主要参考第 6–12 页。版式与字体依据：/home/whloong/组会/26-9-8_rag分析.pptx。新增文字与公式为对报告所述方法的结构化表达；未加入虚构实验结果。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内容依据：/home/whloong/projects/accelerator-rag/output/pdf/SHINE_EPICS_风险敏感混合检索_综合研究设计报告.pdf，主要参考第 11–16 页。版式与字体依据：/home/whloong/组会/26-9-8_rag分析.pptx。新增文字与公式为对报告所述方法的结构化表达；未加入虚构实验结果。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a65c7a31f4420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64b15b1e5f420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58a93c5b9743b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cda5cb1cf8407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e13f2d98b14d6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a5ac0be32849e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e7f5e622fe4bf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7af4589ba641a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31aeb6cc784e0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ad960744c3468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e212d657dd47b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fadf5589a84f9c" /></Relationships>
</file>

<file path=ppt/slideLayouts/slideLayout1.xml><?xml version="1.0" encoding="utf-8"?>
<p:sldLayout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127F9102-BE93-43B0-A109-93DB0CCE81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4560" y="336960"/>
            <a:ext cx="15207120" cy="1410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400" b="0" spc="-1">
              <a:latin typeface="Arial"/>
              <a:ea typeface="Arial"/>
              <a:cs typeface="Arial"/>
            </a:endParaRP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300CA582-5F00-458D-9138-1D755A212ABD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844560" y="1976760"/>
            <a:ext cx="15207120" cy="4899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0" spc="-1"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CFDA3A3-C797-4C88-B3A4-35F05E83AD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4560" y="336960"/>
            <a:ext cx="15207120" cy="1410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400" b="0" spc="-1">
              <a:latin typeface="Arial"/>
              <a:ea typeface="Arial"/>
              <a:cs typeface="Arial"/>
            </a:endParaRPr>
          </a:p>
        </p:txBody>
      </p:sp>
      <p:sp>
        <p:nvSpPr>
          <p:cNvPr id="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91287767-06F7-4632-AB40-F5FF88CF315E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844560" y="1976760"/>
            <a:ext cx="15207120" cy="4899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endParaRPr sz="3200" b="0" spc="-1"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F1ED1DD-966D-460F-956D-591A19EC8A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4560" y="336960"/>
            <a:ext cx="15207120" cy="1410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400" b="0" spc="-1">
              <a:latin typeface="Arial"/>
              <a:ea typeface="Arial"/>
              <a:cs typeface="Arial"/>
            </a:endParaRPr>
          </a:p>
        </p:txBody>
      </p:sp>
      <p:sp>
        <p:nvSpPr>
          <p:cNvPr id="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B810044-5D03-441C-993B-3C2220EA7BDE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844560" y="1976760"/>
            <a:ext cx="7421040" cy="4899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endParaRPr sz="3200" b="0" spc="-1">
              <a:latin typeface="Arial"/>
              <a:ea typeface="Arial"/>
              <a:cs typeface="Arial"/>
            </a:endParaRPr>
          </a:p>
        </p:txBody>
      </p:sp>
      <p:sp>
        <p:nvSpPr>
          <p:cNvPr id="8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AA81E20E-BE47-4CC7-B163-A02D21ABFD6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8637120" y="1976760"/>
            <a:ext cx="7421040" cy="4899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endParaRPr sz="3200" b="0" spc="-1"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B9E4C78-4580-45B9-8602-BDA42EB411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4560" y="336960"/>
            <a:ext cx="15207120" cy="1410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400" b="0" spc="-1"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>
  <p:cSld name="Centere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EE592D62-9A7A-4D23-908A-6DB8777A822A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844560" y="336960"/>
            <a:ext cx="15207120" cy="653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0" spc="-1"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>
  <p:cSld name="Title, 2 Content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7CDF37AE-02B1-48F3-B525-C9892B2D33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4560" y="336960"/>
            <a:ext cx="15207120" cy="1410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400" b="0" spc="-1">
              <a:latin typeface="Arial"/>
              <a:ea typeface="Arial"/>
              <a:cs typeface="Arial"/>
            </a:endParaRPr>
          </a:p>
        </p:txBody>
      </p:sp>
      <p:sp>
        <p:nvSpPr>
          <p:cNvPr id="1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408DA1C-35D2-4AEE-9D43-AA97EF59F320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844560" y="1976760"/>
            <a:ext cx="7421040" cy="2337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endParaRPr sz="3200" b="0" spc="-1">
              <a:latin typeface="Arial"/>
              <a:ea typeface="Arial"/>
              <a:cs typeface="Arial"/>
            </a:endParaRPr>
          </a:p>
        </p:txBody>
      </p:sp>
      <p:sp>
        <p:nvSpPr>
          <p:cNvPr id="1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46DFA6FF-F891-4CCE-9714-9BD2C9BBE034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8637120" y="1976760"/>
            <a:ext cx="7421040" cy="4899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endParaRPr sz="3200" b="0" spc="-1">
              <a:latin typeface="Arial"/>
              <a:ea typeface="Arial"/>
              <a:cs typeface="Arial"/>
            </a:endParaRPr>
          </a:p>
        </p:txBody>
      </p:sp>
      <p:sp>
        <p:nvSpPr>
          <p:cNvPr id="14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808086B6-8117-4FAE-A58B-603187A2FAAA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844560" y="4536360"/>
            <a:ext cx="7421040" cy="2337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endParaRPr sz="3200" b="0" spc="-1"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>
  <p:cSld name="Title Content and 2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E31CA345-802D-4C79-B6B6-9176B23590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4560" y="336960"/>
            <a:ext cx="15207120" cy="1410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400" b="0" spc="-1">
              <a:latin typeface="Arial"/>
              <a:ea typeface="Arial"/>
              <a:cs typeface="Arial"/>
            </a:endParaRPr>
          </a:p>
        </p:txBody>
      </p:sp>
      <p:sp>
        <p:nvSpPr>
          <p:cNvPr id="1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A498F4F4-33E2-4539-9234-A4FCB8098A3C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844560" y="1976760"/>
            <a:ext cx="7421040" cy="4899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endParaRPr sz="3200" b="0" spc="-1">
              <a:latin typeface="Arial"/>
              <a:ea typeface="Arial"/>
              <a:cs typeface="Arial"/>
            </a:endParaRPr>
          </a:p>
        </p:txBody>
      </p:sp>
      <p:sp>
        <p:nvSpPr>
          <p:cNvPr id="17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53AE70D8-3A46-4A71-BAA2-BF28172CEBF2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8637120" y="1976760"/>
            <a:ext cx="7421040" cy="2337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endParaRPr sz="3200" b="0" spc="-1">
              <a:latin typeface="Arial"/>
              <a:ea typeface="Arial"/>
              <a:cs typeface="Arial"/>
            </a:endParaRPr>
          </a:p>
        </p:txBody>
      </p:sp>
      <p:sp>
        <p:nvSpPr>
          <p:cNvPr id="18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7E37CF3E-8611-44D8-9C64-158C14ACCE3A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8637120" y="4536360"/>
            <a:ext cx="7421040" cy="2337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endParaRPr sz="3200" b="0" spc="-1"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>
  <p:cSld name="Title, 2 Content ove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1C811699-C599-4369-A8EF-CDC027DE66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4560" y="336960"/>
            <a:ext cx="15207120" cy="1410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400" b="0" spc="-1">
              <a:latin typeface="Arial"/>
              <a:ea typeface="Arial"/>
              <a:cs typeface="Arial"/>
            </a:endParaRPr>
          </a:p>
        </p:txBody>
      </p:sp>
      <p:sp>
        <p:nvSpPr>
          <p:cNvPr id="2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A2C57B06-48E2-4A6F-B318-05E6527E7228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844560" y="1976760"/>
            <a:ext cx="7421040" cy="2337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endParaRPr sz="3200" b="0" spc="-1">
              <a:latin typeface="Arial"/>
              <a:ea typeface="Arial"/>
              <a:cs typeface="Arial"/>
            </a:endParaRPr>
          </a:p>
        </p:txBody>
      </p:sp>
      <p:sp>
        <p:nvSpPr>
          <p:cNvPr id="21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E2F3A0AE-34A1-44F9-B53B-F30E0D7080D0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8637120" y="1976760"/>
            <a:ext cx="7421040" cy="2337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endParaRPr sz="3200" b="0" spc="-1">
              <a:latin typeface="Arial"/>
              <a:ea typeface="Arial"/>
              <a:cs typeface="Arial"/>
            </a:endParaRPr>
          </a:p>
        </p:txBody>
      </p:sp>
      <p:sp>
        <p:nvSpPr>
          <p:cNvPr id="22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F381B680-02D2-4532-9807-001BE32DA77C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844560" y="4536360"/>
            <a:ext cx="15207120" cy="2337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endParaRPr sz="3200" b="0" spc="-1"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Title, Content ove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A5F39903-F348-4534-AF89-8221942A1F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4560" y="336960"/>
            <a:ext cx="15207120" cy="1410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400" b="0" spc="-1">
              <a:latin typeface="Arial"/>
              <a:ea typeface="Arial"/>
              <a:cs typeface="Arial"/>
            </a:endParaRPr>
          </a:p>
        </p:txBody>
      </p:sp>
      <p:sp>
        <p:nvSpPr>
          <p:cNvPr id="2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68D638A6-E886-432E-8276-838DDB66AD51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844560" y="1976760"/>
            <a:ext cx="15207120" cy="2337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endParaRPr sz="3200" b="0" spc="-1">
              <a:latin typeface="Arial"/>
              <a:ea typeface="Arial"/>
              <a:cs typeface="Arial"/>
            </a:endParaRPr>
          </a:p>
        </p:txBody>
      </p:sp>
      <p:sp>
        <p:nvSpPr>
          <p:cNvPr id="25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FD3A9E8C-FAB2-4FC1-9990-308B9AFC94B1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844560" y="4536360"/>
            <a:ext cx="15207120" cy="2337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endParaRPr sz="3200" b="0" spc="-1"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Title, 4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0B86481D-B262-466F-82CD-208143D06E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4560" y="336960"/>
            <a:ext cx="15207120" cy="1410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400" b="0" spc="-1">
              <a:latin typeface="Arial"/>
              <a:ea typeface="Arial"/>
              <a:cs typeface="Arial"/>
            </a:endParaRPr>
          </a:p>
        </p:txBody>
      </p:sp>
      <p:sp>
        <p:nvSpPr>
          <p:cNvPr id="2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A6E70DDE-429C-42A7-8DC1-235A50E18483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844560" y="1976760"/>
            <a:ext cx="7421040" cy="2337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endParaRPr sz="3200" b="0" spc="-1">
              <a:latin typeface="Arial"/>
              <a:ea typeface="Arial"/>
              <a:cs typeface="Arial"/>
            </a:endParaRPr>
          </a:p>
        </p:txBody>
      </p:sp>
      <p:sp>
        <p:nvSpPr>
          <p:cNvPr id="28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0EB62EA2-D000-4280-82FE-F781F8F66DE8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8637120" y="1976760"/>
            <a:ext cx="7421040" cy="2337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endParaRPr sz="3200" b="0" spc="-1">
              <a:latin typeface="Arial"/>
              <a:ea typeface="Arial"/>
              <a:cs typeface="Arial"/>
            </a:endParaRPr>
          </a:p>
        </p:txBody>
      </p:sp>
      <p:sp>
        <p:nvSpPr>
          <p:cNvPr id="29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B7EA4022-E44C-4DDC-9AB4-D7D694F8AF5C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844560" y="4536360"/>
            <a:ext cx="7421040" cy="2337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endParaRPr sz="3200" b="0" spc="-1">
              <a:latin typeface="Arial"/>
              <a:ea typeface="Arial"/>
              <a:cs typeface="Arial"/>
            </a:endParaRPr>
          </a:p>
        </p:txBody>
      </p:sp>
      <p:sp>
        <p:nvSpPr>
          <p:cNvPr id="30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B21F9E0B-C8E2-4E5D-BFD1-1EB6C05C895B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8637120" y="4536360"/>
            <a:ext cx="7421040" cy="2337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endParaRPr sz="3200" b="0" spc="-1"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4C44E28E-6E4F-4271-9B75-EEA22AFB93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4560" y="336960"/>
            <a:ext cx="15207120" cy="1410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4400" b="0" spc="-1">
              <a:latin typeface="Arial"/>
              <a:ea typeface="Arial"/>
              <a:cs typeface="Arial"/>
            </a:endParaRPr>
          </a:p>
        </p:txBody>
      </p:sp>
      <p:sp>
        <p:nvSpPr>
          <p:cNvPr id="3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8BC1B0F-E1B6-4C96-97BA-7E25440F3154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844560" y="1976760"/>
            <a:ext cx="4896360" cy="2337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endParaRPr sz="3200" b="0" spc="-1">
              <a:latin typeface="Arial"/>
              <a:ea typeface="Arial"/>
              <a:cs typeface="Arial"/>
            </a:endParaRPr>
          </a:p>
        </p:txBody>
      </p:sp>
      <p:sp>
        <p:nvSpPr>
          <p:cNvPr id="3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12E3A27C-8C61-417D-8748-2815E298C375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986080" y="1976760"/>
            <a:ext cx="4896360" cy="2337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endParaRPr sz="3200" b="0" spc="-1">
              <a:latin typeface="Arial"/>
              <a:ea typeface="Arial"/>
              <a:cs typeface="Arial"/>
            </a:endParaRPr>
          </a:p>
        </p:txBody>
      </p:sp>
      <p:sp>
        <p:nvSpPr>
          <p:cNvPr id="34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58E6E871-A1E4-4942-87AE-9A70DB2B0BD3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1127600" y="1976760"/>
            <a:ext cx="4896360" cy="2337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endParaRPr sz="3200" b="0" spc="-1">
              <a:latin typeface="Arial"/>
              <a:ea typeface="Arial"/>
              <a:cs typeface="Arial"/>
            </a:endParaRPr>
          </a:p>
        </p:txBody>
      </p:sp>
      <p:sp>
        <p:nvSpPr>
          <p:cNvPr id="35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5065BFD7-3CCA-4B06-B25F-C40E8BA9EBA7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844560" y="4536360"/>
            <a:ext cx="4896360" cy="2337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endParaRPr sz="3200" b="0" spc="-1">
              <a:latin typeface="Arial"/>
              <a:ea typeface="Arial"/>
              <a:cs typeface="Arial"/>
            </a:endParaRPr>
          </a:p>
        </p:txBody>
      </p:sp>
      <p:sp>
        <p:nvSpPr>
          <p:cNvPr id="36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5D4D878F-A9F9-4791-81C9-E0D489D5491F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986080" y="4536360"/>
            <a:ext cx="4896360" cy="2337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endParaRPr sz="3200" b="0" spc="-1">
              <a:latin typeface="Arial"/>
              <a:ea typeface="Arial"/>
              <a:cs typeface="Arial"/>
            </a:endParaRPr>
          </a:p>
        </p:txBody>
      </p:sp>
      <p:sp>
        <p:nvSpPr>
          <p:cNvPr id="37" name="PlaceHolder 7">
            <a:extLst xmlns:a="http://schemas.openxmlformats.org/drawingml/2006/main">
              <a:ext uri="{FF2B5EF4-FFF2-40B4-BE49-F238E27FC236}">
                <a16:creationId xmlns:a16="http://schemas.microsoft.com/office/drawing/2014/main" id="{66697AFA-8EC6-4962-9C4C-2311498F2BF1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1127600" y="4536360"/>
            <a:ext cx="4896360" cy="2337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endParaRPr sz="3200" b="0" spc="-1">
              <a:latin typeface="Arial"/>
              <a:ea typeface="Arial"/>
              <a:cs typeface="Arial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7b0e70ee6a433d" /><Relationship Type="http://schemas.openxmlformats.org/officeDocument/2006/relationships/slideLayout" Target="/ppt/slideLayouts/slideLayout1.xml" Id="Rd92d2c61ee9a4791" /><Relationship Type="http://schemas.openxmlformats.org/officeDocument/2006/relationships/slideLayout" Target="/ppt/slideLayouts/slideLayout2.xml" Id="R106d28c5ffaf4912" /><Relationship Type="http://schemas.openxmlformats.org/officeDocument/2006/relationships/slideLayout" Target="/ppt/slideLayouts/slideLayout3.xml" Id="Re3bd87e957fd4dd0" /><Relationship Type="http://schemas.openxmlformats.org/officeDocument/2006/relationships/slideLayout" Target="/ppt/slideLayouts/slideLayout4.xml" Id="Raa09906ac81348d1" /><Relationship Type="http://schemas.openxmlformats.org/officeDocument/2006/relationships/slideLayout" Target="/ppt/slideLayouts/slideLayout5.xml" Id="R46d26fdd4eeb43ab" /><Relationship Type="http://schemas.openxmlformats.org/officeDocument/2006/relationships/slideLayout" Target="/ppt/slideLayouts/slideLayout6.xml" Id="R42d9b28c733c43f3" /><Relationship Type="http://schemas.openxmlformats.org/officeDocument/2006/relationships/slideLayout" Target="/ppt/slideLayouts/slideLayout7.xml" Id="R002c8cc83ba84cc7" /><Relationship Type="http://schemas.openxmlformats.org/officeDocument/2006/relationships/slideLayout" Target="/ppt/slideLayouts/slideLayout8.xml" Id="Rc5ba45ab98d2407e" /><Relationship Type="http://schemas.openxmlformats.org/officeDocument/2006/relationships/slideLayout" Target="/ppt/slideLayouts/slideLayout9.xml" Id="R146bc885b6c24e22" /><Relationship Type="http://schemas.openxmlformats.org/officeDocument/2006/relationships/slideLayout" Target="/ppt/slideLayouts/slideLayout10.xml" Id="R1ee7595e316d4a38" /><Relationship Type="http://schemas.openxmlformats.org/officeDocument/2006/relationships/slideLayout" Target="/ppt/slideLayouts/slideLayout11.xml" Id="R649485306fa64d7d" /><Relationship Type="http://schemas.openxmlformats.org/officeDocument/2006/relationships/slideLayout" Target="/ppt/slideLayouts/slideLayout12.xml" Id="R8836f2a287b14a82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6D1641F6-299C-4AF2-A70C-0A488C840B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4560" y="336960"/>
            <a:ext cx="15207120" cy="1410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400" b="0" spc="-1">
                <a:latin typeface="Arial"/>
                <a:ea typeface="Arial"/>
                <a:cs typeface="Arial"/>
              </a:rPr>
              <a:t>单击以编</a:t>
            </a:r>
            <a:r>
              <a:rPr sz="4400" b="0" spc="-1">
                <a:latin typeface="Arial"/>
                <a:ea typeface="Arial"/>
                <a:cs typeface="Arial"/>
              </a:rPr>
              <a:t>辑标题文</a:t>
            </a:r>
            <a:r>
              <a:rPr sz="4400" b="0" spc="-1">
                <a:latin typeface="Arial"/>
                <a:ea typeface="Arial"/>
                <a:cs typeface="Arial"/>
              </a:rPr>
              <a:t>本格式</a:t>
            </a:r>
            <a:endParaRPr sz="4400" b="0" spc="-1">
              <a:latin typeface="Arial"/>
              <a:ea typeface="Arial"/>
              <a:cs typeface="Arial"/>
            </a:endParaRPr>
          </a:p>
        </p:txBody>
      </p:sp>
      <p:sp>
        <p:nvSpPr>
          <p:cNvPr id="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E50594F-BDB9-4355-93D8-1FA48C293E5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844560" y="1976760"/>
            <a:ext cx="15207120" cy="4899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spc="-1">
                <a:latin typeface="Arial"/>
                <a:ea typeface="Arial"/>
                <a:cs typeface="Arial"/>
              </a:rPr>
              <a:t>点击以编辑提纲文本格式</a:t>
            </a:r>
            <a:endParaRPr sz="320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800" b="0" spc="-1">
                <a:latin typeface="Arial"/>
                <a:ea typeface="Arial"/>
                <a:cs typeface="Arial"/>
              </a:rPr>
              <a:t>第二提纲级别</a:t>
            </a:r>
            <a:endParaRPr sz="280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spc="-1">
                <a:latin typeface="Arial"/>
                <a:ea typeface="Arial"/>
                <a:cs typeface="Arial"/>
              </a:rPr>
              <a:t>第三提纲级别</a:t>
            </a:r>
            <a:endParaRPr sz="240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spc="-1">
                <a:latin typeface="Arial"/>
                <a:ea typeface="Arial"/>
                <a:cs typeface="Arial"/>
              </a:rPr>
              <a:t>第四提纲级别</a:t>
            </a:r>
            <a:endParaRPr sz="200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spc="-1">
                <a:latin typeface="Arial"/>
                <a:ea typeface="Arial"/>
                <a:cs typeface="Arial"/>
              </a:rPr>
              <a:t>第五提纲级别</a:t>
            </a:r>
            <a:endParaRPr sz="200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spc="-1">
                <a:latin typeface="Arial"/>
                <a:ea typeface="Arial"/>
                <a:cs typeface="Arial"/>
              </a:rPr>
              <a:t>第六提纲级别</a:t>
            </a:r>
            <a:endParaRPr sz="200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spc="-1">
                <a:latin typeface="Arial"/>
                <a:ea typeface="Arial"/>
                <a:cs typeface="Arial"/>
              </a:rPr>
              <a:t>第七提纲级别</a:t>
            </a:r>
            <a:endParaRPr sz="2000" b="0" spc="-1"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2d2c61ee9a4791"/>
    <p:sldLayoutId xmlns:r="http://schemas.openxmlformats.org/officeDocument/2006/relationships" id="2147483650" r:id="R106d28c5ffaf4912"/>
    <p:sldLayoutId xmlns:r="http://schemas.openxmlformats.org/officeDocument/2006/relationships" id="2147483651" r:id="Re3bd87e957fd4dd0"/>
    <p:sldLayoutId xmlns:r="http://schemas.openxmlformats.org/officeDocument/2006/relationships" id="2147483652" r:id="Raa09906ac81348d1"/>
    <p:sldLayoutId xmlns:r="http://schemas.openxmlformats.org/officeDocument/2006/relationships" id="2147483653" r:id="R46d26fdd4eeb43ab"/>
    <p:sldLayoutId xmlns:r="http://schemas.openxmlformats.org/officeDocument/2006/relationships" id="2147483654" r:id="R42d9b28c733c43f3"/>
    <p:sldLayoutId xmlns:r="http://schemas.openxmlformats.org/officeDocument/2006/relationships" id="2147483655" r:id="R002c8cc83ba84cc7"/>
    <p:sldLayoutId xmlns:r="http://schemas.openxmlformats.org/officeDocument/2006/relationships" id="2147483656" r:id="Rc5ba45ab98d2407e"/>
    <p:sldLayoutId xmlns:r="http://schemas.openxmlformats.org/officeDocument/2006/relationships" id="2147483657" r:id="R146bc885b6c24e22"/>
    <p:sldLayoutId xmlns:r="http://schemas.openxmlformats.org/officeDocument/2006/relationships" id="2147483658" r:id="R1ee7595e316d4a38"/>
    <p:sldLayoutId xmlns:r="http://schemas.openxmlformats.org/officeDocument/2006/relationships" id="2147483659" r:id="R649485306fa64d7d"/>
    <p:sldLayoutId xmlns:r="http://schemas.openxmlformats.org/officeDocument/2006/relationships" id="2147483660" r:id="R8836f2a287b14a82"/>
  </p:sldLayoutIdLst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aca65220c4c26" /><Relationship Type="http://schemas.openxmlformats.org/officeDocument/2006/relationships/notesSlide" Target="/ppt/notesSlides/notesSlide1.xml" Id="R8c6a692212ce4b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15c997384457e" /><Relationship Type="http://schemas.openxmlformats.org/officeDocument/2006/relationships/notesSlide" Target="/ppt/notesSlides/notesSlide2.xml" Id="R03bad141d8224f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85f10bba7548b1" /><Relationship Type="http://schemas.openxmlformats.org/officeDocument/2006/relationships/notesSlide" Target="/ppt/notesSlides/notesSlide3.xml" Id="R5a9f086f8fd74c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7006820da4f11" /><Relationship Type="http://schemas.openxmlformats.org/officeDocument/2006/relationships/notesSlide" Target="/ppt/notesSlides/notesSlide4.xml" Id="R149fb033544449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4a02cd336342e2" /><Relationship Type="http://schemas.openxmlformats.org/officeDocument/2006/relationships/notesSlide" Target="/ppt/notesSlides/notesSlide5.xml" Id="R09bd12481b6042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3e3def7254559" /><Relationship Type="http://schemas.openxmlformats.org/officeDocument/2006/relationships/notesSlide" Target="/ppt/notesSlides/notesSlide6.xml" Id="Re82047f6b65242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d937e2dde4a0d" /><Relationship Type="http://schemas.openxmlformats.org/officeDocument/2006/relationships/notesSlide" Target="/ppt/notesSlides/notesSlide7.xml" Id="R8703b406b83b47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17430e47904206" /><Relationship Type="http://schemas.openxmlformats.org/officeDocument/2006/relationships/notesSlide" Target="/ppt/notesSlides/notesSlide8.xml" Id="R4dab2d4678a54ff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EEAB47-E16E-4FE9-A35D-856EB162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680" y="232200"/>
            <a:ext cx="8895600" cy="523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93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RAG </a:t>
            </a:r>
            <a:r>
              <a:rPr sz="293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技术发展路线图（</a:t>
            </a:r>
            <a:r>
              <a:rPr sz="293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2020–2026</a:t>
            </a:r>
            <a:r>
              <a:rPr sz="293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）</a:t>
            </a:r>
            <a:endParaRPr sz="2930" b="0" spc="-1">
              <a:latin typeface="Arial"/>
              <a:ea typeface="Arial"/>
              <a:cs typeface="Arial"/>
            </a:endParaRP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923697E-2FA4-44D4-AE94-F273884C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840" y="746640"/>
            <a:ext cx="7181280" cy="41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02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从文档检索到 </a:t>
            </a:r>
            <a:r>
              <a:rPr sz="202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Agentic Knowledge System</a:t>
            </a:r>
            <a:endParaRPr sz="2020" b="0" spc="-1">
              <a:latin typeface="Arial"/>
              <a:ea typeface="Arial"/>
              <a:cs typeface="Arial"/>
            </a:endParaRP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2ED6DE3-F07C-48B5-ABBD-7B527855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20" y="1356120"/>
            <a:ext cx="16610760" cy="62784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111111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3FC16DB-DA85-4E09-A98D-E9BBB78C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680" y="1432440"/>
            <a:ext cx="8895600" cy="45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95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核心问题：</a:t>
            </a:r>
            <a:r>
              <a:rPr sz="195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LLM </a:t>
            </a:r>
            <a:r>
              <a:rPr sz="195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如何访问、组织、验证并利用外部知识？</a:t>
            </a:r>
            <a:endParaRPr sz="1950" b="0" spc="-1">
              <a:latin typeface="Arial"/>
              <a:ea typeface="Arial"/>
              <a:cs typeface="Arial"/>
            </a:endParaRPr>
          </a:p>
        </p:txBody>
      </p:sp>
      <p:sp>
        <p:nvSpPr>
          <p:cNvPr id="48" name="Stage 1">
            <a:extLst xmlns:a="http://schemas.openxmlformats.org/drawingml/2006/main">
              <a:ext uri="{FF2B5EF4-FFF2-40B4-BE49-F238E27FC236}">
                <a16:creationId xmlns:a16="http://schemas.microsoft.com/office/drawing/2014/main" id="{A158E642-ACD3-42A8-B4B9-F5F77D31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00" y="2365920"/>
            <a:ext cx="2609280" cy="4923720"/>
          </a:xfrm>
          <a:prstGeom xmlns:a="http://schemas.openxmlformats.org/drawingml/2006/main" prst="roundRect">
            <a:avLst>
              <a:gd name="adj" fmla="val 47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11111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9" name="Stage 2">
            <a:extLst xmlns:a="http://schemas.openxmlformats.org/drawingml/2006/main">
              <a:ext uri="{FF2B5EF4-FFF2-40B4-BE49-F238E27FC236}">
                <a16:creationId xmlns:a16="http://schemas.microsoft.com/office/drawing/2014/main" id="{A8FAA867-4045-4E31-B3F9-4D41F81C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40" y="2365920"/>
            <a:ext cx="2475720" cy="49237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11111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50" name="Stage 3">
            <a:extLst xmlns:a="http://schemas.openxmlformats.org/drawingml/2006/main">
              <a:ext uri="{FF2B5EF4-FFF2-40B4-BE49-F238E27FC236}">
                <a16:creationId xmlns:a16="http://schemas.microsoft.com/office/drawing/2014/main" id="{F5948E6D-5A33-4A5B-9BEE-7F85A2BF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20" y="2365920"/>
            <a:ext cx="2770920" cy="4923720"/>
          </a:xfrm>
          <a:prstGeom xmlns:a="http://schemas.openxmlformats.org/drawingml/2006/main" prst="roundRect">
            <a:avLst>
              <a:gd name="adj" fmla="val 44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11111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51" name="Stage 4">
            <a:extLst xmlns:a="http://schemas.openxmlformats.org/drawingml/2006/main">
              <a:ext uri="{FF2B5EF4-FFF2-40B4-BE49-F238E27FC236}">
                <a16:creationId xmlns:a16="http://schemas.microsoft.com/office/drawing/2014/main" id="{E37B6C8C-EBBB-452A-AAC0-253030DC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520" y="2365920"/>
            <a:ext cx="3056760" cy="4923720"/>
          </a:xfrm>
          <a:prstGeom xmlns:a="http://schemas.openxmlformats.org/drawingml/2006/main" prst="roundRect">
            <a:avLst>
              <a:gd name="adj" fmla="val 40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11111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52" name="Stage 5">
            <a:extLst xmlns:a="http://schemas.openxmlformats.org/drawingml/2006/main">
              <a:ext uri="{FF2B5EF4-FFF2-40B4-BE49-F238E27FC236}">
                <a16:creationId xmlns:a16="http://schemas.microsoft.com/office/drawing/2014/main" id="{40596633-446E-4CD3-9F70-A4B41C52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280" y="2365920"/>
            <a:ext cx="2437560" cy="4923720"/>
          </a:xfrm>
          <a:prstGeom xmlns:a="http://schemas.openxmlformats.org/drawingml/2006/main" prst="roundRect">
            <a:avLst>
              <a:gd name="adj" fmla="val 50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11111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53" name="Stage 6">
            <a:extLst xmlns:a="http://schemas.openxmlformats.org/drawingml/2006/main">
              <a:ext uri="{FF2B5EF4-FFF2-40B4-BE49-F238E27FC236}">
                <a16:creationId xmlns:a16="http://schemas.microsoft.com/office/drawing/2014/main" id="{F05C99BE-6F5D-4737-971A-EAAD65B5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20" y="2365920"/>
            <a:ext cx="2628360" cy="4923720"/>
          </a:xfrm>
          <a:prstGeom xmlns:a="http://schemas.openxmlformats.org/drawingml/2006/main" prst="roundRect">
            <a:avLst>
              <a:gd name="adj" fmla="val 47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11111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58072D6-2FD8-47C2-A319-D3746FD6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00" y="1984680"/>
            <a:ext cx="360" cy="2952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F0AA741-A8B3-4235-AD24-DB86EBB8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80" y="2280240"/>
            <a:ext cx="94680" cy="84960"/>
          </a:xfrm>
          <a:custGeom xmlns:a="http://schemas.openxmlformats.org/drawingml/2006/main">
            <a:rect l="l" t="t" r="r" b="b"/>
            <a:pathLst>
              <a:path w="95250" h="85725">
                <a:moveTo>
                  <a:pt x="0" y="0"/>
                </a:moveTo>
                <a:lnTo>
                  <a:pt x="95250" y="0"/>
                </a:lnTo>
                <a:lnTo>
                  <a:pt x="47625" y="857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C18481C-60BA-402A-B2B3-02533585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080" y="1984680"/>
            <a:ext cx="360" cy="2952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3C8CED7-359A-404F-A5C6-021A060A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560" y="2280240"/>
            <a:ext cx="94680" cy="84960"/>
          </a:xfrm>
          <a:custGeom xmlns:a="http://schemas.openxmlformats.org/drawingml/2006/main">
            <a:rect l="l" t="t" r="r" b="b"/>
            <a:pathLst>
              <a:path w="95250" h="85725">
                <a:moveTo>
                  <a:pt x="0" y="0"/>
                </a:moveTo>
                <a:lnTo>
                  <a:pt x="95250" y="0"/>
                </a:lnTo>
                <a:lnTo>
                  <a:pt x="47625" y="857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2DBFA58-2A66-4B68-86B8-BE773427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84680"/>
            <a:ext cx="360" cy="2952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7AB8D92-8F34-43E2-B838-AA5AE5F5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480" y="2280240"/>
            <a:ext cx="94680" cy="84960"/>
          </a:xfrm>
          <a:custGeom xmlns:a="http://schemas.openxmlformats.org/drawingml/2006/main">
            <a:rect l="l" t="t" r="r" b="b"/>
            <a:pathLst>
              <a:path w="95250" h="85725">
                <a:moveTo>
                  <a:pt x="0" y="0"/>
                </a:moveTo>
                <a:lnTo>
                  <a:pt x="95250" y="0"/>
                </a:lnTo>
                <a:lnTo>
                  <a:pt x="47625" y="857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2176429-517E-472A-8B3E-0645AC5B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5760" y="1984680"/>
            <a:ext cx="360" cy="2952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1F870CE-5E15-4298-BFA0-E5966226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240" y="2280240"/>
            <a:ext cx="94680" cy="84960"/>
          </a:xfrm>
          <a:custGeom xmlns:a="http://schemas.openxmlformats.org/drawingml/2006/main">
            <a:rect l="l" t="t" r="r" b="b"/>
            <a:pathLst>
              <a:path w="95250" h="85725">
                <a:moveTo>
                  <a:pt x="0" y="0"/>
                </a:moveTo>
                <a:lnTo>
                  <a:pt x="95250" y="0"/>
                </a:lnTo>
                <a:lnTo>
                  <a:pt x="47625" y="857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AC00AA9-C764-4DAD-B8F8-9E465B33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200" y="1984680"/>
            <a:ext cx="360" cy="2952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87BDCAC-B711-482A-AA34-9734B7EC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8680" y="2280240"/>
            <a:ext cx="94680" cy="84960"/>
          </a:xfrm>
          <a:custGeom xmlns:a="http://schemas.openxmlformats.org/drawingml/2006/main">
            <a:rect l="l" t="t" r="r" b="b"/>
            <a:pathLst>
              <a:path w="95250" h="85725">
                <a:moveTo>
                  <a:pt x="0" y="0"/>
                </a:moveTo>
                <a:lnTo>
                  <a:pt x="95250" y="0"/>
                </a:lnTo>
                <a:lnTo>
                  <a:pt x="47625" y="857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6F54BE3-F4D5-48E8-BD84-BB60CB00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480" y="1984680"/>
            <a:ext cx="360" cy="2952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DDFCA29-1AE1-412A-9BB0-E24DA5EF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0960" y="2280240"/>
            <a:ext cx="94680" cy="84960"/>
          </a:xfrm>
          <a:custGeom xmlns:a="http://schemas.openxmlformats.org/drawingml/2006/main">
            <a:rect l="l" t="t" r="r" b="b"/>
            <a:pathLst>
              <a:path w="95250" h="85725">
                <a:moveTo>
                  <a:pt x="0" y="0"/>
                </a:moveTo>
                <a:lnTo>
                  <a:pt x="95250" y="0"/>
                </a:lnTo>
                <a:lnTo>
                  <a:pt x="47625" y="857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28754D0-3FF8-4C1F-8815-6001AD49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160" y="2451600"/>
            <a:ext cx="2475720" cy="51372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A362C6A-5F60-4BA2-883B-A305A060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40" y="2460960"/>
            <a:ext cx="2437560" cy="49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8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1.  2020 </a:t>
            </a:r>
            <a:r>
              <a:rPr sz="158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起点：</a:t>
            </a:r>
            <a:r>
              <a:rPr sz="158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RAG</a:t>
            </a:r>
            <a:endParaRPr sz="1580" b="0" spc="-1">
              <a:latin typeface="Arial"/>
              <a:ea typeface="Arial"/>
              <a:cs typeface="Arial"/>
            </a:endParaRP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E0CF1EA-613E-450B-BAC9-00F86B81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640" y="2441880"/>
            <a:ext cx="2342520" cy="65664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DABDC65-D96E-495D-B504-E2113FB6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20" y="2451600"/>
            <a:ext cx="2304360" cy="637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8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2.  2021–2022</a:t>
            </a:r>
            <a:endParaRPr sz="158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8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Naive RAG</a:t>
            </a:r>
            <a:endParaRPr sz="1580" b="0" spc="-1">
              <a:latin typeface="Arial"/>
              <a:ea typeface="Arial"/>
              <a:cs typeface="Arial"/>
            </a:endParaRP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05C343C-5C90-4187-8FE5-C1CA8ADB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3920" y="2441880"/>
            <a:ext cx="2637720" cy="65664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0C26C4A-C294-469A-A69E-86E55FC2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00" y="2451600"/>
            <a:ext cx="2599560" cy="637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 fontScale="93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8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3.  2023–2024</a:t>
            </a:r>
            <a:endParaRPr sz="158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8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Advanced / Modular RAG</a:t>
            </a:r>
            <a:endParaRPr sz="1580" b="0" spc="-1">
              <a:latin typeface="Arial"/>
              <a:ea typeface="Arial"/>
              <a:cs typeface="Arial"/>
            </a:endParaRP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5016C3A-A01F-49A2-9CD9-099A6EC0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20" y="2451600"/>
            <a:ext cx="2923560" cy="51372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F1A72BC-6099-4724-83F8-02DE3343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60960"/>
            <a:ext cx="2885400" cy="49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8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4.  2024 </a:t>
            </a:r>
            <a:r>
              <a:rPr sz="158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知识结构化</a:t>
            </a:r>
            <a:endParaRPr sz="1580" b="0" spc="-1">
              <a:latin typeface="Arial"/>
              <a:ea typeface="Arial"/>
              <a:cs typeface="Arial"/>
            </a:endParaRP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8986CD3-53FE-4E78-AE33-29D0AD18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240" y="2441880"/>
            <a:ext cx="2304360" cy="65664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B57BB99-56A0-4D1F-AC45-D092A90A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7960" y="2451600"/>
            <a:ext cx="2266200" cy="637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8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5.  2024–2025</a:t>
            </a:r>
            <a:endParaRPr sz="158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8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检索决策与可靠性</a:t>
            </a:r>
            <a:endParaRPr sz="1580" b="0" spc="-1">
              <a:latin typeface="Arial"/>
              <a:ea typeface="Arial"/>
              <a:cs typeface="Arial"/>
            </a:endParaRP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E36974F-EB39-4D9F-ADDE-1A9F09EB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0720" y="2441880"/>
            <a:ext cx="2494800" cy="65664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014CC5F-D470-4149-8CE9-E7F73351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00" y="2451600"/>
            <a:ext cx="2456640" cy="637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8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6.  2025–2026</a:t>
            </a:r>
            <a:endParaRPr sz="158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8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Agentic RAG</a:t>
            </a:r>
            <a:endParaRPr sz="1580" b="0" spc="-1">
              <a:latin typeface="Arial"/>
              <a:ea typeface="Arial"/>
              <a:cs typeface="Arial"/>
            </a:endParaRP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CDE4661-FDC3-420A-B481-8545F749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60" y="4013640"/>
            <a:ext cx="561240" cy="59940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0AE5554-87F4-4483-A87D-5CA74087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720" y="4013640"/>
            <a:ext cx="723240" cy="5994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F03DDB0-5C0B-4130-807E-59657F52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480" y="4013640"/>
            <a:ext cx="704160" cy="5994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C7A94CF-74F3-4782-BF6C-D141D655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40" y="4080240"/>
            <a:ext cx="523080" cy="45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Query</a:t>
            </a:r>
            <a:endParaRPr sz="1130" b="0" spc="-1">
              <a:latin typeface="Arial"/>
              <a:ea typeface="Arial"/>
              <a:cs typeface="Arial"/>
            </a:endParaRP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D56982E-6B4E-4EC9-95D0-95B21DB0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800" y="4080240"/>
            <a:ext cx="685080" cy="45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Retriever</a:t>
            </a:r>
            <a:endParaRPr sz="1130" b="0" spc="-1">
              <a:latin typeface="Arial"/>
              <a:ea typeface="Arial"/>
              <a:cs typeface="Arial"/>
            </a:endParaRP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7B45D88-2863-43F2-AE8A-FE3C1247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60" y="4080240"/>
            <a:ext cx="666000" cy="45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Generator</a:t>
            </a:r>
            <a:endParaRPr sz="1130" b="0" spc="-1">
              <a:latin typeface="Arial"/>
              <a:ea typeface="Arial"/>
              <a:cs typeface="Arial"/>
            </a:endParaRP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CC9F94D-F2AA-4A42-B311-3A1D39BE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280" y="4313520"/>
            <a:ext cx="189720" cy="36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CF47D86-31E5-456D-948A-70CFAD20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680" y="4313520"/>
            <a:ext cx="199440" cy="36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F469FF3-4FD3-40A1-93D6-6D16D3D2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320" y="5889960"/>
            <a:ext cx="234324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5A5A5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2E012F4-C71B-4679-AA08-99F4F8E9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00" y="6118560"/>
            <a:ext cx="2285280" cy="246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</a:t>
            </a:r>
            <a:r>
              <a:rPr sz="120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外部知识增强生成</a:t>
            </a:r>
            <a:endParaRPr sz="1200" b="0" spc="-1">
              <a:latin typeface="Arial"/>
              <a:ea typeface="Arial"/>
              <a:cs typeface="Arial"/>
            </a:endParaRP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43AC8FA-8C03-47F7-9663-23DFA9DA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00" y="6423480"/>
            <a:ext cx="2285280" cy="246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</a:t>
            </a:r>
            <a:r>
              <a:rPr sz="120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参数化记忆 </a:t>
            </a:r>
            <a:r>
              <a:rPr sz="120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+ </a:t>
            </a:r>
            <a:r>
              <a:rPr sz="120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非参数化记忆</a:t>
            </a:r>
            <a:endParaRPr sz="1200" b="0" spc="-1">
              <a:latin typeface="Arial"/>
              <a:ea typeface="Arial"/>
              <a:cs typeface="Arial"/>
            </a:endParaRP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E6C06F3-159A-4F25-B220-5B11AF41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00" y="6728400"/>
            <a:ext cx="2285280" cy="246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</a:t>
            </a:r>
            <a:r>
              <a:rPr sz="120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代表：</a:t>
            </a:r>
            <a:r>
              <a:rPr sz="120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Lewis et al., 2020</a:t>
            </a:r>
            <a:endParaRPr sz="1200" b="0" spc="-1">
              <a:latin typeface="Arial"/>
              <a:ea typeface="Arial"/>
              <a:cs typeface="Arial"/>
            </a:endParaRP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3B32E9A-E3AE-4283-AC65-045B99CF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320" y="3184920"/>
            <a:ext cx="1523160" cy="33264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85DC859-1478-4FDF-A156-19A65C2E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760" y="3204000"/>
            <a:ext cx="1466280" cy="29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文档解析</a:t>
            </a:r>
            <a:endParaRPr sz="1280" b="0" spc="-1">
              <a:latin typeface="Arial"/>
              <a:ea typeface="Arial"/>
              <a:cs typeface="Arial"/>
            </a:endParaRP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57733AA-FE94-4010-B3E0-16D380A7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320" y="3623040"/>
            <a:ext cx="1523160" cy="33264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C835909-135B-4E64-B472-ADD73A55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760" y="3642120"/>
            <a:ext cx="1466280" cy="29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切块</a:t>
            </a:r>
            <a:endParaRPr sz="1280" b="0" spc="-1">
              <a:latin typeface="Arial"/>
              <a:ea typeface="Arial"/>
              <a:cs typeface="Arial"/>
            </a:endParaRP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82FE9E0-E3CD-45E2-8279-7524F82E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440" y="3518280"/>
            <a:ext cx="360" cy="10404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465F034-A1D2-42BE-9131-FF777ACD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320" y="4061160"/>
            <a:ext cx="1523160" cy="33264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F4FDDD9-800D-4C22-89E0-1CB53818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760" y="4080240"/>
            <a:ext cx="1466280" cy="29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Embedding</a:t>
            </a:r>
            <a:endParaRPr sz="1280" b="0" spc="-1">
              <a:latin typeface="Arial"/>
              <a:ea typeface="Arial"/>
              <a:cs typeface="Arial"/>
            </a:endParaRP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B9F71F2-134A-43C7-BE79-51D8E2FC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440" y="3956400"/>
            <a:ext cx="360" cy="10404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6732662-56CC-480E-9530-F9F314D1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320" y="4499280"/>
            <a:ext cx="1523160" cy="33264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3FE5E45-74B4-4DC7-A45A-19EE8796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760" y="4518360"/>
            <a:ext cx="1466280" cy="29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向量库</a:t>
            </a:r>
            <a:endParaRPr sz="1280" b="0" spc="-1">
              <a:latin typeface="Arial"/>
              <a:ea typeface="Arial"/>
              <a:cs typeface="Arial"/>
            </a:endParaRP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70A376F-DE33-44BF-BD2C-CFA650C0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440" y="4394520"/>
            <a:ext cx="360" cy="10404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298D261-6F84-49F6-9CC3-7331F0F9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320" y="4937400"/>
            <a:ext cx="1523160" cy="33264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24C9ABC-7EA8-4B25-A529-B9A09A1F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760" y="4956480"/>
            <a:ext cx="1466280" cy="29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Top-K</a:t>
            </a:r>
            <a:endParaRPr sz="1280" b="0" spc="-1">
              <a:latin typeface="Arial"/>
              <a:ea typeface="Arial"/>
              <a:cs typeface="Arial"/>
            </a:endParaRP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3CB4C6E-117A-4BDA-9C1B-1144DC3C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440" y="4832640"/>
            <a:ext cx="360" cy="10404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59ED0B7-11BD-4BB6-BAA2-D9264D0B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320" y="5375880"/>
            <a:ext cx="1523160" cy="33264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E1A88C3-54DA-4E0F-BAD4-FCA4E796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760" y="5394600"/>
            <a:ext cx="1466280" cy="29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LLM</a:t>
            </a:r>
            <a:endParaRPr sz="1280" b="0" spc="-1">
              <a:latin typeface="Arial"/>
              <a:ea typeface="Arial"/>
              <a:cs typeface="Arial"/>
            </a:endParaRP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81AF54E-883F-4BFF-B683-0527BB6C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440" y="5270760"/>
            <a:ext cx="360" cy="10404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830083E-7FE2-497E-A687-8E95BC26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240" y="5889960"/>
            <a:ext cx="220968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5A5A5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C199FCA-2F71-4D8A-8001-D8AA3112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60" y="6118560"/>
            <a:ext cx="2189880" cy="246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7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</a:t>
            </a:r>
            <a:r>
              <a:rPr sz="117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工程化落地</a:t>
            </a:r>
            <a:endParaRPr sz="1170" b="0" spc="-1">
              <a:latin typeface="Arial"/>
              <a:ea typeface="Arial"/>
              <a:cs typeface="Arial"/>
            </a:endParaRP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B6F6447-F29A-4429-BE8F-E9F5A7C4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60" y="6423480"/>
            <a:ext cx="2189880" cy="246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7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</a:t>
            </a:r>
            <a:r>
              <a:rPr sz="117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快速接入私有知识库</a:t>
            </a:r>
            <a:endParaRPr sz="1170" b="0" spc="-1">
              <a:latin typeface="Arial"/>
              <a:ea typeface="Arial"/>
              <a:cs typeface="Arial"/>
            </a:endParaRP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21F3D04-5A2D-4E63-A792-6BBDEBAC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60" y="6728400"/>
            <a:ext cx="2189880" cy="246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83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7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</a:t>
            </a:r>
            <a:r>
              <a:rPr sz="117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问题：</a:t>
            </a:r>
            <a:r>
              <a:rPr sz="117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Chunk </a:t>
            </a:r>
            <a:r>
              <a:rPr sz="117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边界、固定 </a:t>
            </a:r>
            <a:r>
              <a:rPr sz="117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Top-K</a:t>
            </a:r>
            <a:endParaRPr sz="1170" b="0" spc="-1">
              <a:latin typeface="Arial"/>
              <a:ea typeface="Arial"/>
              <a:cs typeface="Arial"/>
            </a:endParaRP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299EB14-EED8-4375-8DAF-94B92480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120" y="3184920"/>
            <a:ext cx="1770840" cy="33264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9216901-A38E-4212-94EC-6D37E83D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920" y="3204000"/>
            <a:ext cx="1713960" cy="29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40" b="0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Query Rewrite</a:t>
            </a:r>
            <a:endParaRPr sz="1240" b="0" spc="-1">
              <a:latin typeface="Arial"/>
              <a:ea typeface="Arial"/>
              <a:cs typeface="Arial"/>
            </a:endParaRP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3FE8913-24F4-416E-A9C3-2118F766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120" y="3623040"/>
            <a:ext cx="1770840" cy="33264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8F7E03A-C3C8-4412-A0BE-6A63AFDB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920" y="3642120"/>
            <a:ext cx="1713960" cy="29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40" b="0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Hybrid Retrieval</a:t>
            </a:r>
            <a:endParaRPr sz="1240" b="0" spc="-1">
              <a:latin typeface="Arial"/>
              <a:ea typeface="Arial"/>
              <a:cs typeface="Arial"/>
            </a:endParaRP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F126DE8-F3E8-4725-92BF-F8198ACC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80" y="3518280"/>
            <a:ext cx="360" cy="10404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D293497-E2BA-4C49-A628-E68B6D69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120" y="4061160"/>
            <a:ext cx="1770840" cy="33264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20A7604-45EA-4D71-B1AA-7BE4F1EC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920" y="4080240"/>
            <a:ext cx="1713960" cy="29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40" b="0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Metadata Filter</a:t>
            </a:r>
            <a:endParaRPr sz="1240" b="0" spc="-1">
              <a:latin typeface="Arial"/>
              <a:ea typeface="Arial"/>
              <a:cs typeface="Arial"/>
            </a:endParaRP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FD7CDE6-6DEF-4E68-A1F1-BFD04FE0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80" y="3956400"/>
            <a:ext cx="360" cy="10404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A076C89-DAA2-43CE-A998-24BC5B22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120" y="4499280"/>
            <a:ext cx="1770840" cy="33264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263C63E-3F5A-45A7-9216-0385D542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920" y="4518360"/>
            <a:ext cx="1713960" cy="29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40" b="0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Reranker</a:t>
            </a:r>
            <a:endParaRPr sz="1240" b="0" spc="-1"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E64103D-6668-4412-8658-1AD5FF23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80" y="4394520"/>
            <a:ext cx="360" cy="10404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D824C61-62D9-46EC-8D62-1B1998CF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120" y="4937400"/>
            <a:ext cx="1770840" cy="33264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EE30CE0-222C-47E1-B2CC-153CC25E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920" y="4956480"/>
            <a:ext cx="1713960" cy="29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40" b="0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Context Compression</a:t>
            </a:r>
            <a:endParaRPr sz="1240" b="0" spc="-1"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1289B66-BE3B-4E87-A4EF-6C1F49C1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80" y="4832640"/>
            <a:ext cx="360" cy="10404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17464EF-A9A0-474D-B44C-5526C920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120" y="5375880"/>
            <a:ext cx="1770840" cy="33264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83212BA-CF9E-4324-B048-A5CFB190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920" y="5394600"/>
            <a:ext cx="1713960" cy="29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40" b="0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Parent-Child / Fusion</a:t>
            </a:r>
            <a:endParaRPr sz="1240" b="0" spc="-1"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89A79AB-D6A9-4195-904E-3D34C526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80" y="5270760"/>
            <a:ext cx="360" cy="10404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1742DF4-FE7C-4C75-85AF-7AC00971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880" y="5889960"/>
            <a:ext cx="247680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5A5A5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EC916D7-06C5-41DB-9A34-75A93E1D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320" y="6118560"/>
            <a:ext cx="2428200" cy="246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7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</a:t>
            </a:r>
            <a:r>
              <a:rPr sz="117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检索链路优化</a:t>
            </a:r>
            <a:endParaRPr sz="1170" b="0" spc="-1">
              <a:latin typeface="Arial"/>
              <a:ea typeface="Arial"/>
              <a:cs typeface="Arial"/>
            </a:endParaRP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320E630-F7AD-4235-A75A-C7A8D850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320" y="6432840"/>
            <a:ext cx="2428200" cy="246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7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</a:t>
            </a:r>
            <a:r>
              <a:rPr sz="117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从黑盒 </a:t>
            </a:r>
            <a:r>
              <a:rPr sz="117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Retriever </a:t>
            </a:r>
            <a:r>
              <a:rPr sz="117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到模块组合</a:t>
            </a:r>
            <a:endParaRPr sz="1170" b="0" spc="-1">
              <a:latin typeface="Arial"/>
              <a:ea typeface="Arial"/>
              <a:cs typeface="Arial"/>
            </a:endParaRP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C0B829B-C2CE-4143-94B2-10832FAD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80" y="3327840"/>
            <a:ext cx="1399320" cy="241848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A8A8A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A067D4E-2BB9-4C19-ACCC-526620A6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280" y="3327840"/>
            <a:ext cx="1389960" cy="2418480"/>
          </a:xfrm>
          <a:prstGeom xmlns:a="http://schemas.openxmlformats.org/drawingml/2006/main" prst="roundRect">
            <a:avLst>
              <a:gd name="adj" fmla="val 61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A8A8A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DC0AAAE-2479-421F-A0CC-9F4DB018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520" y="3385080"/>
            <a:ext cx="1285200" cy="523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GraphRAG</a:t>
            </a:r>
            <a:endParaRPr sz="1430" b="0" spc="-1">
              <a:latin typeface="Arial"/>
              <a:ea typeface="Arial"/>
              <a:cs typeface="Arial"/>
            </a:endParaRP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B9BF5BA-AA69-4807-9488-CC589720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60" y="4146840"/>
            <a:ext cx="1237680" cy="51372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A8A8A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55DA28C-1412-42C6-BB01-864E3543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400" y="4185000"/>
            <a:ext cx="1180440" cy="43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实体 </a:t>
            </a:r>
            <a:r>
              <a:rPr sz="113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- </a:t>
            </a:r>
            <a:r>
              <a:rPr sz="113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关系 </a:t>
            </a:r>
            <a:r>
              <a:rPr sz="113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- </a:t>
            </a:r>
            <a:r>
              <a:rPr sz="113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社区</a:t>
            </a:r>
            <a:endParaRPr sz="1130" b="0" spc="-1">
              <a:latin typeface="Arial"/>
              <a:ea typeface="Arial"/>
              <a:cs typeface="Arial"/>
            </a:endParaRP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BD7AC65-2E4A-4592-BCA4-3DED126D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60" y="4985280"/>
            <a:ext cx="1237680" cy="61848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A8A8A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9547751-FFBA-47A2-B7BA-18E2EEBA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400" y="5013720"/>
            <a:ext cx="1180440" cy="561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70" b="0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Local / Global</a:t>
            </a:r>
            <a:endParaRPr sz="117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70" b="0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Search</a:t>
            </a:r>
            <a:endParaRPr sz="1170" b="0" spc="-1">
              <a:latin typeface="Arial"/>
              <a:ea typeface="Arial"/>
              <a:cs typeface="Arial"/>
            </a:endParaRP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A33D8D13-930F-4127-8EE1-EB09D656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60" y="4661280"/>
            <a:ext cx="360" cy="32328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5AA15CC-38EE-4906-B3A2-F08724FC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080" y="3366000"/>
            <a:ext cx="1313640" cy="580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4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Hierarchical RAG /</a:t>
            </a:r>
            <a:endParaRPr sz="124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4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RAPTOR</a:t>
            </a:r>
            <a:endParaRPr sz="1240" b="0" spc="-1">
              <a:latin typeface="Arial"/>
              <a:ea typeface="Arial"/>
              <a:cs typeface="Arial"/>
            </a:endParaRP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A40606C0-F8FC-42CD-9539-B2A571F2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240" y="4137480"/>
            <a:ext cx="1237680" cy="67572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A8A8A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9B9108F9-067F-4FFA-AF43-8594F27E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040" y="4175640"/>
            <a:ext cx="1180440" cy="6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90" b="0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Chunk–Cluster–</a:t>
            </a:r>
            <a:endParaRPr sz="109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90" b="0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Summary</a:t>
            </a:r>
            <a:endParaRPr sz="1090" b="0" spc="-1">
              <a:latin typeface="Arial"/>
              <a:ea typeface="Arial"/>
              <a:cs typeface="Arial"/>
            </a:endParaRP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C54938A8-9AE1-4CF0-8973-A7D9BB79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240" y="5099400"/>
            <a:ext cx="1237680" cy="51372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A8A8A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8AB68A6F-E77F-42D1-AED1-186AEDA1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040" y="5137560"/>
            <a:ext cx="1180440" cy="43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7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多层级检索</a:t>
            </a:r>
            <a:endParaRPr sz="1170" b="0" spc="-1">
              <a:latin typeface="Arial"/>
              <a:ea typeface="Arial"/>
              <a:cs typeface="Arial"/>
            </a:endParaRP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6F460A61-DA1D-4114-87F7-62A6EAD3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40" y="4813560"/>
            <a:ext cx="360" cy="28512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4C594E9-6526-428F-9F4E-51911B0E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000" y="5889960"/>
            <a:ext cx="280044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5A5A5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A1B9453C-3D82-45AB-A3DD-EE650450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640" y="6385320"/>
            <a:ext cx="2828160" cy="34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从文本相似度到结构化知识理解</a:t>
            </a:r>
            <a:endParaRPr sz="1200" b="0" spc="-1">
              <a:latin typeface="Arial"/>
              <a:ea typeface="Arial"/>
              <a:cs typeface="Arial"/>
            </a:endParaRP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67E74207-03B4-415B-BB0F-5B253BF7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040" y="3423240"/>
            <a:ext cx="1637640" cy="51372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5B604936-EADD-43AA-84C0-D430F710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480" y="3441960"/>
            <a:ext cx="1580400" cy="47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Adaptive RAG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1FA32E63-5C14-415A-AE39-A6922375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040" y="4213800"/>
            <a:ext cx="1637640" cy="51372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F655A07F-D698-478D-BC9B-2243C4D7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480" y="4232880"/>
            <a:ext cx="1580400" cy="47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Self-RAG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C6773C0-DE18-4AF8-A14B-139C5E9D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0040" y="3937320"/>
            <a:ext cx="360" cy="2754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62AF5510-E645-4B28-937E-E16C526F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040" y="5004360"/>
            <a:ext cx="1637640" cy="51372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049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B38AEEE8-E0D4-4C3A-9F6D-9EE22A22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480" y="5023440"/>
            <a:ext cx="1580400" cy="47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CRAG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CB4214E3-200A-41BD-94EA-301202C5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0040" y="4727880"/>
            <a:ext cx="360" cy="2754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E2F52322-677B-4CA4-87DE-89FF6A6E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120" y="5889960"/>
            <a:ext cx="219060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5A5A5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C77B75B1-72D6-47B3-A5A1-6A46336A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840" y="6118560"/>
            <a:ext cx="2180520" cy="246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7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</a:t>
            </a:r>
            <a:r>
              <a:rPr sz="117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何时检索、查什么、查多少</a:t>
            </a:r>
            <a:endParaRPr sz="1170" b="0" spc="-1">
              <a:latin typeface="Arial"/>
              <a:ea typeface="Arial"/>
              <a:cs typeface="Arial"/>
            </a:endParaRP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3779E62A-63AB-40D6-933B-B9D51FD1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840" y="6423480"/>
            <a:ext cx="2180520" cy="246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7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</a:t>
            </a:r>
            <a:r>
              <a:rPr sz="117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自反思 </a:t>
            </a:r>
            <a:r>
              <a:rPr sz="117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/ </a:t>
            </a:r>
            <a:r>
              <a:rPr sz="117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纠错 </a:t>
            </a:r>
            <a:r>
              <a:rPr sz="117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/ </a:t>
            </a:r>
            <a:r>
              <a:rPr sz="117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验证</a:t>
            </a:r>
            <a:endParaRPr sz="1170" b="0" spc="-1">
              <a:latin typeface="Arial"/>
              <a:ea typeface="Arial"/>
              <a:cs typeface="Arial"/>
            </a:endParaRP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A3113CB9-EFB6-4DF9-92AA-34F4AD63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840" y="6728400"/>
            <a:ext cx="2180520" cy="246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83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7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</a:t>
            </a:r>
            <a:r>
              <a:rPr sz="117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从 </a:t>
            </a:r>
            <a:r>
              <a:rPr sz="117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Accuracy </a:t>
            </a:r>
            <a:r>
              <a:rPr sz="117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到 </a:t>
            </a:r>
            <a:r>
              <a:rPr sz="117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Reliability</a:t>
            </a:r>
            <a:endParaRPr sz="1170" b="0" spc="-1">
              <a:latin typeface="Arial"/>
              <a:ea typeface="Arial"/>
              <a:cs typeface="Arial"/>
            </a:endParaRP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EDE74C2E-482B-4A40-BBCF-A0F54A37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680" y="4099320"/>
            <a:ext cx="904320" cy="62784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9271FE77-57F1-4B6E-84D7-0D3EBE06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480" y="4156560"/>
            <a:ext cx="828000" cy="513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Planning /</a:t>
            </a:r>
            <a:endParaRPr sz="120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Routing</a:t>
            </a:r>
            <a:endParaRPr sz="1200" b="0" spc="-1">
              <a:latin typeface="Arial"/>
              <a:ea typeface="Arial"/>
              <a:cs typeface="Arial"/>
            </a:endParaRP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73E308BD-6AE8-46A4-9225-B749A08C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5440" y="3327840"/>
            <a:ext cx="1113840" cy="48492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20857DB0-B16A-4D34-9791-F16D4A0F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4160" y="3346920"/>
            <a:ext cx="1075680" cy="447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Tool Use</a:t>
            </a:r>
            <a:endParaRPr sz="1200" b="0" spc="-1">
              <a:latin typeface="Arial"/>
              <a:ea typeface="Arial"/>
              <a:cs typeface="Arial"/>
            </a:endParaRP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14CD978D-6B40-4C67-AEDB-FC76D4FD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5440" y="3908880"/>
            <a:ext cx="1113840" cy="48492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88A7F41B-2298-4DF1-A8C5-556754DC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4160" y="3927960"/>
            <a:ext cx="1075680" cy="447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Memory</a:t>
            </a:r>
            <a:endParaRPr sz="1200" b="0" spc="-1">
              <a:latin typeface="Arial"/>
              <a:ea typeface="Arial"/>
              <a:cs typeface="Arial"/>
            </a:endParaRP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6AA50DD4-151E-4D4E-B324-0B816843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5440" y="4489920"/>
            <a:ext cx="1113840" cy="48492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2AFDDD2D-DEB0-41F5-9FF6-29CC38B9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4160" y="4509000"/>
            <a:ext cx="1075680" cy="447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Multimodal</a:t>
            </a:r>
            <a:endParaRPr sz="1200" b="0" spc="-1">
              <a:latin typeface="Arial"/>
              <a:ea typeface="Arial"/>
              <a:cs typeface="Arial"/>
            </a:endParaRP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FA7184C4-6EEF-4B06-AAF0-7A5AB2D5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5440" y="5070960"/>
            <a:ext cx="1113840" cy="48492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2602B07B-E1A5-4703-9C38-335A22A8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4160" y="5090040"/>
            <a:ext cx="1075680" cy="447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Online Data</a:t>
            </a:r>
            <a:endParaRPr sz="1200" b="0" spc="-1">
              <a:latin typeface="Arial"/>
              <a:ea typeface="Arial"/>
              <a:cs typeface="Arial"/>
            </a:endParaRP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636A8533-DBDE-4155-8FAA-7D2059F0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192360" y="3570120"/>
            <a:ext cx="342360" cy="8424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AA593CAF-D45F-497C-A4D5-E2C4052F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192360" y="4151160"/>
            <a:ext cx="342360" cy="26136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E83E32F1-DB99-4E0F-9654-1370E2D1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60" y="4413600"/>
            <a:ext cx="342360" cy="31824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C3A9A1DB-1197-46E7-B9E3-793B9405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60" y="4413600"/>
            <a:ext cx="342360" cy="89928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7BE57EBF-445B-4BDF-BC95-C7F948BB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240" y="5889960"/>
            <a:ext cx="238140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5A5A5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6F3242CA-3E54-4985-97B5-83D03531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680" y="6118560"/>
            <a:ext cx="2380680" cy="246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3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</a:t>
            </a:r>
            <a:r>
              <a:rPr sz="113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检索与推理交替进行</a:t>
            </a:r>
            <a:endParaRPr sz="1130" b="0" spc="-1">
              <a:latin typeface="Arial"/>
              <a:ea typeface="Arial"/>
              <a:cs typeface="Arial"/>
            </a:endParaRP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E09AB943-2624-4CAA-9174-BDB7CA12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680" y="6423480"/>
            <a:ext cx="2380680" cy="246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3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</a:t>
            </a:r>
            <a:r>
              <a:rPr sz="113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面向任务的动态知识访问</a:t>
            </a:r>
            <a:endParaRPr sz="1130" b="0" spc="-1">
              <a:latin typeface="Arial"/>
              <a:ea typeface="Arial"/>
              <a:cs typeface="Arial"/>
            </a:endParaRP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F02D7C44-E1F2-4746-8EB0-77F0E910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680" y="6728400"/>
            <a:ext cx="2380680" cy="246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84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3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</a:t>
            </a:r>
            <a:r>
              <a:rPr sz="113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RAG </a:t>
            </a:r>
            <a:r>
              <a:rPr sz="113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成为 </a:t>
            </a:r>
            <a:r>
              <a:rPr sz="113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Agent </a:t>
            </a:r>
            <a:r>
              <a:rPr sz="1130" b="0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的知识基础设施</a:t>
            </a:r>
            <a:endParaRPr sz="1130" b="0" spc="-1">
              <a:latin typeface="Arial"/>
              <a:ea typeface="Arial"/>
              <a:cs typeface="Arial"/>
            </a:endParaRP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2AEE77D1-93F6-43A7-9EDD-6DECEDD8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680" y="4404240"/>
            <a:ext cx="294480" cy="31356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C33D5767-6A45-4933-8A6D-E8FAF437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160" y="4404240"/>
            <a:ext cx="294480" cy="31356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40D4AA0F-4C51-4AC0-AE86-2878AE8B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920" y="4404240"/>
            <a:ext cx="294480" cy="31356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C1F238DF-764C-47C1-94DF-FE33B5CA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640" y="4404240"/>
            <a:ext cx="294480" cy="31356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2A7F4418-E8F0-4820-BBEF-E86B3599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0000" y="4404240"/>
            <a:ext cx="294480" cy="31356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1E19BEA4-0378-49A2-BC27-3EB6F454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20" y="7614000"/>
            <a:ext cx="16610760" cy="637560"/>
          </a:xfrm>
          <a:prstGeom xmlns:a="http://schemas.openxmlformats.org/drawingml/2006/main" prst="roundRect">
            <a:avLst>
              <a:gd name="adj" fmla="val 208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111111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D37E7C9C-FBA1-415F-A69B-DE592681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840" y="7709400"/>
            <a:ext cx="11753280" cy="428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5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结论：</a:t>
            </a:r>
            <a:r>
              <a:rPr sz="165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RAG </a:t>
            </a:r>
            <a:r>
              <a:rPr sz="165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不是单线替代，而是检索能力、知识组织、流程控制、知识模态与可靠性五个维度的并行升级。</a:t>
            </a:r>
            <a:endParaRPr sz="1650" b="0" spc="-1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512346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C23BF221-EF09-4C31-ACDC-B8C61CF4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360000"/>
            <a:ext cx="14586840" cy="335304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09EF1B48-CC60-43AD-834E-BC26616D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520" y="438120"/>
            <a:ext cx="4951800" cy="4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55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资料来源（重点确认）</a:t>
            </a:r>
            <a:endParaRPr sz="2550" b="0" spc="-1">
              <a:latin typeface="Arial"/>
              <a:ea typeface="Arial"/>
              <a:cs typeface="Arial"/>
            </a:endParaRP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377482C7-450C-43A7-A1DB-2E2D23FA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40" y="932400"/>
            <a:ext cx="1856520" cy="2659680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875029FD-FEDE-46B9-B960-EF414AFA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7800" y="1062360"/>
            <a:ext cx="393840" cy="467280"/>
          </a:xfrm>
          <a:custGeom xmlns:a="http://schemas.openxmlformats.org/drawingml/2006/main">
            <a:rect l="l" t="t" r="r" b="b"/>
            <a:pathLst>
              <a:path w="419100" h="514350">
                <a:moveTo>
                  <a:pt x="19050" y="9525"/>
                </a:moveTo>
                <a:lnTo>
                  <a:pt x="276225" y="9525"/>
                </a:lnTo>
                <a:lnTo>
                  <a:pt x="400050" y="133350"/>
                </a:lnTo>
                <a:lnTo>
                  <a:pt x="400050" y="495300"/>
                </a:lnTo>
                <a:lnTo>
                  <a:pt x="19050" y="495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9352742A-855A-4778-B135-6449B194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7800" y="1062360"/>
            <a:ext cx="393840" cy="467280"/>
          </a:xfrm>
          <a:custGeom xmlns:a="http://schemas.openxmlformats.org/drawingml/2006/main">
            <a:rect l="l" t="t" r="r" b="b"/>
            <a:pathLst>
              <a:path w="419100" h="514350">
                <a:moveTo>
                  <a:pt x="276225" y="9525"/>
                </a:moveTo>
                <a:lnTo>
                  <a:pt x="276225" y="133350"/>
                </a:lnTo>
                <a:lnTo>
                  <a:pt x="40005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FA6FDE58-5901-4AC8-9CD1-3450EE89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080" y="1278360"/>
            <a:ext cx="197280" cy="36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E97ECB59-856F-4A3F-B699-F7AE40E7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080" y="1347840"/>
            <a:ext cx="197280" cy="36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94FE8834-CB63-4D41-BC07-1DF0B892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080" y="1417320"/>
            <a:ext cx="197280" cy="36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D740DA03-B386-4A7D-BC4D-FFF31F7D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280" y="1616760"/>
            <a:ext cx="17128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5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设计报告</a:t>
            </a:r>
            <a:endParaRPr sz="1650" b="0" spc="-1">
              <a:latin typeface="Arial"/>
              <a:ea typeface="Arial"/>
              <a:cs typeface="Arial"/>
            </a:endParaRP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80E975AF-FF0D-492F-9759-B71C0625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560" y="2067120"/>
            <a:ext cx="1498680" cy="36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A9A9A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98F0EF4E-A284-4461-8C17-780BEE62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920" y="2171520"/>
            <a:ext cx="140760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系统目标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CB2FD5B2-3510-40B3-BFB6-E94199CA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920" y="2422440"/>
            <a:ext cx="140760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设备组成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2238F1BE-8EE1-44AA-8107-E77E57B0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920" y="2674080"/>
            <a:ext cx="140760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信号链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5256DE8D-7B1C-43A1-879A-0166771A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920" y="2925360"/>
            <a:ext cx="140760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控制架构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4A27B852-3940-4F3B-B7C3-5BF1F9D4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280" y="3202920"/>
            <a:ext cx="1640880" cy="30240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6E7E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454E71A7-0F19-4F12-AB20-D71E2E6D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920" y="3220200"/>
            <a:ext cx="1569240" cy="26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优先级：高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A2841943-32F8-49CA-B825-8395095B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2160" y="932400"/>
            <a:ext cx="1829520" cy="265968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10621D39-1485-4A37-9047-476C54EB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0000" y="1062360"/>
            <a:ext cx="393840" cy="467280"/>
          </a:xfrm>
          <a:custGeom xmlns:a="http://schemas.openxmlformats.org/drawingml/2006/main">
            <a:rect l="l" t="t" r="r" b="b"/>
            <a:pathLst>
              <a:path w="419100" h="514350">
                <a:moveTo>
                  <a:pt x="19050" y="9525"/>
                </a:moveTo>
                <a:lnTo>
                  <a:pt x="276225" y="9525"/>
                </a:lnTo>
                <a:lnTo>
                  <a:pt x="400050" y="133350"/>
                </a:lnTo>
                <a:lnTo>
                  <a:pt x="400050" y="495300"/>
                </a:lnTo>
                <a:lnTo>
                  <a:pt x="19050" y="495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DB86D156-2280-499B-A955-3255330D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0000" y="1062360"/>
            <a:ext cx="393840" cy="467280"/>
          </a:xfrm>
          <a:custGeom xmlns:a="http://schemas.openxmlformats.org/drawingml/2006/main">
            <a:rect l="l" t="t" r="r" b="b"/>
            <a:pathLst>
              <a:path w="419100" h="514350">
                <a:moveTo>
                  <a:pt x="276225" y="9525"/>
                </a:moveTo>
                <a:lnTo>
                  <a:pt x="276225" y="133350"/>
                </a:lnTo>
                <a:lnTo>
                  <a:pt x="40005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46EA6CBB-FCAD-485B-8879-8121E587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640" y="1278360"/>
            <a:ext cx="197280" cy="36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B772422E-6628-4D1B-B31F-A7618BB7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640" y="1347840"/>
            <a:ext cx="197280" cy="36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BF054F2A-BF6B-4E71-9422-6454FB59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640" y="1417320"/>
            <a:ext cx="197280" cy="36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148BDB4D-9FD1-4B73-BB19-235079AA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60" y="1616760"/>
            <a:ext cx="16858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5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操作手册</a:t>
            </a:r>
            <a:endParaRPr sz="1650" b="0" spc="-1">
              <a:latin typeface="Arial"/>
              <a:ea typeface="Arial"/>
              <a:cs typeface="Arial"/>
            </a:endParaRP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76F2F170-619A-44CE-AFA3-E8BF8525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1440" y="2067120"/>
            <a:ext cx="1471320" cy="36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A9A9A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D1DC73BF-9787-481B-8D60-AD8BC6B6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440" y="2171520"/>
            <a:ext cx="138132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操作步骤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85D8D77A-CD45-42BC-A4A7-36A9D073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440" y="2422440"/>
            <a:ext cx="138132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前置条件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832E2761-5F9A-4039-BC9E-978D79DA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440" y="2674080"/>
            <a:ext cx="138132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参数意义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F58B6111-5AD2-4D67-A241-22263E98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440" y="2925360"/>
            <a:ext cx="138132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注意事项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7D30FE89-BF81-4982-B411-BEB98767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800" y="3202920"/>
            <a:ext cx="1614600" cy="30240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6E7E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287E8571-0EAC-4751-BA1C-27CA2F85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5800" y="3220200"/>
            <a:ext cx="1542600" cy="26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优先级：高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3CC8B7EC-93B4-460D-9A69-8CEDD011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400" y="932400"/>
            <a:ext cx="2062440" cy="265968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AC80AFAC-693F-4A73-8696-ED8D4312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520" y="1062360"/>
            <a:ext cx="393840" cy="467280"/>
          </a:xfrm>
          <a:custGeom xmlns:a="http://schemas.openxmlformats.org/drawingml/2006/main">
            <a:rect l="l" t="t" r="r" b="b"/>
            <a:pathLst>
              <a:path w="419100" h="514350">
                <a:moveTo>
                  <a:pt x="19050" y="9525"/>
                </a:moveTo>
                <a:lnTo>
                  <a:pt x="276225" y="9525"/>
                </a:lnTo>
                <a:lnTo>
                  <a:pt x="400050" y="133350"/>
                </a:lnTo>
                <a:lnTo>
                  <a:pt x="400050" y="495300"/>
                </a:lnTo>
                <a:lnTo>
                  <a:pt x="19050" y="495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BC09A882-CDE5-4179-8425-858BEC08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520" y="1062360"/>
            <a:ext cx="393840" cy="467280"/>
          </a:xfrm>
          <a:custGeom xmlns:a="http://schemas.openxmlformats.org/drawingml/2006/main">
            <a:rect l="l" t="t" r="r" b="b"/>
            <a:pathLst>
              <a:path w="419100" h="514350">
                <a:moveTo>
                  <a:pt x="276225" y="9525"/>
                </a:moveTo>
                <a:lnTo>
                  <a:pt x="276225" y="133350"/>
                </a:lnTo>
                <a:lnTo>
                  <a:pt x="40005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AFD75C1F-B238-4861-B6B3-C1C3343D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5160" y="1278360"/>
            <a:ext cx="197280" cy="36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22470843-A647-497C-8281-AFAEC522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5160" y="1347840"/>
            <a:ext cx="197280" cy="36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EC1F8087-8435-434D-9775-08FA8755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5160" y="1417320"/>
            <a:ext cx="197280" cy="36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389A5044-0F21-4095-AA11-90C56BBB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4040" y="1616760"/>
            <a:ext cx="191916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5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PV </a:t>
            </a:r>
            <a:r>
              <a:rPr sz="165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命名规范</a:t>
            </a:r>
            <a:endParaRPr sz="1650" b="0" spc="-1">
              <a:latin typeface="Arial"/>
              <a:ea typeface="Arial"/>
              <a:cs typeface="Arial"/>
            </a:endParaRP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04F8E379-A722-47EF-A120-1F092A50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320" y="2067120"/>
            <a:ext cx="1704600" cy="36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A9A9A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5CA86F48-359F-4AF1-A80A-3DD1F67E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320" y="2171520"/>
            <a:ext cx="161460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命名规则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05187598-A36E-4E7C-8145-00A72251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320" y="2422440"/>
            <a:ext cx="161460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缩写说明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BDA698C4-EC29-4409-8813-57B8C7D7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320" y="2674080"/>
            <a:ext cx="161460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区域与设备编码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D0438344-4BA2-4E7E-BEF2-193F49DF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9680" y="3202920"/>
            <a:ext cx="1847520" cy="30240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6E7E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04EBE2DE-0AEB-435C-B68C-42B1C463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5680" y="3220200"/>
            <a:ext cx="1775880" cy="26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优先级：高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2911E7E6-3027-4A74-9CF9-ADA658C3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5560" y="932400"/>
            <a:ext cx="2143440" cy="2659680"/>
          </a:xfrm>
          <a:prstGeom xmlns:a="http://schemas.openxmlformats.org/drawingml/2006/main" prst="roundRect">
            <a:avLst>
              <a:gd name="adj" fmla="val 33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05C519BC-EE33-41DB-A5C4-17E98A65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0" y="1062360"/>
            <a:ext cx="393840" cy="467280"/>
          </a:xfrm>
          <a:custGeom xmlns:a="http://schemas.openxmlformats.org/drawingml/2006/main">
            <a:rect l="l" t="t" r="r" b="b"/>
            <a:pathLst>
              <a:path w="419100" h="514350">
                <a:moveTo>
                  <a:pt x="19050" y="9525"/>
                </a:moveTo>
                <a:lnTo>
                  <a:pt x="276225" y="9525"/>
                </a:lnTo>
                <a:lnTo>
                  <a:pt x="400050" y="133350"/>
                </a:lnTo>
                <a:lnTo>
                  <a:pt x="400050" y="495300"/>
                </a:lnTo>
                <a:lnTo>
                  <a:pt x="19050" y="495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E968C9BC-5F5E-42BD-8988-106CBBB4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0" y="1062360"/>
            <a:ext cx="393840" cy="467280"/>
          </a:xfrm>
          <a:custGeom xmlns:a="http://schemas.openxmlformats.org/drawingml/2006/main">
            <a:rect l="l" t="t" r="r" b="b"/>
            <a:pathLst>
              <a:path w="419100" h="514350">
                <a:moveTo>
                  <a:pt x="276225" y="9525"/>
                </a:moveTo>
                <a:lnTo>
                  <a:pt x="276225" y="133350"/>
                </a:lnTo>
                <a:lnTo>
                  <a:pt x="40005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E5CA8E04-5435-456A-938C-89F00761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8640" y="1278360"/>
            <a:ext cx="197280" cy="36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D988BE5E-18D5-4E6C-A135-8C8EF31B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8640" y="1347840"/>
            <a:ext cx="197280" cy="36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C86F028E-D326-4211-8F7A-3E1DB606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8640" y="1417320"/>
            <a:ext cx="197280" cy="36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B848E4AC-FF7F-4D66-A198-9F48DEF4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7200" y="1616760"/>
            <a:ext cx="199980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 fontScale="95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5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IOC/EPICS</a:t>
            </a:r>
            <a:endParaRPr sz="165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5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配置说明</a:t>
            </a:r>
            <a:endParaRPr sz="1650" b="0" spc="-1">
              <a:latin typeface="Arial"/>
              <a:ea typeface="Arial"/>
              <a:cs typeface="Arial"/>
            </a:endParaRP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7970E1A6-C13F-4870-8212-52AFE548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480" y="2067120"/>
            <a:ext cx="1785240" cy="36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A9A9A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CEFB85BD-9980-4095-BB5B-A360BA7B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171520"/>
            <a:ext cx="169524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9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IOC/Record/PV </a:t>
            </a: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关系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7F2CE6C7-CFBD-49D3-8A11-8602D88A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422440"/>
            <a:ext cx="169524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服务器信息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2A1F2B16-8FC6-43F9-81A5-3DA10DAA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674080"/>
            <a:ext cx="169524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配置与连接说明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C950E99D-C095-4D2C-9B72-058DF4E4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2840" y="3202920"/>
            <a:ext cx="1928520" cy="30240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6E7E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215BE5CD-9819-4D48-B6D1-135D9225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840" y="3220200"/>
            <a:ext cx="1856520" cy="26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优先级：高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A41A2764-51DC-47AC-8729-A4E2CF6E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9360" y="932400"/>
            <a:ext cx="2026800" cy="265968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27BD8289-5396-4CDF-B00F-B56D31B9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5480" y="1062360"/>
            <a:ext cx="393840" cy="467280"/>
          </a:xfrm>
          <a:custGeom xmlns:a="http://schemas.openxmlformats.org/drawingml/2006/main">
            <a:rect l="l" t="t" r="r" b="b"/>
            <a:pathLst>
              <a:path w="419100" h="514350">
                <a:moveTo>
                  <a:pt x="19050" y="9525"/>
                </a:moveTo>
                <a:lnTo>
                  <a:pt x="276225" y="9525"/>
                </a:lnTo>
                <a:lnTo>
                  <a:pt x="400050" y="133350"/>
                </a:lnTo>
                <a:lnTo>
                  <a:pt x="400050" y="495300"/>
                </a:lnTo>
                <a:lnTo>
                  <a:pt x="19050" y="495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B8038E55-6A30-4151-B8F2-D08B0A46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5480" y="1062360"/>
            <a:ext cx="393840" cy="467280"/>
          </a:xfrm>
          <a:custGeom xmlns:a="http://schemas.openxmlformats.org/drawingml/2006/main">
            <a:rect l="l" t="t" r="r" b="b"/>
            <a:pathLst>
              <a:path w="419100" h="514350">
                <a:moveTo>
                  <a:pt x="276225" y="9525"/>
                </a:moveTo>
                <a:lnTo>
                  <a:pt x="276225" y="133350"/>
                </a:lnTo>
                <a:lnTo>
                  <a:pt x="40005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815B85F9-8405-4E6F-988C-F0C6B55E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4120" y="1278360"/>
            <a:ext cx="197280" cy="36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B81B0A50-159D-4F04-B94A-E60C1BD0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4120" y="1347840"/>
            <a:ext cx="197280" cy="36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179A5896-09EA-40EB-81E9-833861CE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4120" y="1417320"/>
            <a:ext cx="197280" cy="36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24DDCAAC-FDC3-4CCD-B8A3-EC6FE1B7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1000" y="1616760"/>
            <a:ext cx="188316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 fontScale="97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5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设备接口</a:t>
            </a:r>
            <a:r>
              <a:rPr sz="165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65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信号说明</a:t>
            </a:r>
            <a:endParaRPr sz="1650" b="0" spc="-1">
              <a:latin typeface="Arial"/>
              <a:ea typeface="Arial"/>
              <a:cs typeface="Arial"/>
            </a:endParaRP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01CB0FCC-2B85-4EC7-9473-1C61AFAA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280" y="2067120"/>
            <a:ext cx="1668960" cy="36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A9A9A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A1D42C0B-EFAC-4379-8EBC-99EC3068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3640" y="2171520"/>
            <a:ext cx="157824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设备与信号定义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45B94E23-A504-46E6-8C25-408C1ADC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3640" y="2422440"/>
            <a:ext cx="157824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单位与读写方向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E7E042B5-730D-452B-9B30-E65BA464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3640" y="2674080"/>
            <a:ext cx="157824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device-signal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D9800988-E886-4FE4-8234-72C8C1B0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3640" y="2925360"/>
            <a:ext cx="157824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qualifier </a:t>
            </a: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含义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B90D0411-3237-4CB0-8992-E802B4F4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000" y="3202920"/>
            <a:ext cx="1811520" cy="30240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6E7E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E9618191-5351-46D6-A23A-3EA72F73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2640" y="3220200"/>
            <a:ext cx="1739880" cy="26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优先级：高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C9A0459F-E209-4F5A-9C3C-6DD03694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5520" y="932400"/>
            <a:ext cx="1972800" cy="2659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11111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6AF8462B-DC4F-42F3-B22C-FE31F40E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5000" y="1062360"/>
            <a:ext cx="394200" cy="467280"/>
          </a:xfrm>
          <a:custGeom xmlns:a="http://schemas.openxmlformats.org/drawingml/2006/main">
            <a:rect l="l" t="t" r="r" b="b"/>
            <a:pathLst>
              <a:path w="419100" h="514350">
                <a:moveTo>
                  <a:pt x="19050" y="9525"/>
                </a:moveTo>
                <a:lnTo>
                  <a:pt x="276225" y="9525"/>
                </a:lnTo>
                <a:lnTo>
                  <a:pt x="400050" y="133350"/>
                </a:lnTo>
                <a:lnTo>
                  <a:pt x="400050" y="495300"/>
                </a:lnTo>
                <a:lnTo>
                  <a:pt x="19050" y="495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0F167E80-5CAB-4611-9D0C-1E8C83EA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5000" y="1062360"/>
            <a:ext cx="394200" cy="467280"/>
          </a:xfrm>
          <a:custGeom xmlns:a="http://schemas.openxmlformats.org/drawingml/2006/main">
            <a:rect l="l" t="t" r="r" b="b"/>
            <a:pathLst>
              <a:path w="419100" h="514350">
                <a:moveTo>
                  <a:pt x="276225" y="9525"/>
                </a:moveTo>
                <a:lnTo>
                  <a:pt x="276225" y="133350"/>
                </a:lnTo>
                <a:lnTo>
                  <a:pt x="40005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07D76755-8E64-4A87-8F30-686D952A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3280" y="1278360"/>
            <a:ext cx="197640" cy="36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16444066-CF21-42F3-A8F7-512D60FB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3280" y="1347840"/>
            <a:ext cx="197640" cy="36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58C068DD-9D43-4F80-9F42-D2688632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3280" y="1417320"/>
            <a:ext cx="197640" cy="36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E123EE07-1D1B-4A0F-AAE6-8C63D6AF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160" y="1616760"/>
            <a:ext cx="18298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5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调试说明与 </a:t>
            </a:r>
            <a:r>
              <a:rPr sz="165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FAQ</a:t>
            </a:r>
            <a:endParaRPr sz="1650" b="0" spc="-1">
              <a:latin typeface="Arial"/>
              <a:ea typeface="Arial"/>
              <a:cs typeface="Arial"/>
            </a:endParaRP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EB061AC9-E547-4967-A67D-FE1D4253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4800" y="2067120"/>
            <a:ext cx="1614600" cy="36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A9A9A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6641A779-5D1E-4B20-9582-405A2B7B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9800" y="2171520"/>
            <a:ext cx="152460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常见问题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188E50FA-9A80-4EBF-8C80-EB5C109A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9800" y="2422440"/>
            <a:ext cx="152460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真实表达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383992E3-D15D-4112-BB8E-59C8B846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9800" y="2674080"/>
            <a:ext cx="152460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常见混淆场景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932F99A1-DCD7-4850-B503-A21EDE78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160" y="3202920"/>
            <a:ext cx="1757880" cy="30240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6E7E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F2CE55CB-CC01-4E46-A759-D8C07BF0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9160" y="3220200"/>
            <a:ext cx="1685880" cy="26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优先级：中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AB1F6815-08E0-4D7D-94C0-3711BB90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680" y="932400"/>
            <a:ext cx="1928520" cy="265968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11111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21F6405B-900C-41B6-B0BE-3CB2EE4A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4840" y="1062360"/>
            <a:ext cx="393840" cy="467280"/>
          </a:xfrm>
          <a:custGeom xmlns:a="http://schemas.openxmlformats.org/drawingml/2006/main">
            <a:rect l="l" t="t" r="r" b="b"/>
            <a:pathLst>
              <a:path w="419100" h="514350">
                <a:moveTo>
                  <a:pt x="19050" y="9525"/>
                </a:moveTo>
                <a:lnTo>
                  <a:pt x="276225" y="9525"/>
                </a:lnTo>
                <a:lnTo>
                  <a:pt x="400050" y="133350"/>
                </a:lnTo>
                <a:lnTo>
                  <a:pt x="400050" y="495300"/>
                </a:lnTo>
                <a:lnTo>
                  <a:pt x="19050" y="495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3A3FA4AF-E4C3-4076-A511-CBFB021A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4840" y="1062360"/>
            <a:ext cx="393840" cy="467280"/>
          </a:xfrm>
          <a:custGeom xmlns:a="http://schemas.openxmlformats.org/drawingml/2006/main">
            <a:rect l="l" t="t" r="r" b="b"/>
            <a:pathLst>
              <a:path w="419100" h="514350">
                <a:moveTo>
                  <a:pt x="276225" y="9525"/>
                </a:moveTo>
                <a:lnTo>
                  <a:pt x="276225" y="133350"/>
                </a:lnTo>
                <a:lnTo>
                  <a:pt x="40005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036B0717-195F-4035-8302-197645D1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3480" y="1278360"/>
            <a:ext cx="197280" cy="36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6A87EC9C-937B-40BD-A7F3-A0E72839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3480" y="1347840"/>
            <a:ext cx="197280" cy="36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F3DC3085-8474-4B57-A6B5-F2CAC7D9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3480" y="1417320"/>
            <a:ext cx="197280" cy="36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BD309EA6-636E-47DB-B04E-E03F5BB8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9680" y="1616760"/>
            <a:ext cx="178452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 fontScale="95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5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维护或故障资料</a:t>
            </a:r>
            <a:endParaRPr sz="165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5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（可选）</a:t>
            </a:r>
            <a:endParaRPr sz="1650" b="0" spc="-1">
              <a:latin typeface="Arial"/>
              <a:ea typeface="Arial"/>
              <a:cs typeface="Arial"/>
            </a:endParaRPr>
          </a:p>
        </p:txBody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64B5998F-398E-4499-9477-7CFDDE57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7320" y="2067120"/>
            <a:ext cx="1569960" cy="360"/>
          </a:xfrm>
          <a:prstGeom xmlns:a="http://schemas.openxmlformats.org/drawingml/2006/main" prst="line">
            <a:avLst/>
          </a:prstGeom>
          <a:ln xmlns:a="http://schemas.openxmlformats.org/drawingml/2006/main" w="7620">
            <a:solidFill>
              <a:srgbClr val="A9A9A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6E58E810-CDF4-42A1-8BC2-2EC5BA88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2320" y="2171520"/>
            <a:ext cx="147960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处置过程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5167B805-96D8-4E5C-8791-B5FFD3D6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2320" y="2422440"/>
            <a:ext cx="147960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历史案例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5F7723CD-12AE-4213-B1E0-F434E7B4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5680" y="3202920"/>
            <a:ext cx="1712880" cy="30240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6E7E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4FDA3B27-AA02-4D2E-B849-EEB6CDEE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1320" y="3220200"/>
            <a:ext cx="1640880" cy="26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优先级：低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F618776B-DDF0-4575-B461-81CC36BD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960" y="3714120"/>
            <a:ext cx="25920" cy="2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9D21EC9D-09F7-4BD5-9BA9-1CD5ABFC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640" y="4060800"/>
            <a:ext cx="14524200" cy="265104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4F5F5"/>
          </a:solidFill>
          <a:ln xmlns:a="http://schemas.openxmlformats.org/drawingml/2006/main" w="10954">
            <a:solidFill>
              <a:srgbClr val="85858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5EF76FD7-FB91-45E0-93AD-1D6ACA9A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188920" y="3714120"/>
            <a:ext cx="3600" cy="34596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7E5D1053-DAF9-4A0B-8660-4AF82047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440" y="4138560"/>
            <a:ext cx="4413600" cy="36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02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数据处理与构建流程</a:t>
            </a:r>
            <a:endParaRPr sz="2020" b="0" spc="-1">
              <a:latin typeface="Arial"/>
              <a:ea typeface="Arial"/>
              <a:cs typeface="Arial"/>
            </a:endParaRPr>
          </a:p>
        </p:txBody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83EA0D1D-4710-4A60-B14B-57BD36FC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280" y="4528800"/>
            <a:ext cx="3192840" cy="2035800"/>
          </a:xfrm>
          <a:prstGeom xmlns:a="http://schemas.openxmlformats.org/drawingml/2006/main" prst="roundRect">
            <a:avLst>
              <a:gd name="adj" fmla="val 29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74747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4301DE4C-944D-43BA-A8FF-900B3C16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200" y="4658760"/>
            <a:ext cx="354600" cy="420480"/>
          </a:xfrm>
          <a:custGeom xmlns:a="http://schemas.openxmlformats.org/drawingml/2006/main">
            <a:rect l="l" t="t" r="r" b="b"/>
            <a:pathLst>
              <a:path w="419100" h="514350">
                <a:moveTo>
                  <a:pt x="19050" y="9525"/>
                </a:moveTo>
                <a:lnTo>
                  <a:pt x="276225" y="9525"/>
                </a:lnTo>
                <a:lnTo>
                  <a:pt x="400050" y="133350"/>
                </a:lnTo>
                <a:lnTo>
                  <a:pt x="400050" y="495300"/>
                </a:lnTo>
                <a:lnTo>
                  <a:pt x="19050" y="495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C9B0A8AE-F6B8-47A1-A9E1-0598D707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200" y="4658760"/>
            <a:ext cx="354600" cy="420480"/>
          </a:xfrm>
          <a:custGeom xmlns:a="http://schemas.openxmlformats.org/drawingml/2006/main">
            <a:rect l="l" t="t" r="r" b="b"/>
            <a:pathLst>
              <a:path w="419100" h="514350">
                <a:moveTo>
                  <a:pt x="276225" y="9525"/>
                </a:moveTo>
                <a:lnTo>
                  <a:pt x="276225" y="133350"/>
                </a:lnTo>
                <a:lnTo>
                  <a:pt x="40005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E3E7884D-B429-402F-82F9-C0195019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760" y="4853520"/>
            <a:ext cx="177480" cy="36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61C6179B-3321-4F71-9ADC-8157BC3B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760" y="4915800"/>
            <a:ext cx="177480" cy="36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B21B56EA-2B4A-4254-B03D-5FD36715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760" y="4978440"/>
            <a:ext cx="177480" cy="36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21930E6F-DDEB-4584-863E-9AC40F4B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040" y="4598280"/>
            <a:ext cx="2188440" cy="570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L0 </a:t>
            </a:r>
            <a:r>
              <a:rPr sz="150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原始资料层</a:t>
            </a:r>
            <a:endParaRPr sz="150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（只读保存）</a:t>
            </a:r>
            <a:endParaRPr sz="1500" b="0" spc="-1">
              <a:latin typeface="Arial"/>
              <a:ea typeface="Arial"/>
              <a:cs typeface="Arial"/>
            </a:endParaRPr>
          </a:p>
        </p:txBody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C8EBCFE9-C03E-477C-A5A9-954B02B1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560" y="5221800"/>
            <a:ext cx="2870640" cy="360"/>
          </a:xfrm>
          <a:prstGeom xmlns:a="http://schemas.openxmlformats.org/drawingml/2006/main" prst="line">
            <a:avLst/>
          </a:prstGeom>
          <a:ln xmlns:a="http://schemas.openxmlformats.org/drawingml/2006/main" w="7144">
            <a:solidFill>
              <a:srgbClr val="B3B3B3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DF6CF765-C38A-40B9-B4F1-22978BDB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00" y="5274000"/>
            <a:ext cx="278064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原文档与 </a:t>
            </a: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Registry </a:t>
            </a: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导出</a:t>
            </a:r>
            <a:endParaRPr sz="1320" b="0" spc="-1">
              <a:latin typeface="Arial"/>
              <a:ea typeface="Arial"/>
              <a:cs typeface="Arial"/>
            </a:endParaRPr>
          </a:p>
        </p:txBody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D3EDECD9-B79A-4ABD-9663-32C4AB3D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00" y="5508000"/>
            <a:ext cx="278064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来源、版本、日期、责任人</a:t>
            </a:r>
            <a:endParaRPr sz="1320" b="0" spc="-1">
              <a:latin typeface="Arial"/>
              <a:ea typeface="Arial"/>
              <a:cs typeface="Arial"/>
            </a:endParaRPr>
          </a:p>
        </p:txBody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433FF2DE-9F84-44F7-88C1-63F80BC5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00" y="5742000"/>
            <a:ext cx="278064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敏感级别</a:t>
            </a:r>
            <a:endParaRPr sz="1320" b="0" spc="-1">
              <a:latin typeface="Arial"/>
              <a:ea typeface="Arial"/>
              <a:cs typeface="Arial"/>
            </a:endParaRPr>
          </a:p>
        </p:txBody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BC0C54AC-6BE4-49FC-A450-EE504F6C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920" y="6192720"/>
            <a:ext cx="2959560" cy="30240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5E6E7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FAF0D475-7B44-4D35-A71C-837E5F0A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560" y="6201360"/>
            <a:ext cx="2888280" cy="27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2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验收目标：能够回到原文复核</a:t>
            </a:r>
            <a:endParaRPr sz="1320" b="0" spc="-1">
              <a:latin typeface="Arial"/>
              <a:ea typeface="Arial"/>
              <a:cs typeface="Arial"/>
            </a:endParaRPr>
          </a:p>
        </p:txBody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9C021EF5-BED9-49D0-B810-BE81945A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0400" y="4528800"/>
            <a:ext cx="3121560" cy="2035800"/>
          </a:xfrm>
          <a:prstGeom xmlns:a="http://schemas.openxmlformats.org/drawingml/2006/main" prst="roundRect">
            <a:avLst>
              <a:gd name="adj" fmla="val 29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74747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A5C36C51-8E39-4748-9400-5E382F7D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5320" y="4658760"/>
            <a:ext cx="456840" cy="467280"/>
          </a:xfrm>
          <a:prstGeom xmlns:a="http://schemas.openxmlformats.org/drawingml/2006/main" prst="can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46177DCC-7CDE-47AA-B17E-E84AFA48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2520" y="4598280"/>
            <a:ext cx="2116440" cy="570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L1 </a:t>
            </a:r>
            <a:r>
              <a:rPr sz="150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规范化实体层</a:t>
            </a:r>
            <a:endParaRPr sz="150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（结构化处理）</a:t>
            </a:r>
            <a:endParaRPr sz="1500" b="0" spc="-1">
              <a:latin typeface="Arial"/>
              <a:ea typeface="Arial"/>
              <a:cs typeface="Arial"/>
            </a:endParaRPr>
          </a:p>
        </p:txBody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6950B3B8-7F33-4099-9462-F18E0AFE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680" y="5221800"/>
            <a:ext cx="2799360" cy="360"/>
          </a:xfrm>
          <a:prstGeom xmlns:a="http://schemas.openxmlformats.org/drawingml/2006/main" prst="line">
            <a:avLst/>
          </a:prstGeom>
          <a:ln xmlns:a="http://schemas.openxmlformats.org/drawingml/2006/main" w="7144">
            <a:solidFill>
              <a:srgbClr val="B3B3B3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6EB5B428-FA17-435A-ACDF-7DB7B90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6680" y="5274000"/>
            <a:ext cx="270864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56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PV</a:t>
            </a: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IOC</a:t>
            </a: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、区域、子系统、</a:t>
            </a:r>
            <a:endParaRPr sz="132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设备、信号统一解析</a:t>
            </a:r>
            <a:endParaRPr sz="1320" b="0" spc="-1">
              <a:latin typeface="Arial"/>
              <a:ea typeface="Arial"/>
              <a:cs typeface="Arial"/>
            </a:endParaRPr>
          </a:p>
        </p:txBody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ED70AC62-B161-41B3-B579-B4F673BE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6680" y="5508000"/>
            <a:ext cx="270864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原始值与规范值</a:t>
            </a:r>
            <a:endParaRPr sz="1320" b="0" spc="-1">
              <a:latin typeface="Arial"/>
              <a:ea typeface="Arial"/>
              <a:cs typeface="Arial"/>
            </a:endParaRPr>
          </a:p>
        </p:txBody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76FB739D-347B-40E2-8A05-AFAEBC0B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6680" y="5742000"/>
            <a:ext cx="270864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解析规则版本</a:t>
            </a:r>
            <a:endParaRPr sz="1320" b="0" spc="-1">
              <a:latin typeface="Arial"/>
              <a:ea typeface="Arial"/>
              <a:cs typeface="Arial"/>
            </a:endParaRPr>
          </a:p>
        </p:txBody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7CB5824E-9CC1-497B-9232-AE2E761F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040" y="6192720"/>
            <a:ext cx="2888280" cy="30240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5E6E7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FB289AA6-AE78-47EA-8D31-6DD4EB9D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040" y="6201360"/>
            <a:ext cx="2816280" cy="27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2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验收目标：实体可稳定连接</a:t>
            </a:r>
            <a:endParaRPr sz="1320" b="0" spc="-1">
              <a:latin typeface="Arial"/>
              <a:ea typeface="Arial"/>
              <a:cs typeface="Arial"/>
            </a:endParaRPr>
          </a:p>
        </p:txBody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77793D55-CD7F-4CF8-AEAD-07620832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4880" y="4528800"/>
            <a:ext cx="3121560" cy="2035800"/>
          </a:xfrm>
          <a:prstGeom xmlns:a="http://schemas.openxmlformats.org/drawingml/2006/main" prst="roundRect">
            <a:avLst>
              <a:gd name="adj" fmla="val 29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74747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EDB1B922-2E4B-4B05-A873-78B25F4F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160" y="4641480"/>
            <a:ext cx="374400" cy="443880"/>
          </a:xfrm>
          <a:custGeom xmlns:a="http://schemas.openxmlformats.org/drawingml/2006/main">
            <a:rect l="l" t="t" r="r" b="b"/>
            <a:pathLst>
              <a:path w="419100" h="514350">
                <a:moveTo>
                  <a:pt x="19050" y="9525"/>
                </a:moveTo>
                <a:lnTo>
                  <a:pt x="276225" y="9525"/>
                </a:lnTo>
                <a:lnTo>
                  <a:pt x="400050" y="133350"/>
                </a:lnTo>
                <a:lnTo>
                  <a:pt x="400050" y="495300"/>
                </a:lnTo>
                <a:lnTo>
                  <a:pt x="19050" y="495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34C0D803-0C23-45BD-AF79-9BDB8605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160" y="4641480"/>
            <a:ext cx="374400" cy="443880"/>
          </a:xfrm>
          <a:custGeom xmlns:a="http://schemas.openxmlformats.org/drawingml/2006/main">
            <a:rect l="l" t="t" r="r" b="b"/>
            <a:pathLst>
              <a:path w="419100" h="514350">
                <a:moveTo>
                  <a:pt x="276225" y="9525"/>
                </a:moveTo>
                <a:lnTo>
                  <a:pt x="276225" y="133350"/>
                </a:lnTo>
                <a:lnTo>
                  <a:pt x="40005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41FAC5E8-0168-4E7B-A3A3-4E7921CF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5760" y="4847040"/>
            <a:ext cx="187560" cy="36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A714B256-2253-4E86-AB2F-95448217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5760" y="4912920"/>
            <a:ext cx="187560" cy="36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8297549C-FBA1-4C91-B3DD-DF5CE509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5760" y="4978800"/>
            <a:ext cx="187560" cy="36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EFBFD680-42AD-474B-AF85-90D6FA00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4080" y="4884120"/>
            <a:ext cx="205920" cy="198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7EB43ED2-AA41-4887-B3B2-18D2D1B2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720" y="5048640"/>
            <a:ext cx="125280" cy="12096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1B9A13B9-8261-4066-A498-1400473B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7360" y="4598280"/>
            <a:ext cx="2116440" cy="570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L2 </a:t>
            </a:r>
            <a:r>
              <a:rPr sz="150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文档证据层</a:t>
            </a:r>
            <a:endParaRPr sz="150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（可检索证据单元）</a:t>
            </a:r>
            <a:endParaRPr sz="1500" b="0" spc="-1">
              <a:latin typeface="Arial"/>
              <a:ea typeface="Arial"/>
              <a:cs typeface="Arial"/>
            </a:endParaRPr>
          </a:p>
        </p:txBody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57A91A64-931B-4284-8369-93E00372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6160" y="5221800"/>
            <a:ext cx="2799360" cy="360"/>
          </a:xfrm>
          <a:prstGeom xmlns:a="http://schemas.openxmlformats.org/drawingml/2006/main" prst="line">
            <a:avLst/>
          </a:prstGeom>
          <a:ln xmlns:a="http://schemas.openxmlformats.org/drawingml/2006/main" w="7144">
            <a:solidFill>
              <a:srgbClr val="B3B3B3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14D07832-15DD-42F2-8FD3-8F0C804D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1520" y="5274000"/>
            <a:ext cx="270828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91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文档切块（按标题</a:t>
            </a: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表格</a:t>
            </a: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步骤）</a:t>
            </a:r>
            <a:endParaRPr sz="1320" b="0" spc="-1">
              <a:latin typeface="Arial"/>
              <a:ea typeface="Arial"/>
              <a:cs typeface="Arial"/>
            </a:endParaRPr>
          </a:p>
        </p:txBody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F3091C77-1781-4AD6-8355-A96FAE9E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1520" y="5508000"/>
            <a:ext cx="270828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页码、章节路径、表格标题</a:t>
            </a:r>
            <a:endParaRPr sz="1320" b="0" spc="-1">
              <a:latin typeface="Arial"/>
              <a:ea typeface="Arial"/>
              <a:cs typeface="Arial"/>
            </a:endParaRPr>
          </a:p>
        </p:txBody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33001A79-EC7E-4D4D-8008-601F9E88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1520" y="5742000"/>
            <a:ext cx="270828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56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关联实体（</a:t>
            </a: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area/subsystem/</a:t>
            </a:r>
            <a:endParaRPr sz="132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device/signal/PV</a:t>
            </a: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）</a:t>
            </a:r>
            <a:endParaRPr sz="1320" b="0" spc="-1">
              <a:latin typeface="Arial"/>
              <a:ea typeface="Arial"/>
              <a:cs typeface="Arial"/>
            </a:endParaRPr>
          </a:p>
        </p:txBody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1DBE3F3C-61BC-43F1-B36B-5A8F0366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1520" y="6192720"/>
            <a:ext cx="2888280" cy="30240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5E6E7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E237FF5B-8DD9-4F78-8E72-E9B683D8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7520" y="6201360"/>
            <a:ext cx="2816280" cy="27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2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验收目标：答案可追溯</a:t>
            </a:r>
            <a:endParaRPr sz="1320" b="0" spc="-1">
              <a:latin typeface="Arial"/>
              <a:ea typeface="Arial"/>
              <a:cs typeface="Arial"/>
            </a:endParaRPr>
          </a:p>
        </p:txBody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AD386215-B9F8-42CD-8520-C63AD0BF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0360" y="4528800"/>
            <a:ext cx="3184200" cy="2035800"/>
          </a:xfrm>
          <a:prstGeom xmlns:a="http://schemas.openxmlformats.org/drawingml/2006/main" prst="roundRect">
            <a:avLst>
              <a:gd name="adj" fmla="val 29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74747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A8E9FFBD-15DF-4F65-B63E-BB372F2C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2280" y="4693320"/>
            <a:ext cx="385200" cy="43272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45265DE0-D2A7-4553-9774-E7681EA9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0920" y="4641480"/>
            <a:ext cx="187920" cy="10332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5A05F3EB-BC9D-4005-8409-5761CDE2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5280" y="4840560"/>
            <a:ext cx="97920" cy="77400"/>
          </a:xfrm>
          <a:custGeom xmlns:a="http://schemas.openxmlformats.org/drawingml/2006/main">
            <a:rect l="l" t="t" r="r" b="b"/>
            <a:pathLst>
              <a:path w="104775" h="85725">
                <a:moveTo>
                  <a:pt x="0" y="38100"/>
                </a:moveTo>
                <a:lnTo>
                  <a:pt x="38100" y="76200"/>
                </a:lnTo>
                <a:lnTo>
                  <a:pt x="104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A91C2D78-F488-4D35-A29D-EE862BCB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9560" y="4866480"/>
            <a:ext cx="125640" cy="360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3BE6F677-0934-4618-8E68-7C6FCA5F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5280" y="4970520"/>
            <a:ext cx="97920" cy="77400"/>
          </a:xfrm>
          <a:custGeom xmlns:a="http://schemas.openxmlformats.org/drawingml/2006/main">
            <a:rect l="l" t="t" r="r" b="b"/>
            <a:pathLst>
              <a:path w="104775" h="85725">
                <a:moveTo>
                  <a:pt x="0" y="38100"/>
                </a:moveTo>
                <a:lnTo>
                  <a:pt x="38100" y="76200"/>
                </a:lnTo>
                <a:lnTo>
                  <a:pt x="104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89E0FF57-AB9F-417D-919C-02D3E61C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9560" y="4996440"/>
            <a:ext cx="125640" cy="360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76951569-FEBE-4F7B-B4BF-955EDDFB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2480" y="4598280"/>
            <a:ext cx="2179440" cy="570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L3 </a:t>
            </a:r>
            <a:r>
              <a:rPr sz="150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监督评测层</a:t>
            </a:r>
            <a:endParaRPr sz="150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（</a:t>
            </a:r>
            <a:r>
              <a:rPr sz="150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Benchmark </a:t>
            </a:r>
            <a:r>
              <a:rPr sz="150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标注）</a:t>
            </a:r>
            <a:endParaRPr sz="1500" b="0" spc="-1">
              <a:latin typeface="Arial"/>
              <a:ea typeface="Arial"/>
              <a:cs typeface="Arial"/>
            </a:endParaRPr>
          </a:p>
        </p:txBody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F3E2F240-F0F4-477C-BDBC-194E9415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1640" y="5221800"/>
            <a:ext cx="2862000" cy="360"/>
          </a:xfrm>
          <a:prstGeom xmlns:a="http://schemas.openxmlformats.org/drawingml/2006/main" prst="line">
            <a:avLst/>
          </a:prstGeom>
          <a:ln xmlns:a="http://schemas.openxmlformats.org/drawingml/2006/main" w="7144">
            <a:solidFill>
              <a:srgbClr val="B3B3B3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900943C0-4DDB-4D74-8D6C-2EDA44C9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6640" y="5274000"/>
            <a:ext cx="277164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问题、标准答案</a:t>
            </a:r>
            <a:endParaRPr sz="1320" b="0" spc="-1">
              <a:latin typeface="Arial"/>
              <a:ea typeface="Arial"/>
              <a:cs typeface="Arial"/>
            </a:endParaRPr>
          </a:p>
        </p:txBody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E5B94A7D-8869-42C7-B697-8F919298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6640" y="5508000"/>
            <a:ext cx="277164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危险近邻与风险类型</a:t>
            </a:r>
            <a:endParaRPr sz="1320" b="0" spc="-1">
              <a:latin typeface="Arial"/>
              <a:ea typeface="Arial"/>
              <a:cs typeface="Arial"/>
            </a:endParaRPr>
          </a:p>
        </p:txBody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E335AE0E-8C98-4744-9CC4-4529A48D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6640" y="5742000"/>
            <a:ext cx="277164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91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split </a:t>
            </a: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划分（随机</a:t>
            </a: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结构 </a:t>
            </a: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OOD/</a:t>
            </a: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时间）</a:t>
            </a:r>
            <a:endParaRPr sz="1320" b="0" spc="-1">
              <a:latin typeface="Arial"/>
              <a:ea typeface="Arial"/>
              <a:cs typeface="Arial"/>
            </a:endParaRPr>
          </a:p>
        </p:txBody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275B52C0-CE66-4DF7-B0FB-169EFB92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6640" y="5976000"/>
            <a:ext cx="277164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2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审核状态与数据快照</a:t>
            </a:r>
            <a:endParaRPr sz="1320" b="0" spc="-1">
              <a:latin typeface="Arial"/>
              <a:ea typeface="Arial"/>
              <a:cs typeface="Arial"/>
            </a:endParaRPr>
          </a:p>
        </p:txBody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872B37F7-3E10-4120-9E8F-30049C40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7000" y="6192720"/>
            <a:ext cx="2950920" cy="30240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5E6E7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C9FBBAE4-7388-4737-BCC1-C6DD9A69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3000" y="6201360"/>
            <a:ext cx="2879280" cy="27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2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验收目标：训练与测试可复现</a:t>
            </a:r>
            <a:endParaRPr sz="1320" b="0" spc="-1">
              <a:latin typeface="Arial"/>
              <a:ea typeface="Arial"/>
              <a:cs typeface="Arial"/>
            </a:endParaRPr>
          </a:p>
        </p:txBody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D8EDBC46-CBAF-4966-BB61-89B6774C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840" y="5547240"/>
            <a:ext cx="483840" cy="36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198B7FD6-1BD9-4DF9-8540-9BBB382E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320" y="5547240"/>
            <a:ext cx="501840" cy="36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1FE24E1F-A557-4CF4-9F29-6C0413B6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5547240"/>
            <a:ext cx="492480" cy="36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62576326-E01D-4DBF-B48A-F737DB7A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5440" y="6972480"/>
            <a:ext cx="4601520" cy="117792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D7BA8A17-C17F-45B5-A8CE-CE276944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0160" y="6972480"/>
            <a:ext cx="4610880" cy="117792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6E55702F-947D-44B0-BF4D-A30E2642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2520" y="6799320"/>
            <a:ext cx="26280" cy="2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397C98C8-F177-4CBB-82F8-01ED0AF9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0680" y="6799320"/>
            <a:ext cx="26280" cy="2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6580623B-2490-4801-8DB7-F4D96482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5040" y="6573960"/>
            <a:ext cx="25920" cy="2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95BCA26C-C3DA-4DEA-8CEA-387F5D68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0520" y="6798960"/>
            <a:ext cx="7832160" cy="360"/>
          </a:xfrm>
          <a:prstGeom xmlns:a="http://schemas.openxmlformats.org/drawingml/2006/main" prst="line">
            <a:avLst/>
          </a:prstGeom>
          <a:ln xmlns:a="http://schemas.openxmlformats.org/drawingml/2006/main" w="1714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C7A1EE18-7858-435E-9B6B-85EF1B7E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2680" y="6573960"/>
            <a:ext cx="360" cy="225000"/>
          </a:xfrm>
          <a:prstGeom xmlns:a="http://schemas.openxmlformats.org/drawingml/2006/main" prst="line">
            <a:avLst/>
          </a:prstGeom>
          <a:ln xmlns:a="http://schemas.openxmlformats.org/drawingml/2006/main" w="1714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B0BD8224-91FF-490E-B78A-F3755E42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505840" y="6825240"/>
            <a:ext cx="178920" cy="14652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CECF9371-1091-4BBA-94B2-CC702448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4360" y="6825240"/>
            <a:ext cx="200880" cy="14652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BF403307-6BB9-44FD-8F23-81F3D001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720" y="7501320"/>
            <a:ext cx="115920" cy="25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E7F568EA-2A0B-4C62-A80A-B72749A7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000" y="7362720"/>
            <a:ext cx="115920" cy="39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4EF63E3E-B1BD-4F32-809C-4D961E2B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640" y="7241040"/>
            <a:ext cx="115920" cy="519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FDAAE04C-3697-47E4-BEA2-7547EBFC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5200" y="7015680"/>
            <a:ext cx="2780280" cy="302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Benchmark </a:t>
            </a:r>
            <a:r>
              <a:rPr sz="150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构建</a:t>
            </a:r>
            <a:endParaRPr sz="1500" b="0" spc="-1">
              <a:latin typeface="Arial"/>
              <a:ea typeface="Arial"/>
              <a:cs typeface="Arial"/>
            </a:endParaRPr>
          </a:p>
        </p:txBody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D94A6DE8-9643-4D39-91EC-AB583538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840" y="7293240"/>
            <a:ext cx="313920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7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17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多类型问题</a:t>
            </a:r>
            <a:endParaRPr sz="1170" b="0" spc="-1">
              <a:latin typeface="Arial"/>
              <a:ea typeface="Arial"/>
              <a:cs typeface="Arial"/>
            </a:endParaRPr>
          </a:p>
        </p:txBody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E8B0F46C-DAA1-40E2-B092-800CD804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840" y="7484040"/>
            <a:ext cx="313920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7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17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标注正确证据、正确控制对象、危险近邻</a:t>
            </a:r>
            <a:endParaRPr sz="1170" b="0" spc="-1">
              <a:latin typeface="Arial"/>
              <a:ea typeface="Arial"/>
              <a:cs typeface="Arial"/>
            </a:endParaRPr>
          </a:p>
        </p:txBody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D6862114-ACEB-488A-A097-4B230619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840" y="7674480"/>
            <a:ext cx="313920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7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17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结构 </a:t>
            </a:r>
            <a:r>
              <a:rPr sz="117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OOD </a:t>
            </a:r>
            <a:r>
              <a:rPr sz="117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划分</a:t>
            </a:r>
            <a:endParaRPr sz="1170" b="0" spc="-1">
              <a:latin typeface="Arial"/>
              <a:ea typeface="Arial"/>
              <a:cs typeface="Arial"/>
            </a:endParaRPr>
          </a:p>
        </p:txBody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262C47CA-2124-4455-B478-E5AE378B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840" y="7865280"/>
            <a:ext cx="313920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7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17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指标体系（不能只看回答准确率）</a:t>
            </a:r>
            <a:endParaRPr sz="1170" b="0" spc="-1">
              <a:latin typeface="Arial"/>
              <a:ea typeface="Arial"/>
              <a:cs typeface="Arial"/>
            </a:endParaRPr>
          </a:p>
        </p:txBody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1639C246-EAFF-40BD-BC2F-64F521E9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2080" y="7171920"/>
            <a:ext cx="411840" cy="398160"/>
          </a:xfrm>
          <a:prstGeom xmlns:a="http://schemas.openxmlformats.org/drawingml/2006/main" prst="gear6">
            <a:avLst>
              <a:gd name="adj1" fmla="val 15000"/>
              <a:gd name="adj2" fmla="val 3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06D3CF59-FADB-4C63-99AD-85573590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6720" y="7302240"/>
            <a:ext cx="142920" cy="137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654D1F52-3E31-4668-BAF2-B1B83251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160" y="7458120"/>
            <a:ext cx="411840" cy="397800"/>
          </a:xfrm>
          <a:prstGeom xmlns:a="http://schemas.openxmlformats.org/drawingml/2006/main" prst="gear6">
            <a:avLst>
              <a:gd name="adj1" fmla="val 15000"/>
              <a:gd name="adj2" fmla="val 3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18621FD5-7BA9-4162-B828-15777A06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4440" y="7588080"/>
            <a:ext cx="142560" cy="137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09E5C302-528D-4A93-9C56-B944326A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1920" y="7015680"/>
            <a:ext cx="2691000" cy="302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440" tIns="0" rIns="2844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1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模型与实验</a:t>
            </a:r>
            <a:endParaRPr sz="1500" b="0" spc="-1">
              <a:latin typeface="Arial"/>
              <a:ea typeface="Arial"/>
              <a:cs typeface="Arial"/>
            </a:endParaRPr>
          </a:p>
        </p:txBody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B3CA0BD6-3F77-4A21-8EDF-07C16366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0920" y="7293240"/>
            <a:ext cx="318420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3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13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检索方法（</a:t>
            </a:r>
            <a:r>
              <a:rPr sz="113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BM25 / Dense / Registry / Metadata </a:t>
            </a:r>
            <a:r>
              <a:rPr sz="113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等）</a:t>
            </a:r>
            <a:endParaRPr sz="1130" b="0" spc="-1">
              <a:latin typeface="Arial"/>
              <a:ea typeface="Arial"/>
              <a:cs typeface="Arial"/>
            </a:endParaRPr>
          </a:p>
        </p:txBody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BFF9F7C0-A478-4D5C-B20C-AA35DC7A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0920" y="7484040"/>
            <a:ext cx="318420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3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13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学习式专家路由（由 </a:t>
            </a:r>
            <a:r>
              <a:rPr sz="113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Oracle Gap </a:t>
            </a:r>
            <a:r>
              <a:rPr sz="113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决定是否保留）</a:t>
            </a:r>
            <a:endParaRPr sz="1130" b="0" spc="-1">
              <a:latin typeface="Arial"/>
              <a:ea typeface="Arial"/>
              <a:cs typeface="Arial"/>
            </a:endParaRPr>
          </a:p>
        </p:txBody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95A78A11-D443-4049-BB6D-D6F7CD29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0920" y="7674480"/>
            <a:ext cx="318420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3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13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消融实验与基线对比</a:t>
            </a:r>
            <a:endParaRPr sz="1130" b="0" spc="-1">
              <a:latin typeface="Arial"/>
              <a:ea typeface="Arial"/>
              <a:cs typeface="Arial"/>
            </a:endParaRPr>
          </a:p>
        </p:txBody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A4D3C9C1-B076-48FF-BCDB-CCF4AB06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0920" y="7865280"/>
            <a:ext cx="3184200" cy="2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3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130" b="0" spc="-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结构泛化与风险控制评测</a:t>
            </a:r>
            <a:endParaRPr sz="1130" b="0" spc="-1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25964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EFE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4" name="Online frame">
            <a:extLst xmlns:a="http://schemas.openxmlformats.org/drawingml/2006/main">
              <a:ext uri="{FF2B5EF4-FFF2-40B4-BE49-F238E27FC236}">
                <a16:creationId xmlns:a16="http://schemas.microsoft.com/office/drawing/2014/main" id="{60DF7D32-A487-44AD-9E84-DC38FC7B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0" y="152640"/>
            <a:ext cx="16609320" cy="3836520"/>
          </a:xfrm>
          <a:prstGeom xmlns:a="http://schemas.openxmlformats.org/drawingml/2006/main" prst="roundRect">
            <a:avLst>
              <a:gd name="adj" fmla="val 4218"/>
            </a:avLst>
          </a:prstGeom>
          <a:noFill xmlns:a="http://schemas.openxmlformats.org/drawingml/2006/main"/>
          <a:ln xmlns:a="http://schemas.openxmlformats.org/drawingml/2006/main" w="12859">
            <a:solidFill>
              <a:srgbClr val="222222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32061348-9D81-4D19-8EE1-9480BB79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" y="295560"/>
            <a:ext cx="6665400" cy="369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40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Online Inference</a:t>
            </a:r>
            <a:endParaRPr sz="2400" b="0" spc="-1">
              <a:latin typeface="Arial"/>
              <a:ea typeface="Arial"/>
              <a:cs typeface="Arial"/>
            </a:endParaRPr>
          </a:p>
        </p:txBody>
      </p:sp>
      <p:sp>
        <p:nvSpPr>
          <p:cNvPr id="366" name="Offline frame">
            <a:extLst xmlns:a="http://schemas.openxmlformats.org/drawingml/2006/main">
              <a:ext uri="{FF2B5EF4-FFF2-40B4-BE49-F238E27FC236}">
                <a16:creationId xmlns:a16="http://schemas.microsoft.com/office/drawing/2014/main" id="{F2153ECF-1224-4916-8F8F-6EBCB5F0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0" y="4248360"/>
            <a:ext cx="16609320" cy="3131640"/>
          </a:xfrm>
          <a:prstGeom xmlns:a="http://schemas.openxmlformats.org/drawingml/2006/main" prst="roundRect">
            <a:avLst>
              <a:gd name="adj" fmla="val 5167"/>
            </a:avLst>
          </a:prstGeom>
          <a:noFill xmlns:a="http://schemas.openxmlformats.org/drawingml/2006/main"/>
          <a:ln xmlns:a="http://schemas.openxmlformats.org/drawingml/2006/main" w="12859">
            <a:solidFill>
              <a:srgbClr val="222222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46E99C4F-AD02-4AED-B37B-DD77F7FC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00" y="4362840"/>
            <a:ext cx="7236720" cy="40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40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Offline Data &amp; Training</a:t>
            </a:r>
            <a:endParaRPr sz="2400" b="0" spc="-1">
              <a:latin typeface="Arial"/>
              <a:ea typeface="Arial"/>
              <a:cs typeface="Arial"/>
            </a:endParaRPr>
          </a:p>
        </p:txBody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6731A0C0-479F-4FBE-B478-FA7CFADD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60" y="1467360"/>
            <a:ext cx="1445760" cy="1617120"/>
          </a:xfrm>
          <a:prstGeom xmlns:a="http://schemas.openxmlformats.org/drawingml/2006/main" prst="roundRect">
            <a:avLst>
              <a:gd name="adj" fmla="val 4605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85C303F7-DC42-4A77-8413-7C9FE7A5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80" y="1695960"/>
            <a:ext cx="1350360" cy="37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User Query</a:t>
            </a:r>
            <a:endParaRPr sz="1430" b="0" spc="-1">
              <a:latin typeface="Arial"/>
              <a:ea typeface="Arial"/>
              <a:cs typeface="Arial"/>
            </a:endParaRPr>
          </a:p>
        </p:txBody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CAC2ED13-787D-4938-8642-E7F8107A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360" y="2134080"/>
            <a:ext cx="1312200" cy="7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i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</a:t>
            </a:r>
            <a:endParaRPr sz="128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i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(natural</a:t>
            </a:r>
            <a:endParaRPr sz="128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i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language)</a:t>
            </a:r>
            <a:endParaRPr sz="1280" b="0" spc="-1">
              <a:latin typeface="Arial"/>
              <a:ea typeface="Arial"/>
              <a:cs typeface="Arial"/>
            </a:endParaRPr>
          </a:p>
        </p:txBody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14525784-F012-43C7-A14F-3B3243D7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1320" y="1467360"/>
            <a:ext cx="1588680" cy="1617120"/>
          </a:xfrm>
          <a:prstGeom xmlns:a="http://schemas.openxmlformats.org/drawingml/2006/main" prst="roundRect">
            <a:avLst>
              <a:gd name="adj" fmla="val 4192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20DDB14D-4ECB-4712-B70A-C961B0ED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840" y="1648080"/>
            <a:ext cx="1493280" cy="61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Entity &amp;</a:t>
            </a:r>
            <a:endParaRPr sz="135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Lexical Parsing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EB768A41-74BD-4C27-AE11-76C3399B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920" y="2295720"/>
            <a:ext cx="1455120" cy="52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i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entities, keywords,</a:t>
            </a:r>
            <a:endParaRPr sz="120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i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control context</a:t>
            </a:r>
            <a:endParaRPr sz="1200" b="0" spc="-1">
              <a:latin typeface="Arial"/>
              <a:ea typeface="Arial"/>
              <a:cs typeface="Arial"/>
            </a:endParaRPr>
          </a:p>
        </p:txBody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A212D788-1D29-4A32-A04E-63A6D794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4440" y="1467360"/>
            <a:ext cx="1493280" cy="1617120"/>
          </a:xfrm>
          <a:prstGeom xmlns:a="http://schemas.openxmlformats.org/drawingml/2006/main" prst="roundRect">
            <a:avLst>
              <a:gd name="adj" fmla="val 445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E76CE989-814B-426F-9B19-38AFD44B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1960" y="1724400"/>
            <a:ext cx="1397880" cy="37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Pre-Router</a:t>
            </a:r>
            <a:endParaRPr sz="1430" b="0" spc="-1">
              <a:latin typeface="Arial"/>
              <a:ea typeface="Arial"/>
              <a:cs typeface="Arial"/>
            </a:endParaRPr>
          </a:p>
        </p:txBody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79615675-8C93-4C46-ACAA-5CDDEA44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1040" y="2134080"/>
            <a:ext cx="1360080" cy="7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i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channel budget +</a:t>
            </a:r>
            <a:endParaRPr sz="128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i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initial weights</a:t>
            </a:r>
            <a:endParaRPr sz="128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i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 = f(q)</a:t>
            </a:r>
            <a:endParaRPr sz="1280" b="0" spc="-1">
              <a:latin typeface="Arial"/>
              <a:ea typeface="Arial"/>
              <a:cs typeface="Arial"/>
            </a:endParaRPr>
          </a:p>
        </p:txBody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B5A65C01-C4DA-48BA-91CA-926C3D42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9320" y="2276640"/>
            <a:ext cx="159840" cy="36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F761E897-3BA7-4309-ACE2-18490DC5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160" y="2276640"/>
            <a:ext cx="150120" cy="36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4FA368E6-2977-4584-B8B6-9FA715FE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760" y="581400"/>
            <a:ext cx="3341160" cy="3293640"/>
          </a:xfrm>
          <a:prstGeom xmlns:a="http://schemas.openxmlformats.org/drawingml/2006/main" prst="roundRect">
            <a:avLst>
              <a:gd name="adj" fmla="val 3757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222222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F0E88511-2700-4868-AF7B-C2B659D5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3240" y="609840"/>
            <a:ext cx="3341160" cy="28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8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Retriever Experts</a:t>
            </a:r>
            <a:endParaRPr sz="1580" b="0" spc="-1">
              <a:latin typeface="Arial"/>
              <a:ea typeface="Arial"/>
              <a:cs typeface="Arial"/>
            </a:endParaRPr>
          </a:p>
        </p:txBody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C7BE0967-F4B6-4543-8F3C-4E5E09C0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040" y="924120"/>
            <a:ext cx="2712600" cy="61704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F1788AA8-1917-413E-9F4D-A5A0A930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2920" y="943200"/>
            <a:ext cx="2617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BM25 Expert</a:t>
            </a:r>
            <a:endParaRPr sz="1430" b="0" spc="-1">
              <a:latin typeface="Arial"/>
              <a:ea typeface="Arial"/>
              <a:cs typeface="Arial"/>
            </a:endParaRPr>
          </a:p>
        </p:txBody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7183BD11-22AA-4450-8DFF-3F80A1F9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2000" y="1181520"/>
            <a:ext cx="2579040" cy="321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70" b="0" i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exact terms / abbreviations /</a:t>
            </a:r>
            <a:endParaRPr sz="117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70" b="0" i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PV fragments</a:t>
            </a:r>
            <a:endParaRPr sz="1170" b="0" spc="-1">
              <a:latin typeface="Arial"/>
              <a:ea typeface="Arial"/>
              <a:cs typeface="Arial"/>
            </a:endParaRPr>
          </a:p>
        </p:txBody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045B78E1-A9C8-4ACB-9497-A86BCC10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040" y="1629000"/>
            <a:ext cx="2712600" cy="61704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F947318B-88EB-40D3-8EFB-53BD6B75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2920" y="1648080"/>
            <a:ext cx="2617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Dense Expert</a:t>
            </a:r>
            <a:endParaRPr sz="1430" b="0" spc="-1">
              <a:latin typeface="Arial"/>
              <a:ea typeface="Arial"/>
              <a:cs typeface="Arial"/>
            </a:endParaRPr>
          </a:p>
        </p:txBody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D12FAF1A-E96C-46C9-A643-C8FD1370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2000" y="1886400"/>
            <a:ext cx="2579040" cy="321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70" b="0" i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semantic concepts /</a:t>
            </a:r>
            <a:endParaRPr sz="117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70" b="0" i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paraphrases</a:t>
            </a:r>
            <a:endParaRPr sz="1170" b="0" spc="-1">
              <a:latin typeface="Arial"/>
              <a:ea typeface="Arial"/>
              <a:cs typeface="Arial"/>
            </a:endParaRPr>
          </a:p>
        </p:txBody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43E991BB-C37D-4B28-B329-891E7B33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040" y="2343600"/>
            <a:ext cx="2712600" cy="64548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4A67E5F4-E1E3-4527-AC04-858FB9EF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2920" y="2362680"/>
            <a:ext cx="2617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PV / Registry Expert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F1AA6348-D39D-4D41-B267-757401AA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2000" y="2619720"/>
            <a:ext cx="2579040" cy="33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70" b="0" i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identifier grounding /</a:t>
            </a:r>
            <a:endParaRPr sz="117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70" b="0" i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validity lookup</a:t>
            </a:r>
            <a:endParaRPr sz="1170" b="0" spc="-1">
              <a:latin typeface="Arial"/>
              <a:ea typeface="Arial"/>
              <a:cs typeface="Arial"/>
            </a:endParaRPr>
          </a:p>
        </p:txBody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ED4D58BB-F9ED-4650-AFEB-6BE9D005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040" y="3076920"/>
            <a:ext cx="2712600" cy="6645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EAE9F46B-4933-4589-ADDB-D7F31980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2920" y="3096000"/>
            <a:ext cx="2617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Metadata Expert</a:t>
            </a:r>
            <a:endParaRPr sz="1430" b="0" spc="-1">
              <a:latin typeface="Arial"/>
              <a:ea typeface="Arial"/>
              <a:cs typeface="Arial"/>
            </a:endParaRPr>
          </a:p>
        </p:txBody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3072EB6E-A48F-47D8-A190-28490D27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2000" y="3353040"/>
            <a:ext cx="2579040" cy="35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70" b="0" i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subsystem / doc type /</a:t>
            </a:r>
            <a:endParaRPr sz="117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70" b="0" i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version filtering</a:t>
            </a:r>
            <a:endParaRPr sz="1170" b="0" spc="-1">
              <a:latin typeface="Arial"/>
              <a:ea typeface="Arial"/>
              <a:cs typeface="Arial"/>
            </a:endParaRPr>
          </a:p>
        </p:txBody>
      </p:sp>
      <p:cxnSp>
        <p:nvCxnSpPr>
          <p:cNvPr id="490" name=""/>
          <p:cNvCxnSpPr/>
          <p:nvPr/>
        </p:nvCxnSpPr>
        <p:spPr>
          <a:xfrm xmlns:a="http://schemas.openxmlformats.org/drawingml/2006/main" flipV="1">
            <a:off x="5159880" y="1231560"/>
            <a:ext cx="693000" cy="104076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cxnSp>
      <p:cxnSp>
        <p:nvCxnSpPr>
          <p:cNvPr id="491" name=""/>
          <p:cNvCxnSpPr/>
          <p:nvPr/>
        </p:nvCxnSpPr>
        <p:spPr>
          <a:xfrm xmlns:a="http://schemas.openxmlformats.org/drawingml/2006/main" flipV="1">
            <a:off x="5159880" y="1936440"/>
            <a:ext cx="693000" cy="33588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cxnSp>
      <p:cxnSp>
        <p:nvCxnSpPr>
          <p:cNvPr id="492" name=""/>
          <p:cNvCxnSpPr/>
          <p:nvPr/>
        </p:nvCxnSpPr>
        <p:spPr>
          <a:xfrm xmlns:a="http://schemas.openxmlformats.org/drawingml/2006/main">
            <a:off x="5159880" y="2276640"/>
            <a:ext cx="693000" cy="38844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cxnSp>
      <p:cxnSp>
        <p:nvCxnSpPr>
          <p:cNvPr id="493" name=""/>
          <p:cNvCxnSpPr/>
          <p:nvPr/>
        </p:nvCxnSpPr>
        <p:spPr>
          <a:xfrm xmlns:a="http://schemas.openxmlformats.org/drawingml/2006/main">
            <a:off x="5159880" y="2276640"/>
            <a:ext cx="693000" cy="113148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cxn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D9B6B189-F9A5-4C65-BC56-2F353F00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560" y="1467360"/>
            <a:ext cx="1397880" cy="161712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946FE60B-934D-4B95-9AFA-20A91AB4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6080" y="1752840"/>
            <a:ext cx="1302840" cy="56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Candidate</a:t>
            </a:r>
            <a:endParaRPr sz="135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Normalization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9DCADB9B-BF1F-4A2C-89A8-FF61F413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5160" y="2362680"/>
            <a:ext cx="1264680" cy="474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70" b="0" i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unify evidence units</a:t>
            </a:r>
            <a:endParaRPr sz="117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70" b="0" i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across metadata</a:t>
            </a:r>
            <a:endParaRPr sz="1170" b="0" spc="-1">
              <a:latin typeface="Arial"/>
              <a:ea typeface="Arial"/>
              <a:cs typeface="Arial"/>
            </a:endParaRPr>
          </a:p>
        </p:txBody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36420BF5-37C1-48F5-A4E1-EFBE7B11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6560" y="2229120"/>
            <a:ext cx="159840" cy="4536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F9076F6E-8394-4B29-A2AE-A9219A18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1800" y="1419480"/>
            <a:ext cx="1502640" cy="1760040"/>
          </a:xfrm>
          <a:prstGeom xmlns:a="http://schemas.openxmlformats.org/drawingml/2006/main" prst="roundRect">
            <a:avLst>
              <a:gd name="adj" fmla="val 4430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BE6A6DA3-C736-4FD8-8AB7-60FDE797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9680" y="1553040"/>
            <a:ext cx="1407600" cy="540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Control-object</a:t>
            </a:r>
            <a:endParaRPr sz="135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Risk Scorer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DDF7B7BF-715C-4B1F-B135-AD4AE04E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760" y="2105280"/>
            <a:ext cx="13694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70" b="0" i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Sᵣ(c | q)</a:t>
            </a:r>
            <a:endParaRPr sz="117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endParaRPr sz="180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70" b="0" i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area · subsystem</a:t>
            </a:r>
            <a:endParaRPr sz="117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70" b="0" i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device · signal</a:t>
            </a:r>
            <a:endParaRPr sz="117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70" b="0" i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qualifier · validity</a:t>
            </a:r>
            <a:endParaRPr sz="1170" b="0" spc="-1">
              <a:latin typeface="Arial"/>
              <a:ea typeface="Arial"/>
              <a:cs typeface="Arial"/>
            </a:endParaRPr>
          </a:p>
        </p:txBody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BB379179-FFA4-4E95-BC1A-23143536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8600" y="2276640"/>
            <a:ext cx="131040" cy="216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5AB65A01-DC43-4482-9E10-93E9356E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9880" y="1419480"/>
            <a:ext cx="1455120" cy="1760040"/>
          </a:xfrm>
          <a:prstGeom xmlns:a="http://schemas.openxmlformats.org/drawingml/2006/main" prst="roundRect">
            <a:avLst>
              <a:gd name="adj" fmla="val 4575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277E92F3-EE8E-46BF-A4DA-0EAF0C47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7400" y="1581480"/>
            <a:ext cx="1360080" cy="55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2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Risk-aware</a:t>
            </a:r>
            <a:endParaRPr sz="132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2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Fusion / Reranker</a:t>
            </a:r>
            <a:endParaRPr sz="1320" b="0" spc="-1">
              <a:latin typeface="Arial"/>
              <a:ea typeface="Arial"/>
              <a:cs typeface="Arial"/>
            </a:endParaRPr>
          </a:p>
        </p:txBody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F77759C7-B8B8-4955-A222-2F289A13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6480" y="2162520"/>
            <a:ext cx="1321920" cy="83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i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relevance +</a:t>
            </a:r>
            <a:endParaRPr sz="120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i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structure risk</a:t>
            </a:r>
            <a:endParaRPr sz="120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i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S(c | q, r)</a:t>
            </a:r>
            <a:endParaRPr sz="1200" b="0" spc="-1">
              <a:latin typeface="Arial"/>
              <a:ea typeface="Arial"/>
              <a:cs typeface="Arial"/>
            </a:endParaRPr>
          </a:p>
        </p:txBody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0D10B78C-E284-4C20-9C67-A93FEF22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6960" y="2300760"/>
            <a:ext cx="140760" cy="36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6E85590C-9E8A-41F7-8214-13543DA2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1000" y="1419480"/>
            <a:ext cx="1521720" cy="1760040"/>
          </a:xfrm>
          <a:prstGeom xmlns:a="http://schemas.openxmlformats.org/drawingml/2006/main" prst="roundRect">
            <a:avLst>
              <a:gd name="adj" fmla="val 4375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5D396145-E046-477F-8E54-E30456A9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8520" y="1609920"/>
            <a:ext cx="1426680" cy="52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Confidence /</a:t>
            </a:r>
            <a:endParaRPr sz="135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Abstention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C80193E0-B034-4679-8296-4E67FDEA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7600" y="2162520"/>
            <a:ext cx="1388520" cy="83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70" b="0" i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answer / ask for</a:t>
            </a:r>
            <a:endParaRPr sz="117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70" b="0" i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clarification / refuse</a:t>
            </a:r>
            <a:endParaRPr sz="117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70" b="0" i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p(a | q, c)</a:t>
            </a:r>
            <a:endParaRPr sz="1170" b="0" spc="-1">
              <a:latin typeface="Arial"/>
              <a:ea typeface="Arial"/>
              <a:cs typeface="Arial"/>
            </a:endParaRPr>
          </a:p>
        </p:txBody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383545A6-BA98-4E06-A58A-8D59E21A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7160" y="2300760"/>
            <a:ext cx="121680" cy="36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7C6620F5-27A3-43E9-8A6D-2EC1D022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9360" y="1419480"/>
            <a:ext cx="1188360" cy="176004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FE06B5C8-4946-4B47-9C11-E23C9008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6880" y="1762560"/>
            <a:ext cx="1093320" cy="5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Generated</a:t>
            </a:r>
            <a:endParaRPr sz="135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Answer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8F19456F-DD74-47AB-8BCD-3D393D4A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5960" y="2419560"/>
            <a:ext cx="1055160" cy="42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0" i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A6444787-3A71-4BEA-A202-098724F6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4880" y="2300760"/>
            <a:ext cx="112320" cy="36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6B3BB538-C8D1-478C-972D-3B058EBC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60" y="4886640"/>
            <a:ext cx="2979000" cy="2312280"/>
          </a:xfrm>
          <a:prstGeom xmlns:a="http://schemas.openxmlformats.org/drawingml/2006/main" prst="roundRect">
            <a:avLst>
              <a:gd name="adj" fmla="val 5350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222222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B96AA389-14B2-4901-8AFF-F3E72F03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200" y="4915080"/>
            <a:ext cx="1807560" cy="28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Data Sources</a:t>
            </a:r>
            <a:endParaRPr sz="1500" b="0" spc="-1">
              <a:latin typeface="Arial"/>
              <a:ea typeface="Arial"/>
              <a:cs typeface="Arial"/>
            </a:endParaRPr>
          </a:p>
        </p:txBody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064F72EC-C744-4EDE-98FA-D76B7CE6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40" y="5239080"/>
            <a:ext cx="2474280" cy="86472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4210E3F5-3AC2-4EF6-AFC7-5175DFEB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560" y="5286600"/>
            <a:ext cx="2379240" cy="483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Accelerator</a:t>
            </a:r>
            <a:endParaRPr sz="135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Documentation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D9B8AC9D-0293-42A6-BC33-F1BEF926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640" y="5762880"/>
            <a:ext cx="2341080" cy="302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90" b="0" i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manuals / reports /</a:t>
            </a:r>
            <a:endParaRPr sz="109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90" b="0" i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procedures</a:t>
            </a:r>
            <a:endParaRPr sz="1090" b="0" spc="-1">
              <a:latin typeface="Arial"/>
              <a:ea typeface="Arial"/>
              <a:cs typeface="Arial"/>
            </a:endParaRPr>
          </a:p>
        </p:txBody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86DECB2C-1386-445A-A85B-E63D35FD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40" y="6181920"/>
            <a:ext cx="2474280" cy="87408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441F025B-5E6E-4A0E-901E-E4B86728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560" y="6229800"/>
            <a:ext cx="2379240" cy="49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2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EPICS Registry /</a:t>
            </a:r>
            <a:endParaRPr sz="132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2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IOC-PV Metadata</a:t>
            </a:r>
            <a:endParaRPr sz="1320" b="0" spc="-1">
              <a:latin typeface="Arial"/>
              <a:ea typeface="Arial"/>
              <a:cs typeface="Arial"/>
            </a:endParaRPr>
          </a:p>
        </p:txBody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10E38FB8-9F16-49DE-B755-B81F7636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640" y="6715440"/>
            <a:ext cx="2341080" cy="31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90" b="0" i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PV / IOC / area / subsystem /</a:t>
            </a:r>
            <a:endParaRPr sz="109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90" b="0" i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device / signal</a:t>
            </a:r>
            <a:endParaRPr sz="1090" b="0" spc="-1">
              <a:latin typeface="Arial"/>
              <a:ea typeface="Arial"/>
              <a:cs typeface="Arial"/>
            </a:endParaRPr>
          </a:p>
        </p:txBody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44C7B2A5-BADA-4219-BCA2-CDDBB1D6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0600" y="5610600"/>
            <a:ext cx="1512360" cy="87408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B61ACBD3-EA7C-4641-A0C8-A413D7D8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120" y="5715360"/>
            <a:ext cx="1416960" cy="64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Indexer /</a:t>
            </a:r>
            <a:endParaRPr sz="135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Normalizer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cxnSp>
        <p:nvCxnSpPr>
          <p:cNvPr id="524" name=""/>
          <p:cNvCxnSpPr/>
          <p:nvPr/>
        </p:nvCxnSpPr>
        <p:spPr>
          <a:xfrm xmlns:a="http://schemas.openxmlformats.org/drawingml/2006/main">
            <a:off x="2940480" y="5672520"/>
            <a:ext cx="597960" cy="37404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cxnSp>
      <p:cxnSp>
        <p:nvCxnSpPr>
          <p:cNvPr id="525" name=""/>
          <p:cNvCxnSpPr/>
          <p:nvPr/>
        </p:nvCxnSpPr>
        <p:spPr>
          <a:xfrm xmlns:a="http://schemas.openxmlformats.org/drawingml/2006/main" flipV="1">
            <a:off x="2940480" y="6046560"/>
            <a:ext cx="597960" cy="56952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cxn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C87C1ECD-803F-4C42-98A8-6897D7BD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3720" y="4877280"/>
            <a:ext cx="3198240" cy="2150640"/>
          </a:xfrm>
          <a:prstGeom xmlns:a="http://schemas.openxmlformats.org/drawingml/2006/main" prst="roundRect">
            <a:avLst>
              <a:gd name="adj" fmla="val 5752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222222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B07AE8F1-FAD0-4DD7-B70B-5AE0D425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3720" y="4905720"/>
            <a:ext cx="3198240" cy="28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0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Multi-source Indexes</a:t>
            </a:r>
            <a:endParaRPr sz="1500" b="0" spc="-1">
              <a:latin typeface="Arial"/>
              <a:ea typeface="Arial"/>
              <a:cs typeface="Arial"/>
            </a:endParaRPr>
          </a:p>
        </p:txBody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672DA301-C384-455A-94D6-C22DA1A8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3680" y="5258160"/>
            <a:ext cx="2588760" cy="35028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3272CFFB-5212-4280-BB1C-C9D0F720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200" y="5277240"/>
            <a:ext cx="2493360" cy="29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4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BM25 Index</a:t>
            </a:r>
            <a:endParaRPr sz="1240" b="0" spc="-1">
              <a:latin typeface="Arial"/>
              <a:ea typeface="Arial"/>
              <a:cs typeface="Arial"/>
            </a:endParaRPr>
          </a:p>
        </p:txBody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6E7CC194-DA34-4670-8A13-AA7189E5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3680" y="5677200"/>
            <a:ext cx="2588760" cy="35028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C7F81B23-3EA1-485F-B424-192187CB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200" y="5696280"/>
            <a:ext cx="2493360" cy="29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4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Dense Vector Store</a:t>
            </a:r>
            <a:endParaRPr sz="1240" b="0" spc="-1">
              <a:latin typeface="Arial"/>
              <a:ea typeface="Arial"/>
              <a:cs typeface="Arial"/>
            </a:endParaRPr>
          </a:p>
        </p:txBody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42788C78-5352-4F79-AF85-0AA5A914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3680" y="6105960"/>
            <a:ext cx="2588760" cy="35028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888A7C3C-CB1E-4ACD-B352-BCDE56DF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200" y="6125040"/>
            <a:ext cx="2493360" cy="29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4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Registry Store</a:t>
            </a:r>
            <a:endParaRPr sz="1240" b="0" spc="-1">
              <a:latin typeface="Arial"/>
              <a:ea typeface="Arial"/>
              <a:cs typeface="Arial"/>
            </a:endParaRPr>
          </a:p>
        </p:txBody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9DC08E76-A561-443D-A9A3-DCDD88DC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3680" y="6525000"/>
            <a:ext cx="2588760" cy="35028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F2384EE3-A804-49B8-B9D5-52CEDEE9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200" y="6544080"/>
            <a:ext cx="2493360" cy="29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4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Metadata Store</a:t>
            </a:r>
            <a:endParaRPr sz="1240" b="0" spc="-1">
              <a:latin typeface="Arial"/>
              <a:ea typeface="Arial"/>
              <a:cs typeface="Arial"/>
            </a:endParaRPr>
          </a:p>
        </p:txBody>
      </p:sp>
      <p:cxnSp>
        <p:nvCxnSpPr>
          <p:cNvPr id="536" name=""/>
          <p:cNvCxnSpPr/>
          <p:nvPr/>
        </p:nvCxnSpPr>
        <p:spPr>
          <a:xfrm xmlns:a="http://schemas.openxmlformats.org/drawingml/2006/main" flipV="1">
            <a:off x="5055120" y="5432040"/>
            <a:ext cx="626400" cy="61236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cxnSp>
      <p:cxnSp>
        <p:nvCxnSpPr>
          <p:cNvPr id="537" name=""/>
          <p:cNvCxnSpPr/>
          <p:nvPr/>
        </p:nvCxnSpPr>
        <p:spPr>
          <a:xfrm xmlns:a="http://schemas.openxmlformats.org/drawingml/2006/main" flipV="1">
            <a:off x="5055120" y="5851440"/>
            <a:ext cx="626400" cy="19296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cxnSp>
      <p:cxnSp>
        <p:nvCxnSpPr>
          <p:cNvPr id="538" name=""/>
          <p:cNvCxnSpPr/>
          <p:nvPr/>
        </p:nvCxnSpPr>
        <p:spPr>
          <a:xfrm xmlns:a="http://schemas.openxmlformats.org/drawingml/2006/main">
            <a:off x="5055120" y="6048720"/>
            <a:ext cx="626400" cy="23112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cxnSp>
      <p:cxnSp>
        <p:nvCxnSpPr>
          <p:cNvPr id="539" name=""/>
          <p:cNvCxnSpPr/>
          <p:nvPr/>
        </p:nvCxnSpPr>
        <p:spPr>
          <a:xfrm xmlns:a="http://schemas.openxmlformats.org/drawingml/2006/main">
            <a:off x="5055120" y="6048720"/>
            <a:ext cx="626400" cy="65016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cxn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E26F4695-5421-40A3-8995-5DD84A1A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0240" y="4877280"/>
            <a:ext cx="7760880" cy="2179080"/>
          </a:xfrm>
          <a:prstGeom xmlns:a="http://schemas.openxmlformats.org/drawingml/2006/main" prst="roundRect">
            <a:avLst>
              <a:gd name="adj" fmla="val 5677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222222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E03ED67B-17B2-41E7-B0E7-E12BCBB1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0680" y="4905720"/>
            <a:ext cx="2664720" cy="28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Training &amp; Benchmark</a:t>
            </a:r>
            <a:endParaRPr sz="1500" b="0" spc="-1">
              <a:latin typeface="Arial"/>
              <a:ea typeface="Arial"/>
              <a:cs typeface="Arial"/>
            </a:endParaRPr>
          </a:p>
        </p:txBody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6B822384-CA31-4343-B3BD-A6C4E197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4080" y="5420160"/>
            <a:ext cx="2683800" cy="1169280"/>
          </a:xfrm>
          <a:prstGeom xmlns:a="http://schemas.openxmlformats.org/drawingml/2006/main" prst="roundRect">
            <a:avLst>
              <a:gd name="adj" fmla="val 5691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F0DD3E8F-DD7D-477E-8452-F1239460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1600" y="5600880"/>
            <a:ext cx="2588760" cy="759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2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Structure-preserving</a:t>
            </a:r>
            <a:endParaRPr sz="132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2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Counterfactual Negatives</a:t>
            </a:r>
            <a:endParaRPr sz="1320" b="0" spc="-1">
              <a:latin typeface="Arial"/>
              <a:ea typeface="Arial"/>
              <a:cs typeface="Arial"/>
            </a:endParaRPr>
          </a:p>
        </p:txBody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98AC97B9-D1E5-46A7-9D96-FED6233F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3600" y="5429520"/>
            <a:ext cx="2188440" cy="114084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998458F1-A52D-4AAE-B8BC-BEEA9C6A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1120" y="5610600"/>
            <a:ext cx="2093400" cy="512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Risk-labeled</a:t>
            </a:r>
            <a:endParaRPr sz="135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Benchmark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EAB9B666-5CCF-4EE0-8235-AD116A8E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0200" y="6144120"/>
            <a:ext cx="2055240" cy="29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70" b="0" i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relevance + structure risk</a:t>
            </a:r>
            <a:endParaRPr sz="1170" b="0" spc="-1">
              <a:latin typeface="Arial"/>
              <a:ea typeface="Arial"/>
              <a:cs typeface="Arial"/>
            </a:endParaRPr>
          </a:p>
        </p:txBody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6ECF10FF-1682-4F9F-93A7-D00EBC0D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0040" y="5420160"/>
            <a:ext cx="2236320" cy="1159920"/>
          </a:xfrm>
          <a:prstGeom xmlns:a="http://schemas.openxmlformats.org/drawingml/2006/main" prst="roundRect">
            <a:avLst>
              <a:gd name="adj" fmla="val 5738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540C6A09-F789-479B-A0A5-ED703625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7560" y="5544000"/>
            <a:ext cx="214092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Structure-OOD</a:t>
            </a:r>
            <a:endParaRPr sz="135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Splits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3B9A52D3-8F0B-4F7F-8063-A36E328D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6640" y="6115320"/>
            <a:ext cx="2102760" cy="35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i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generalize beyond</a:t>
            </a:r>
            <a:endParaRPr sz="113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i="1" spc="-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seen layouts</a:t>
            </a:r>
            <a:endParaRPr sz="1130" b="0" spc="-1">
              <a:latin typeface="Arial"/>
              <a:ea typeface="Arial"/>
              <a:cs typeface="Arial"/>
            </a:endParaRPr>
          </a:p>
        </p:txBody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027313B6-5063-4900-B033-A9B93FE9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570040" y="5999040"/>
            <a:ext cx="131040" cy="252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6CEA3764-2CCA-415F-9A38-899946D5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4200" y="6001200"/>
            <a:ext cx="283680" cy="36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14A9F6BC-F34D-44C9-8A81-50823FB0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80" y="4877280"/>
            <a:ext cx="26280" cy="26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61410493-7A8B-4D5A-BF00-1573DDD4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58680" y="3742200"/>
            <a:ext cx="360" cy="115992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  <a:prstDash val="dash"/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D83AC5AC-7703-4C48-9D2C-C1A40EA1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5760" y="4877280"/>
            <a:ext cx="26280" cy="26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7E0662F4-6ED7-48AF-8BAE-BEAA237D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358720" y="3179520"/>
            <a:ext cx="360" cy="169488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  <a:prstDash val="dash"/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54264FC6-3FA6-4E3F-B462-CC9F7F92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4760" y="4877280"/>
            <a:ext cx="26280" cy="26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9564EEDE-EA43-4FDA-99A9-A6C21B97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2906000" y="3179520"/>
            <a:ext cx="3600" cy="169344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  <a:prstDash val="dash"/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</p:spTree>
    <p:extLst>
      <p:ext uri="{BB962C8B-B14F-4D97-AF65-F5344CB8AC3E}">
        <p14:creationId xmlns:p14="http://schemas.microsoft.com/office/powerpoint/2010/main" val="10182810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EFE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1" name="在线框架">
            <a:extLst xmlns:a="http://schemas.openxmlformats.org/drawingml/2006/main">
              <a:ext uri="{FF2B5EF4-FFF2-40B4-BE49-F238E27FC236}">
                <a16:creationId xmlns:a16="http://schemas.microsoft.com/office/drawing/2014/main" id="{5E11D27F-B65D-4A0E-83CA-863B3355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20" y="628560"/>
            <a:ext cx="16609320" cy="3836520"/>
          </a:xfrm>
          <a:prstGeom xmlns:a="http://schemas.openxmlformats.org/drawingml/2006/main" prst="roundRect">
            <a:avLst>
              <a:gd name="adj" fmla="val 4218"/>
            </a:avLst>
          </a:prstGeom>
          <a:noFill xmlns:a="http://schemas.openxmlformats.org/drawingml/2006/main"/>
          <a:ln xmlns:a="http://schemas.openxmlformats.org/drawingml/2006/main" w="12859">
            <a:solidFill>
              <a:srgbClr val="222222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DD199C60-0E43-4553-B784-8531A9A2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40" y="771480"/>
            <a:ext cx="6665400" cy="369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40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在线推理</a:t>
            </a:r>
            <a:endParaRPr sz="2400" b="0" spc="-1">
              <a:latin typeface="Arial"/>
              <a:ea typeface="Arial"/>
              <a:cs typeface="Arial"/>
            </a:endParaRPr>
          </a:p>
        </p:txBody>
      </p:sp>
      <p:sp>
        <p:nvSpPr>
          <p:cNvPr id="463" name="离线框架">
            <a:extLst xmlns:a="http://schemas.openxmlformats.org/drawingml/2006/main">
              <a:ext uri="{FF2B5EF4-FFF2-40B4-BE49-F238E27FC236}">
                <a16:creationId xmlns:a16="http://schemas.microsoft.com/office/drawing/2014/main" id="{AB2E2D63-B9D5-4E22-A03B-BD8C6ADF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20" y="4724280"/>
            <a:ext cx="16609320" cy="3131640"/>
          </a:xfrm>
          <a:prstGeom xmlns:a="http://schemas.openxmlformats.org/drawingml/2006/main" prst="roundRect">
            <a:avLst>
              <a:gd name="adj" fmla="val 5167"/>
            </a:avLst>
          </a:prstGeom>
          <a:noFill xmlns:a="http://schemas.openxmlformats.org/drawingml/2006/main"/>
          <a:ln xmlns:a="http://schemas.openxmlformats.org/drawingml/2006/main" w="12859">
            <a:solidFill>
              <a:srgbClr val="222222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4B3E546D-5CA0-424D-8197-B1FAC51C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40" y="4838760"/>
            <a:ext cx="7236720" cy="40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40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离线数据与训练</a:t>
            </a:r>
            <a:endParaRPr sz="2400" b="0" spc="-1">
              <a:latin typeface="Arial"/>
              <a:ea typeface="Arial"/>
              <a:cs typeface="Arial"/>
            </a:endParaRPr>
          </a:p>
        </p:txBody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2D9FE55C-CC04-4E9D-8BD8-8B1FFCDF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0" y="1943280"/>
            <a:ext cx="1445760" cy="1617120"/>
          </a:xfrm>
          <a:prstGeom xmlns:a="http://schemas.openxmlformats.org/drawingml/2006/main" prst="roundRect">
            <a:avLst>
              <a:gd name="adj" fmla="val 4605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C41F07F8-3131-4448-83E4-98FE92D6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520" y="2171880"/>
            <a:ext cx="1350360" cy="37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用户查询</a:t>
            </a:r>
            <a:endParaRPr sz="1430" b="0" spc="-1">
              <a:latin typeface="Arial"/>
              <a:ea typeface="Arial"/>
              <a:cs typeface="Arial"/>
            </a:endParaRPr>
          </a:p>
        </p:txBody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002BAF51-06EC-4BB0-B011-A381FF1C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00" y="2610000"/>
            <a:ext cx="1312200" cy="75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q</a:t>
            </a:r>
            <a:endParaRPr sz="128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（自然语言）</a:t>
            </a:r>
            <a:endParaRPr sz="1280" b="0" spc="-1">
              <a:latin typeface="Arial"/>
              <a:ea typeface="Arial"/>
              <a:cs typeface="Arial"/>
            </a:endParaRPr>
          </a:p>
        </p:txBody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38302B69-7AE0-4FEF-8460-1199BBC4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60" y="1943280"/>
            <a:ext cx="1588680" cy="1617120"/>
          </a:xfrm>
          <a:prstGeom xmlns:a="http://schemas.openxmlformats.org/drawingml/2006/main" prst="roundRect">
            <a:avLst>
              <a:gd name="adj" fmla="val 4192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8055A3FF-E153-4DCA-B72D-3D00E12D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080" y="2124000"/>
            <a:ext cx="1493280" cy="61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实体与</a:t>
            </a:r>
            <a:endParaRPr sz="135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词法解析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6802853E-2AEB-4D1F-9BEB-47462FA1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160" y="2771640"/>
            <a:ext cx="1455120" cy="52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实体、关键词、</a:t>
            </a:r>
            <a:endParaRPr sz="120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控制上下文</a:t>
            </a:r>
            <a:endParaRPr sz="1200" b="0" spc="-1">
              <a:latin typeface="Arial"/>
              <a:ea typeface="Arial"/>
              <a:cs typeface="Arial"/>
            </a:endParaRPr>
          </a:p>
        </p:txBody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C3714FC1-893D-46D3-BC32-35149168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80" y="1943280"/>
            <a:ext cx="1493280" cy="1617120"/>
          </a:xfrm>
          <a:prstGeom xmlns:a="http://schemas.openxmlformats.org/drawingml/2006/main" prst="roundRect">
            <a:avLst>
              <a:gd name="adj" fmla="val 445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8E089826-4505-453A-B2EB-035A241F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00" y="2200320"/>
            <a:ext cx="1397880" cy="37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检索前路由器</a:t>
            </a:r>
            <a:endParaRPr sz="1430" b="0" spc="-1">
              <a:latin typeface="Arial"/>
              <a:ea typeface="Arial"/>
              <a:cs typeface="Arial"/>
            </a:endParaRPr>
          </a:p>
        </p:txBody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388D64E0-FC7C-4E82-9711-964C5FBB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280" y="2610000"/>
            <a:ext cx="1360080" cy="7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通道预算 </a:t>
            </a:r>
            <a:r>
              <a:rPr sz="128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+</a:t>
            </a:r>
            <a:endParaRPr sz="128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初始权重</a:t>
            </a:r>
            <a:endParaRPr sz="128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w = f(q)</a:t>
            </a:r>
            <a:endParaRPr sz="1280" b="0" spc="-1">
              <a:latin typeface="Arial"/>
              <a:ea typeface="Arial"/>
              <a:cs typeface="Arial"/>
            </a:endParaRPr>
          </a:p>
        </p:txBody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1F11796B-FF55-47FC-90C6-DCD87443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560" y="2752560"/>
            <a:ext cx="159840" cy="36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02A99DEF-2616-448E-8126-E2E354C1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400" y="2752560"/>
            <a:ext cx="150120" cy="36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30F8F5D4-9330-4229-8D05-EE107522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0" y="1057320"/>
            <a:ext cx="3341160" cy="3293640"/>
          </a:xfrm>
          <a:prstGeom xmlns:a="http://schemas.openxmlformats.org/drawingml/2006/main" prst="roundRect">
            <a:avLst>
              <a:gd name="adj" fmla="val 3757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222222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0B788FA0-05F9-4C72-9219-F3F7BC80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80" y="1085760"/>
            <a:ext cx="3341160" cy="28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8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检索器专家</a:t>
            </a:r>
            <a:endParaRPr sz="1580" b="0" spc="-1">
              <a:latin typeface="Arial"/>
              <a:ea typeface="Arial"/>
              <a:cs typeface="Arial"/>
            </a:endParaRPr>
          </a:p>
        </p:txBody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496F23EE-FB37-4AF6-B3DD-527E2DB3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280" y="1400040"/>
            <a:ext cx="2712600" cy="61704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C1B31B29-2AAF-47C5-A72C-B358D144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160" y="1419120"/>
            <a:ext cx="2617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BM25 </a:t>
            </a:r>
            <a:r>
              <a:rPr sz="143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专家</a:t>
            </a:r>
            <a:endParaRPr sz="1430" b="0" spc="-1">
              <a:latin typeface="Arial"/>
              <a:ea typeface="Arial"/>
              <a:cs typeface="Arial"/>
            </a:endParaRPr>
          </a:p>
        </p:txBody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C42C0E77-B983-450F-B16C-FA0D98A1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240" y="1657440"/>
            <a:ext cx="2579040" cy="321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7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精确术语 </a:t>
            </a:r>
            <a:r>
              <a:rPr sz="117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/ </a:t>
            </a:r>
            <a:r>
              <a:rPr sz="117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缩写 </a:t>
            </a:r>
            <a:r>
              <a:rPr sz="117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/</a:t>
            </a:r>
            <a:endParaRPr sz="117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7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PV </a:t>
            </a:r>
            <a:r>
              <a:rPr sz="117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片段</a:t>
            </a:r>
            <a:endParaRPr sz="1170" b="0" spc="-1">
              <a:latin typeface="Arial"/>
              <a:ea typeface="Arial"/>
              <a:cs typeface="Arial"/>
            </a:endParaRPr>
          </a:p>
        </p:txBody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079A93F6-C05D-4B83-991B-636598E4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280" y="2104920"/>
            <a:ext cx="2712600" cy="61704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40CB1323-7337-4886-99C5-B390513B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160" y="2124000"/>
            <a:ext cx="2617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稠密检索专家</a:t>
            </a:r>
            <a:endParaRPr sz="1430" b="0" spc="-1">
              <a:latin typeface="Arial"/>
              <a:ea typeface="Arial"/>
              <a:cs typeface="Arial"/>
            </a:endParaRPr>
          </a:p>
        </p:txBody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AA0645C5-8DDD-46C1-AFAA-534AB599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240" y="2362320"/>
            <a:ext cx="2579040" cy="321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7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语义概念 </a:t>
            </a:r>
            <a:r>
              <a:rPr sz="117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/</a:t>
            </a:r>
            <a:endParaRPr sz="117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7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同义改写</a:t>
            </a:r>
            <a:endParaRPr sz="1170" b="0" spc="-1">
              <a:latin typeface="Arial"/>
              <a:ea typeface="Arial"/>
              <a:cs typeface="Arial"/>
            </a:endParaRPr>
          </a:p>
        </p:txBody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45C0853D-CD34-4D16-939D-0A9AC365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280" y="2819520"/>
            <a:ext cx="2712600" cy="64548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66544A8D-FE46-4167-AD10-14D3C7FA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160" y="2838600"/>
            <a:ext cx="2617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PV / </a:t>
            </a:r>
            <a:r>
              <a:rPr sz="135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注册表专家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30CD7197-EF6C-4C1E-ADA0-1A7FACF0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240" y="3095640"/>
            <a:ext cx="2579040" cy="33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7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标识符定位 </a:t>
            </a:r>
            <a:r>
              <a:rPr sz="117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/</a:t>
            </a:r>
            <a:endParaRPr sz="117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7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有效性校验</a:t>
            </a:r>
            <a:endParaRPr sz="1170" b="0" spc="-1">
              <a:latin typeface="Arial"/>
              <a:ea typeface="Arial"/>
              <a:cs typeface="Arial"/>
            </a:endParaRPr>
          </a:p>
        </p:txBody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6F992F2E-423C-46E2-B0BE-14EE1681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280" y="3552840"/>
            <a:ext cx="2712600" cy="6645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A634F13D-046F-40F3-814B-60D6D32F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160" y="3571920"/>
            <a:ext cx="2617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元数据专家</a:t>
            </a:r>
            <a:endParaRPr sz="1430" b="0" spc="-1">
              <a:latin typeface="Arial"/>
              <a:ea typeface="Arial"/>
              <a:cs typeface="Arial"/>
            </a:endParaRPr>
          </a:p>
        </p:txBody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8A378E76-E453-483C-9886-E864A3EA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240" y="3828960"/>
            <a:ext cx="2579040" cy="35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7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子系统 </a:t>
            </a:r>
            <a:r>
              <a:rPr sz="117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/ </a:t>
            </a:r>
            <a:r>
              <a:rPr sz="117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文档类型 </a:t>
            </a:r>
            <a:r>
              <a:rPr sz="117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/</a:t>
            </a:r>
            <a:endParaRPr sz="117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7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版本过滤</a:t>
            </a:r>
            <a:endParaRPr sz="1170" b="0" spc="-1">
              <a:latin typeface="Arial"/>
              <a:ea typeface="Arial"/>
              <a:cs typeface="Arial"/>
            </a:endParaRPr>
          </a:p>
        </p:txBody>
      </p:sp>
      <p:cxnSp>
        <p:nvCxnSpPr>
          <p:cNvPr id="587" name=""/>
          <p:cNvCxnSpPr/>
          <p:nvPr/>
        </p:nvCxnSpPr>
        <p:spPr>
          <a:xfrm xmlns:a="http://schemas.openxmlformats.org/drawingml/2006/main" flipV="1">
            <a:off x="5172120" y="1707480"/>
            <a:ext cx="693000" cy="104076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cxnSp>
      <p:cxnSp>
        <p:nvCxnSpPr>
          <p:cNvPr id="588" name=""/>
          <p:cNvCxnSpPr/>
          <p:nvPr/>
        </p:nvCxnSpPr>
        <p:spPr>
          <a:xfrm xmlns:a="http://schemas.openxmlformats.org/drawingml/2006/main" flipV="1">
            <a:off x="5172120" y="2412360"/>
            <a:ext cx="693000" cy="33588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cxnSp>
      <p:cxnSp>
        <p:nvCxnSpPr>
          <p:cNvPr id="589" name=""/>
          <p:cNvCxnSpPr/>
          <p:nvPr/>
        </p:nvCxnSpPr>
        <p:spPr>
          <a:xfrm xmlns:a="http://schemas.openxmlformats.org/drawingml/2006/main">
            <a:off x="5172120" y="2752560"/>
            <a:ext cx="693000" cy="38844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cxnSp>
      <p:cxnSp>
        <p:nvCxnSpPr>
          <p:cNvPr id="590" name=""/>
          <p:cNvCxnSpPr/>
          <p:nvPr/>
        </p:nvCxnSpPr>
        <p:spPr>
          <a:xfrm xmlns:a="http://schemas.openxmlformats.org/drawingml/2006/main">
            <a:off x="5172120" y="2752560"/>
            <a:ext cx="693000" cy="113148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cxn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087575C5-7FC7-4DB0-B0B9-67B5361C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800" y="1943280"/>
            <a:ext cx="1397880" cy="161712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9B62BF29-5A12-4B53-95A9-DC17F3C3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320" y="2228760"/>
            <a:ext cx="1302840" cy="56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候选</a:t>
            </a:r>
            <a:endParaRPr sz="135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归一化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AAEAB3B8-E2FA-4C9D-9D1A-AC103AD2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400" y="2838600"/>
            <a:ext cx="1264680" cy="474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7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统一不同元数据中的</a:t>
            </a:r>
            <a:endParaRPr sz="117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7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证据单元</a:t>
            </a:r>
            <a:endParaRPr sz="1170" b="0" spc="-1">
              <a:latin typeface="Arial"/>
              <a:ea typeface="Arial"/>
              <a:cs typeface="Arial"/>
            </a:endParaRPr>
          </a:p>
        </p:txBody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DB787740-21DC-40E3-AC74-7B6AD5E6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800" y="2705040"/>
            <a:ext cx="159840" cy="4536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3CF6504F-AB46-478A-97CF-D150AE13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040" y="1895400"/>
            <a:ext cx="1502640" cy="1760040"/>
          </a:xfrm>
          <a:prstGeom xmlns:a="http://schemas.openxmlformats.org/drawingml/2006/main" prst="roundRect">
            <a:avLst>
              <a:gd name="adj" fmla="val 4430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C10E61B8-2745-4379-8DE4-D91B7F8C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920" y="2028960"/>
            <a:ext cx="1407600" cy="540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控制对象</a:t>
            </a:r>
            <a:endParaRPr sz="135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风险评分器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720182BC-2CD4-430A-8934-DA4C8C12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1000" y="2581200"/>
            <a:ext cx="13694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7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Sᵣ(c | q)</a:t>
            </a:r>
            <a:endParaRPr sz="117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endParaRPr sz="180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7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区域 </a:t>
            </a:r>
            <a:r>
              <a:rPr sz="117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· </a:t>
            </a:r>
            <a:r>
              <a:rPr sz="117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子系统</a:t>
            </a:r>
            <a:endParaRPr sz="117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7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设备 </a:t>
            </a:r>
            <a:r>
              <a:rPr sz="117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· </a:t>
            </a:r>
            <a:r>
              <a:rPr sz="117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信号</a:t>
            </a:r>
            <a:endParaRPr sz="117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7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限定符 </a:t>
            </a:r>
            <a:r>
              <a:rPr sz="117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· </a:t>
            </a:r>
            <a:r>
              <a:rPr sz="117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有效性</a:t>
            </a:r>
            <a:endParaRPr sz="1170" b="0" spc="-1">
              <a:latin typeface="Arial"/>
              <a:ea typeface="Arial"/>
              <a:cs typeface="Arial"/>
            </a:endParaRPr>
          </a:p>
        </p:txBody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7173BB34-9A06-4310-89BA-70044864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40" y="2752560"/>
            <a:ext cx="131040" cy="2160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09A97F01-EEA5-4309-B8D7-4F92EEE7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120" y="1895400"/>
            <a:ext cx="1455120" cy="1760040"/>
          </a:xfrm>
          <a:prstGeom xmlns:a="http://schemas.openxmlformats.org/drawingml/2006/main" prst="roundRect">
            <a:avLst>
              <a:gd name="adj" fmla="val 4575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64D5BEF1-7492-4A22-93C1-6AE94BA4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40" y="2057400"/>
            <a:ext cx="1360080" cy="55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2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风险感知</a:t>
            </a:r>
            <a:endParaRPr sz="132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2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融合 </a:t>
            </a:r>
            <a:r>
              <a:rPr sz="132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/ </a:t>
            </a:r>
            <a:r>
              <a:rPr sz="132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重排序</a:t>
            </a:r>
            <a:endParaRPr sz="1320" b="0" spc="-1">
              <a:latin typeface="Arial"/>
              <a:ea typeface="Arial"/>
              <a:cs typeface="Arial"/>
            </a:endParaRPr>
          </a:p>
        </p:txBody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278EACCA-9A3C-4963-AFAE-9464F33F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720" y="2638440"/>
            <a:ext cx="1321920" cy="83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相关性 </a:t>
            </a:r>
            <a:r>
              <a:rPr sz="120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+</a:t>
            </a:r>
            <a:endParaRPr sz="120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结构风险</a:t>
            </a:r>
            <a:endParaRPr sz="120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S(c | q, r)</a:t>
            </a:r>
            <a:endParaRPr sz="1200" b="0" spc="-1">
              <a:latin typeface="Arial"/>
              <a:ea typeface="Arial"/>
              <a:cs typeface="Arial"/>
            </a:endParaRPr>
          </a:p>
        </p:txBody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2A0E7374-216C-4634-B8D4-472C5CC2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200" y="2776680"/>
            <a:ext cx="140760" cy="36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9FD8F441-8F7C-4DDF-B511-AD14B64E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240" y="1895400"/>
            <a:ext cx="1521720" cy="1760040"/>
          </a:xfrm>
          <a:prstGeom xmlns:a="http://schemas.openxmlformats.org/drawingml/2006/main" prst="roundRect">
            <a:avLst>
              <a:gd name="adj" fmla="val 4375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24D50EB3-F00B-45B0-BBD9-38323391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0760" y="2085840"/>
            <a:ext cx="1426680" cy="52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置信度 </a:t>
            </a:r>
            <a:r>
              <a:rPr sz="135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/</a:t>
            </a:r>
            <a:endParaRPr sz="135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拒答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99DD7C0C-4BE6-44B6-AF41-F94215C8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9840" y="2638440"/>
            <a:ext cx="1388520" cy="83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7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回答 </a:t>
            </a:r>
            <a:r>
              <a:rPr sz="117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/ </a:t>
            </a:r>
            <a:r>
              <a:rPr sz="117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请求澄清 </a:t>
            </a:r>
            <a:r>
              <a:rPr sz="117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/</a:t>
            </a:r>
            <a:endParaRPr sz="117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7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拒绝回答</a:t>
            </a:r>
            <a:endParaRPr sz="117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7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p(a | q, c)</a:t>
            </a:r>
            <a:endParaRPr sz="1170" b="0" spc="-1">
              <a:latin typeface="Arial"/>
              <a:ea typeface="Arial"/>
              <a:cs typeface="Arial"/>
            </a:endParaRPr>
          </a:p>
        </p:txBody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3C06A4EF-A25B-4083-95A6-9A32529C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400" y="2776680"/>
            <a:ext cx="121680" cy="36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2ABB8815-354F-4C17-8A78-D7BD45B4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600" y="1895400"/>
            <a:ext cx="1188360" cy="176004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7C02F183-7CAA-430F-A08D-22396C02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9120" y="2238480"/>
            <a:ext cx="1093320" cy="5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生成</a:t>
            </a:r>
            <a:endParaRPr sz="135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答案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1391B932-491D-47D8-AC53-EDF6F719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8200" y="2895480"/>
            <a:ext cx="1055160" cy="42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a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0CDF4BCF-7322-4B03-9DEA-95DB7EFB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120" y="2776680"/>
            <a:ext cx="112320" cy="36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1247F0CD-BED4-4E43-B8CC-70B1A487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0" y="5362560"/>
            <a:ext cx="2979000" cy="2312280"/>
          </a:xfrm>
          <a:prstGeom xmlns:a="http://schemas.openxmlformats.org/drawingml/2006/main" prst="roundRect">
            <a:avLst>
              <a:gd name="adj" fmla="val 5350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222222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BE12EA9B-4834-47B6-A640-776084B1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440" y="5391000"/>
            <a:ext cx="1807560" cy="28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数据来源</a:t>
            </a:r>
            <a:endParaRPr sz="1500" b="0" spc="-1">
              <a:latin typeface="Arial"/>
              <a:ea typeface="Arial"/>
              <a:cs typeface="Arial"/>
            </a:endParaRPr>
          </a:p>
        </p:txBody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58C8D9CF-0BBC-496C-9DEC-4847031F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80" y="5715000"/>
            <a:ext cx="2474280" cy="86472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A1E3FE59-436E-4A00-820C-145C4746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00" y="5762520"/>
            <a:ext cx="2379240" cy="483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加速器</a:t>
            </a:r>
            <a:endParaRPr sz="135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文档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29D59D16-4826-4305-A9D1-DBC56931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80" y="6238800"/>
            <a:ext cx="2341080" cy="302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9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手册 </a:t>
            </a:r>
            <a:r>
              <a:rPr sz="109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/ </a:t>
            </a:r>
            <a:r>
              <a:rPr sz="109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报告 </a:t>
            </a:r>
            <a:r>
              <a:rPr sz="109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/</a:t>
            </a:r>
            <a:endParaRPr sz="109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9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操作流程</a:t>
            </a:r>
            <a:endParaRPr sz="1090" b="0" spc="-1">
              <a:latin typeface="Arial"/>
              <a:ea typeface="Arial"/>
              <a:cs typeface="Arial"/>
            </a:endParaRPr>
          </a:p>
        </p:txBody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F032B2E8-6B7B-4323-8ED2-8232B937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80" y="6657840"/>
            <a:ext cx="2474280" cy="87408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4479BCC9-B440-4495-A5E2-FF615846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00" y="6705720"/>
            <a:ext cx="2379240" cy="49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2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EPICS </a:t>
            </a:r>
            <a:r>
              <a:rPr sz="132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注册表 </a:t>
            </a:r>
            <a:r>
              <a:rPr sz="132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/</a:t>
            </a:r>
            <a:endParaRPr sz="132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2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IOC-PV </a:t>
            </a:r>
            <a:r>
              <a:rPr sz="132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元数据</a:t>
            </a:r>
            <a:endParaRPr sz="1320" b="0" spc="-1">
              <a:latin typeface="Arial"/>
              <a:ea typeface="Arial"/>
              <a:cs typeface="Arial"/>
            </a:endParaRPr>
          </a:p>
        </p:txBody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8D0BB25A-6376-4689-8686-DD61A400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80" y="7191360"/>
            <a:ext cx="2341080" cy="31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9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PV / IOC / </a:t>
            </a:r>
            <a:r>
              <a:rPr sz="109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区域 </a:t>
            </a:r>
            <a:r>
              <a:rPr sz="109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/ </a:t>
            </a:r>
            <a:r>
              <a:rPr sz="109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子系统 </a:t>
            </a:r>
            <a:r>
              <a:rPr sz="109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/</a:t>
            </a:r>
            <a:endParaRPr sz="109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9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设备 </a:t>
            </a:r>
            <a:r>
              <a:rPr sz="109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/ </a:t>
            </a:r>
            <a:r>
              <a:rPr sz="109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信号</a:t>
            </a:r>
            <a:endParaRPr sz="1090" b="0" spc="-1">
              <a:latin typeface="Arial"/>
              <a:ea typeface="Arial"/>
              <a:cs typeface="Arial"/>
            </a:endParaRPr>
          </a:p>
        </p:txBody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839ADB45-CBB8-41A6-BD52-0BF3B0DD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40" y="6086520"/>
            <a:ext cx="1512360" cy="87408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624A6354-6E43-4AC6-B04D-FA54C114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360" y="6191280"/>
            <a:ext cx="1416960" cy="64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索引器 </a:t>
            </a:r>
            <a:r>
              <a:rPr sz="135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/</a:t>
            </a:r>
            <a:endParaRPr sz="135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规范化器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cxnSp>
        <p:nvCxnSpPr>
          <p:cNvPr id="621" name=""/>
          <p:cNvCxnSpPr/>
          <p:nvPr/>
        </p:nvCxnSpPr>
        <p:spPr>
          <a:xfrm xmlns:a="http://schemas.openxmlformats.org/drawingml/2006/main">
            <a:off x="2952720" y="6148440"/>
            <a:ext cx="597960" cy="37404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cxnSp>
      <p:cxnSp>
        <p:nvCxnSpPr>
          <p:cNvPr id="622" name=""/>
          <p:cNvCxnSpPr/>
          <p:nvPr/>
        </p:nvCxnSpPr>
        <p:spPr>
          <a:xfrm xmlns:a="http://schemas.openxmlformats.org/drawingml/2006/main" flipV="1">
            <a:off x="2952720" y="6522480"/>
            <a:ext cx="597960" cy="56952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cxn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408BF585-116E-49DA-BD08-700C5EEE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60" y="5353200"/>
            <a:ext cx="3198240" cy="2150640"/>
          </a:xfrm>
          <a:prstGeom xmlns:a="http://schemas.openxmlformats.org/drawingml/2006/main" prst="roundRect">
            <a:avLst>
              <a:gd name="adj" fmla="val 5752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222222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501EE8C3-2B89-406C-A36A-92E0560D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60" y="5381640"/>
            <a:ext cx="3198240" cy="28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0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多源索引</a:t>
            </a:r>
            <a:endParaRPr sz="1500" b="0" spc="-1">
              <a:latin typeface="Arial"/>
              <a:ea typeface="Arial"/>
              <a:cs typeface="Arial"/>
            </a:endParaRPr>
          </a:p>
        </p:txBody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E6FD4854-31E7-4C78-A32D-8EC1A58C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20" y="5734080"/>
            <a:ext cx="2588760" cy="35028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5BE96601-2A7C-4888-AED7-65CA51BB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440" y="5753160"/>
            <a:ext cx="2493360" cy="29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4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BM25 </a:t>
            </a:r>
            <a:r>
              <a:rPr sz="124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索引</a:t>
            </a:r>
            <a:endParaRPr sz="1240" b="0" spc="-1">
              <a:latin typeface="Arial"/>
              <a:ea typeface="Arial"/>
              <a:cs typeface="Arial"/>
            </a:endParaRPr>
          </a:p>
        </p:txBody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0CBD38C8-17EF-4219-AC1A-DB9092E2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20" y="6153120"/>
            <a:ext cx="2588760" cy="35028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222503BF-97F4-4B9A-8735-AA8F0DBD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440" y="6172200"/>
            <a:ext cx="2493360" cy="29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4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稠密向量库</a:t>
            </a:r>
            <a:endParaRPr sz="1240" b="0" spc="-1">
              <a:latin typeface="Arial"/>
              <a:ea typeface="Arial"/>
              <a:cs typeface="Arial"/>
            </a:endParaRPr>
          </a:p>
        </p:txBody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F41E6BF8-EA0D-40BD-A166-F10AF2C1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20" y="6581880"/>
            <a:ext cx="2588760" cy="35028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82DDDFB8-7A43-404A-BAD4-60AAE6D9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440" y="6600960"/>
            <a:ext cx="2493360" cy="29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4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注册表存储</a:t>
            </a:r>
            <a:endParaRPr sz="1240" b="0" spc="-1">
              <a:latin typeface="Arial"/>
              <a:ea typeface="Arial"/>
              <a:cs typeface="Arial"/>
            </a:endParaRP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AC765F80-48F2-4837-B41A-4F41126F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20" y="7000920"/>
            <a:ext cx="2588760" cy="35028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DA8AB09D-BA71-404D-92F5-D0150916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440" y="7020000"/>
            <a:ext cx="2493360" cy="29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4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元数据存储</a:t>
            </a:r>
            <a:endParaRPr sz="1240" b="0" spc="-1">
              <a:latin typeface="Arial"/>
              <a:ea typeface="Arial"/>
              <a:cs typeface="Arial"/>
            </a:endParaRPr>
          </a:p>
        </p:txBody>
      </p:sp>
      <p:cxnSp>
        <p:nvCxnSpPr>
          <p:cNvPr id="633" name=""/>
          <p:cNvCxnSpPr/>
          <p:nvPr/>
        </p:nvCxnSpPr>
        <p:spPr>
          <a:xfrm xmlns:a="http://schemas.openxmlformats.org/drawingml/2006/main" flipV="1">
            <a:off x="5067360" y="5907960"/>
            <a:ext cx="626400" cy="61236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cxnSp>
      <p:cxnSp>
        <p:nvCxnSpPr>
          <p:cNvPr id="634" name=""/>
          <p:cNvCxnSpPr/>
          <p:nvPr/>
        </p:nvCxnSpPr>
        <p:spPr>
          <a:xfrm xmlns:a="http://schemas.openxmlformats.org/drawingml/2006/main" flipV="1">
            <a:off x="5067360" y="6327360"/>
            <a:ext cx="626400" cy="19296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cxnSp>
      <p:cxnSp>
        <p:nvCxnSpPr>
          <p:cNvPr id="635" name=""/>
          <p:cNvCxnSpPr/>
          <p:nvPr/>
        </p:nvCxnSpPr>
        <p:spPr>
          <a:xfrm xmlns:a="http://schemas.openxmlformats.org/drawingml/2006/main">
            <a:off x="5067360" y="6524640"/>
            <a:ext cx="626400" cy="23112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cxnSp>
      <p:cxnSp>
        <p:nvCxnSpPr>
          <p:cNvPr id="636" name=""/>
          <p:cNvCxnSpPr/>
          <p:nvPr/>
        </p:nvCxnSpPr>
        <p:spPr>
          <a:xfrm xmlns:a="http://schemas.openxmlformats.org/drawingml/2006/main">
            <a:off x="5067360" y="6524640"/>
            <a:ext cx="626400" cy="65016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cxn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641FBFDF-B025-47E1-B77E-612525C9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480" y="5353200"/>
            <a:ext cx="7760880" cy="2179080"/>
          </a:xfrm>
          <a:prstGeom xmlns:a="http://schemas.openxmlformats.org/drawingml/2006/main" prst="roundRect">
            <a:avLst>
              <a:gd name="adj" fmla="val 5677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222222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6AD58C84-37C9-487B-8C95-5F4539A0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2920" y="5381640"/>
            <a:ext cx="2664720" cy="28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训练与基准</a:t>
            </a:r>
            <a:endParaRPr sz="1500" b="0" spc="-1">
              <a:latin typeface="Arial"/>
              <a:ea typeface="Arial"/>
              <a:cs typeface="Arial"/>
            </a:endParaRPr>
          </a:p>
        </p:txBody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33E35D9A-BC70-4D06-83BF-E83D066D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20" y="5896080"/>
            <a:ext cx="2683800" cy="1169280"/>
          </a:xfrm>
          <a:prstGeom xmlns:a="http://schemas.openxmlformats.org/drawingml/2006/main" prst="roundRect">
            <a:avLst>
              <a:gd name="adj" fmla="val 5691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21057DAA-921F-457B-BE10-31697376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840" y="6076800"/>
            <a:ext cx="2588760" cy="759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2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结构保持</a:t>
            </a:r>
            <a:endParaRPr sz="132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2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反事实负样本</a:t>
            </a:r>
            <a:endParaRPr sz="1320" b="0" spc="-1">
              <a:latin typeface="Arial"/>
              <a:ea typeface="Arial"/>
              <a:cs typeface="Arial"/>
            </a:endParaRPr>
          </a:p>
        </p:txBody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20BEB7B3-69B6-424E-8DEB-9F979460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840" y="5905440"/>
            <a:ext cx="2188440" cy="114084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8BA81B66-E311-491C-ABD0-25FF9BA9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60" y="6086520"/>
            <a:ext cx="2093400" cy="512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风险标注</a:t>
            </a:r>
            <a:endParaRPr sz="135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基准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AD6D5A42-5063-4E02-9223-6CF6AD78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40" y="6620040"/>
            <a:ext cx="2055240" cy="29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7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相关性 </a:t>
            </a:r>
            <a:r>
              <a:rPr sz="117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+ </a:t>
            </a:r>
            <a:r>
              <a:rPr sz="117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结构风险</a:t>
            </a:r>
            <a:endParaRPr sz="1170" b="0" spc="-1">
              <a:latin typeface="Arial"/>
              <a:ea typeface="Arial"/>
              <a:cs typeface="Arial"/>
            </a:endParaRPr>
          </a:p>
        </p:txBody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E858B9A8-2FD9-48B7-B3A8-D334A3E3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80" y="5896080"/>
            <a:ext cx="2236320" cy="1159920"/>
          </a:xfrm>
          <a:prstGeom xmlns:a="http://schemas.openxmlformats.org/drawingml/2006/main" prst="roundRect">
            <a:avLst>
              <a:gd name="adj" fmla="val 5738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3335">
            <a:solidFill>
              <a:srgbClr val="1111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77996898-06B4-462F-BBEA-CC73C3E0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00" y="6019920"/>
            <a:ext cx="2140920" cy="55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结构 </a:t>
            </a:r>
            <a:r>
              <a:rPr sz="135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OOD</a:t>
            </a:r>
            <a:endParaRPr sz="135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划分</a:t>
            </a:r>
            <a:endParaRPr sz="1350" b="0" spc="-1">
              <a:latin typeface="Arial"/>
              <a:ea typeface="Arial"/>
              <a:cs typeface="Arial"/>
            </a:endParaRPr>
          </a:p>
        </p:txBody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F375CD30-9B41-4CC7-B081-035B063F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8880" y="6591240"/>
            <a:ext cx="2102760" cy="35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泛化至未见</a:t>
            </a:r>
            <a:endParaRPr sz="1130" b="0" spc="-1"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i="1" spc="-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结构</a:t>
            </a:r>
            <a:endParaRPr sz="1130" b="0" spc="-1">
              <a:latin typeface="Arial"/>
              <a:ea typeface="Arial"/>
              <a:cs typeface="Arial"/>
            </a:endParaRPr>
          </a:p>
        </p:txBody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1870D2EA-897E-4934-AE9B-97F76A76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582280" y="6474960"/>
            <a:ext cx="131040" cy="252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4A712629-809D-4F7F-8945-2EA3F7AE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440" y="6477120"/>
            <a:ext cx="283680" cy="36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989E0AE5-C7B8-4691-9C74-EB94241C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920" y="5353200"/>
            <a:ext cx="26280" cy="26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ABF60296-5DAA-4F18-BBCD-621467B7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23760" y="4217400"/>
            <a:ext cx="360" cy="113148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  <a:prstDash val="dash"/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D43CB638-2F4D-4463-8CB9-1842C8E8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00" y="5353200"/>
            <a:ext cx="26280" cy="26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5C3E447C-F804-4BC9-B852-D29B333F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282400" y="3655440"/>
            <a:ext cx="12240" cy="169344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  <a:prstDash val="dash"/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EDED5A5C-1E94-4A13-B83A-5BBFB660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7000" y="5353200"/>
            <a:ext cx="26280" cy="26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F7E1DB89-6696-42F1-BC66-2DECC5F9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911040" y="3655440"/>
            <a:ext cx="7200" cy="1693440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  <a:prstDash val="dash"/>
            <a:tailEnd type="triangle" w="sm" len="sm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</p:sp>
    </p:spTree>
    <p:extLst>
      <p:ext uri="{BB962C8B-B14F-4D97-AF65-F5344CB8AC3E}">
        <p14:creationId xmlns:p14="http://schemas.microsoft.com/office/powerpoint/2010/main" val="4275255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8CC122D-08AE-44CA-BB35-098B51E8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33350"/>
            <a:ext cx="16630650" cy="8172450"/>
          </a:xfrm>
          <a:prstGeom xmlns:a="http://schemas.openxmlformats.org/drawingml/2006/main" prst="roundRect">
            <a:avLst>
              <a:gd name="adj" fmla="val 1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11111"/>
            </a:solidFill>
            <a:prstDash val="dash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43475-1BA4-4CBE-A7AA-AA5FEF7B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57175"/>
            <a:ext cx="160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250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工作创新点与完整证据链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FE306-E97E-4199-9D60-44E9EC4B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85800"/>
            <a:ext cx="1590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333333"/>
                </a:solidFill>
                <a:latin typeface="SimSun"/>
                <a:ea typeface="SimSun"/>
                <a:cs typeface="SimSun"/>
              </a:defRPr>
            </a:pPr>
            <a:r>
              <a:rPr sz="1275" b="0" i="1">
                <a:solidFill>
                  <a:srgbClr val="333333"/>
                </a:solidFill>
                <a:latin typeface="SimSun"/>
                <a:ea typeface="SimSun"/>
                <a:cs typeface="SimSun"/>
              </a:rPr>
              <a:t>研究主线：控制对象风险建模驱动的混合检索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426254-F8C1-48C1-B419-675A1FBF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104900"/>
            <a:ext cx="5314950" cy="5057775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11111"/>
            </a:solidFill>
            <a:prstDash val="dash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10E8A9-5899-4F7A-BA68-284D059E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90625"/>
            <a:ext cx="5143500" cy="4667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565E05-9758-4BFB-BD15-26E4D89D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09675"/>
            <a:ext cx="514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A17D0E-BF74-4375-A574-A16CC5B2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209675"/>
            <a:ext cx="442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查询条件化控制对象风险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834552-F1D2-44D5-9458-84FA981C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104900"/>
            <a:ext cx="5314950" cy="5057775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11111"/>
            </a:solidFill>
            <a:prstDash val="dash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A38B62-B33A-40D1-9248-040EE695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190625"/>
            <a:ext cx="5143500" cy="4667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419BD2-1CBC-449B-9E4C-F58C8A72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209675"/>
            <a:ext cx="514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9FC6D3-C13E-4A5A-AB21-0273C86C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209675"/>
            <a:ext cx="442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结构保持反事实负样本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FDBA19-50C9-4E4B-9AAE-539232E6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1104900"/>
            <a:ext cx="5314950" cy="5057775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11111"/>
            </a:solidFill>
            <a:prstDash val="dash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6F4D59-5DFB-4B31-B289-ED0E7B45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190625"/>
            <a:ext cx="5143500" cy="4667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4CA97B-2F91-4A5F-98EC-C2389255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209675"/>
            <a:ext cx="514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EB8D43-D6D3-4015-8BE1-701E43BC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1209675"/>
            <a:ext cx="442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结构 OOD 泛化评测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C099CF-A7A2-4B57-A9A0-431F7654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907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313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把“语义相似但控制对象错误”从普通不相关性中分离。风险取决于当前查询与候选的关系，而不是候选自身的固定标签。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39131D-1711-4FF7-B9FB-08A877AC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505075"/>
            <a:ext cx="493395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8573">
            <a:solidFill>
              <a:srgbClr val="77777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AFCB5F-EDF9-4320-AD72-BA00FD8C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543175"/>
            <a:ext cx="4781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R(q,d) = λₐEₐ + λₛEₛ + λᵥEᵥ + λgEg + λᵤEᵤ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600FFC-2ADC-4085-BAAD-F8734C8C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19450"/>
            <a:ext cx="4857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163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Eₐ/Eₛ/Eᵥ/Eg/Eᵤ：区域、子系统、设备、信号、无效标识符冲突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DC4895-9457-4FB0-BCED-DCAB60EC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0"/>
            <a:ext cx="4895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0A0A0"/>
            </a:solidFill>
            <a:prstDash val="dash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9992F8-480F-45D2-8B92-CC192E2A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52850"/>
            <a:ext cx="485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38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同一 PV 对查询 A 可正确，对查询 B 可成为高风险近邻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17BB12-EDCF-41F1-9AD4-CC70B510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10050"/>
            <a:ext cx="485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38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风险进入候选级重排序，可修正同一 Retriever 内部错误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995693-509B-4768-99BB-0B7F8CD5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67250"/>
            <a:ext cx="485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38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与静态工具风险不同，核心是查询-控制对象一致性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B4C859-C263-408A-9164-F9AE53BF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24450"/>
            <a:ext cx="485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38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可由 Registry 字段比较产生初标，再由专家审核严重度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DD2E0C-E428-47AE-905C-C776D3C1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907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313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从正确对象出发，只替换一个决定性结构字段，同时尽量保持词面与命名格式不变，使模型必须学习控制结构。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28A674-9C94-4FF8-9174-D035C03D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05075"/>
            <a:ext cx="495300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8573">
            <a:solidFill>
              <a:srgbClr val="77777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A9E4C0-C8AA-4A6B-BB30-8C96E9B4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43175"/>
            <a:ext cx="4800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dⱼ⁻ = Tⱼ(d⁺),     ||z(dⱼ⁻) − z(d⁺)||₀ = 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7EFE97-A782-49CE-81F4-DB552875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766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0A0A0"/>
            </a:solidFill>
            <a:prstDash val="dash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8D880D-9C1D-46C2-BF1C-2C27679B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19475"/>
            <a:ext cx="110490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7620">
            <a:solidFill>
              <a:srgbClr val="A0A0A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933A59-D4A2-4DB5-9B30-4B6295F2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2900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Area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585CFE-5934-4350-88C6-2568FB89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19475"/>
            <a:ext cx="3600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INJ1 → INJ2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5DF79D-B5E0-496E-A630-2134F24F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67150"/>
            <a:ext cx="110490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7620">
            <a:solidFill>
              <a:srgbClr val="A0A0A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9C8505-4239-4359-8763-6D7CA554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76675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Device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753C10-AB15-498D-B011-CF7CECEF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67150"/>
            <a:ext cx="3600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BUNCHER → CAVITY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8E010A-7251-4AEA-A055-2D03F9B6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14825"/>
            <a:ext cx="110490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7620">
            <a:solidFill>
              <a:srgbClr val="A0A0A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B98BB9-7BA4-456F-BA26-0F13C186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243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Signal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EC3C7A-881A-49C1-B673-8465955D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14825"/>
            <a:ext cx="3600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PHASE → AMP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450165-A505-4C17-B074-8A15F6FE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762500"/>
            <a:ext cx="110490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7620">
            <a:solidFill>
              <a:srgbClr val="A0A0A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B68363-1C40-4439-8F46-A404878F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72025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Qualifier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34EE7C-FAF9-4AFD-9645-4738F58B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0"/>
            <a:ext cx="3600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SP → RBV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77D210-7839-4A57-AD84-38ECD596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210175"/>
            <a:ext cx="110490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7620">
            <a:solidFill>
              <a:srgbClr val="A0A0A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008102-20FA-43F8-8A36-73577CF6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1970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Validity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70AA386-AC55-4919-8CF2-DC4202D8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0175"/>
            <a:ext cx="3600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valid-but-wrong / invalid-but-plausible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0DB337-F4FB-47D9-A237-1E8A8C76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17907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313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把子系统、设备族、命名模式和时间版本作为不可交叉的组进行留出，验证模型是否学到结构规律。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4313B7B-EF2A-4FD9-8976-74D128E3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2505075"/>
            <a:ext cx="49530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8573">
            <a:solidFill>
              <a:srgbClr val="77777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BFE1A6-8856-4008-827D-A82B3980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2543175"/>
            <a:ext cx="4800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Gtrain ∩ Gtest = ∅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49101D-F5B0-4F3C-B09E-4296E51A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3181350"/>
            <a:ext cx="49530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8573">
            <a:solidFill>
              <a:srgbClr val="77777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3422C9F-7CB3-46ED-BFB8-7E7130C8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3219450"/>
            <a:ext cx="4800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ΔOOD = Mrandom − Mstructure-holdout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4030881-6E54-452E-96DC-81E23580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3895725"/>
            <a:ext cx="4895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0A0A0"/>
            </a:solidFill>
            <a:prstDash val="dash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268FDE9-4F22-4FF7-B4CA-5AA5F129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4048125"/>
            <a:ext cx="485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38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先划分数据，再在各 split 的 Registry 快照内生成负样本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9382AB1-B55A-4D44-8BA3-6F209046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4505325"/>
            <a:ext cx="485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38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同时报告随机、文档、子系统、设备族与标识符模式留出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90CD64F-8F72-416A-8119-E9F2071D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4962525"/>
            <a:ext cx="485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38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保存 split_manifest，审计别名、共享前缀与版本泄漏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DA4F7B7-6A06-43FC-B4D0-484FFE25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419725"/>
            <a:ext cx="485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38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若优势只存在于随机划分，则停止结构泛化主张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4CDE9AD-BE75-425B-BD2C-1623B08F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391275"/>
            <a:ext cx="163068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11111"/>
            </a:solidFill>
            <a:prstDash val="dash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FA3B425-877A-4504-A080-CBBD1D4E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486525"/>
            <a:ext cx="1600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三项创新的因果关系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A2DE20A-0843-4E86-B859-A5025C5C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981825"/>
            <a:ext cx="3638550" cy="657225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478">
            <a:solidFill>
              <a:srgbClr val="11111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C369918-F8A8-40A3-B793-1C66EB8B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6981825"/>
            <a:ext cx="3638550" cy="657225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478">
            <a:solidFill>
              <a:srgbClr val="11111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DE4EA13-714C-46ED-91AF-E46FC0CF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6981825"/>
            <a:ext cx="3638550" cy="657225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478">
            <a:solidFill>
              <a:srgbClr val="11111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7EDCEB1-586A-4828-A6FE-DF411E9B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7038975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350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风险定义</a:t>
            </a:r>
          </a:p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350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明确什么错误最值得防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A3AEEDE-CA92-48B9-993F-DED0031C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7038975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350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反事实训练</a:t>
            </a:r>
          </a:p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350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让模型看见并学习这种错误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66A755D-F0E8-47E2-A718-6B6A58AD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7275" y="7038975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350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结构留出</a:t>
            </a:r>
          </a:p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350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检验模型是否只记住命名模板</a:t>
            </a:r>
          </a:p>
        </p:txBody>
      </p:sp>
      <p:cxnSp>
        <p:nvCxnSpPr>
          <p:cNvPr id="125" name=""/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4514850" y="7310438"/>
            <a:ext cx="21145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11111"/>
            </a:solidFill>
            <a:prstDash val="solid"/>
            <a:tailEnd type="triangle" w="sm" len="sm"/>
          </a:ln>
        </p:spPr>
      </p:cxnSp>
      <p:cxnSp>
        <p:nvCxnSpPr>
          <p:cNvPr id="126" name=""/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10267950" y="7310438"/>
            <a:ext cx="21145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11111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2497634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EC35E26-29E6-4710-8B66-17B1A843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33350"/>
            <a:ext cx="16630650" cy="8172450"/>
          </a:xfrm>
          <a:prstGeom xmlns:a="http://schemas.openxmlformats.org/drawingml/2006/main" prst="roundRect">
            <a:avLst>
              <a:gd name="adj" fmla="val 1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11111"/>
            </a:solidFill>
            <a:prstDash val="dash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11425-30D2-43ED-8C60-1ED2264E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57175"/>
            <a:ext cx="160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250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风险敏感混合检索与候选级决策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98892-42D4-49D2-A7B4-053E4BFD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85800"/>
            <a:ext cx="1590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333333"/>
                </a:solidFill>
                <a:latin typeface="SimSun"/>
                <a:ea typeface="SimSun"/>
                <a:cs typeface="SimSun"/>
              </a:defRPr>
            </a:pPr>
            <a:r>
              <a:rPr sz="1275" b="0" i="1">
                <a:solidFill>
                  <a:srgbClr val="333333"/>
                </a:solidFill>
                <a:latin typeface="SimSun"/>
                <a:ea typeface="SimSun"/>
                <a:cs typeface="SimSun"/>
              </a:rPr>
              <a:t>Router 只分配通道预算，Risk Scorer 在统一候选集上纠正危险近邻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FA44AE-3905-43A2-9538-89128146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38275"/>
            <a:ext cx="1571625" cy="9334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625C6-B1EB-414D-934A-2E03CE77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438275"/>
            <a:ext cx="1809750" cy="9334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7B89B-BECA-4D9B-8304-961B72EC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438275"/>
            <a:ext cx="1809750" cy="9334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8F3E1A-7AAD-422F-8352-7B536171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95425"/>
            <a:ext cx="14001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425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用户查询</a:t>
            </a:r>
          </a:p>
          <a:p xmlns:a="http://schemas.openxmlformats.org/drawingml/2006/main">
            <a:pPr algn="ctr">
              <a:defRPr sz="1425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425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q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613EC-9B6F-4288-9324-F80615DB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495425"/>
            <a:ext cx="1638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350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实体与词法解析</a:t>
            </a:r>
          </a:p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350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φ(q)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4CE040-284B-4529-9BC2-1D7772E3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95425"/>
            <a:ext cx="1638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350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检索前路由器</a:t>
            </a:r>
          </a:p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350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w = f(q)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3866F2-7CB5-4FB3-8B7A-15A587DB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066800"/>
            <a:ext cx="4114800" cy="167640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11111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CB664D-62A9-46F7-B664-7486BFF4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1239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Retriever Experts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9D9DA3-71E4-4669-B024-7B32720F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95425"/>
            <a:ext cx="1857375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F701F0-EC57-4BCD-825A-522EB421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14475"/>
            <a:ext cx="17811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8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BM25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D579A6-8F66-485B-AF6E-68965BF9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9775"/>
            <a:ext cx="1857375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8998C6-0E8F-407D-87F5-5E5C13E5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28825"/>
            <a:ext cx="17811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8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Dense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EE92E7-1B67-43CC-81F1-0A4AC2B3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95425"/>
            <a:ext cx="1857375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203B5D-ECAA-4DE1-86EC-C388176B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514475"/>
            <a:ext cx="17811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8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PV / Registry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42374B-EB76-4EF8-8EC1-157F7523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09775"/>
            <a:ext cx="1857375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86A03A-BF28-439C-B93A-49CDF76D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028825"/>
            <a:ext cx="17811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8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Metadata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18F5DA-A734-4C50-83F3-A31A6513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1438275"/>
            <a:ext cx="1638300" cy="9334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EBF3B8-7CB7-47CF-968D-9D51D543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1438275"/>
            <a:ext cx="1790700" cy="9334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DA7DD8-597C-4A26-8733-EC307D68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7525" y="1438275"/>
            <a:ext cx="2076450" cy="9334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E29880-727F-4C22-9CBB-E8461636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495425"/>
            <a:ext cx="1504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350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候选归一化</a:t>
            </a:r>
          </a:p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350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C(q)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559A4E-7BE9-4FBB-89E6-5CF1A87A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1495425"/>
            <a:ext cx="1638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350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控制对象风险</a:t>
            </a:r>
          </a:p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350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R(q,d)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C790A9-9167-4447-A04E-4CACA294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725" y="1495425"/>
            <a:ext cx="1924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350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融合 / 重排序 / 拒答</a:t>
            </a:r>
          </a:p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350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Sfinal, a</a:t>
            </a:r>
          </a:p>
        </p:txBody>
      </p:sp>
      <p:cxnSp>
        <p:nvCxnSpPr>
          <p:cNvPr id="8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1895475" y="19050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11111"/>
            </a:solidFill>
            <a:prstDash val="solid"/>
            <a:tailEnd type="triangle" w="sm" len="sm"/>
          </a:ln>
        </p:spPr>
      </p:cxnSp>
      <p:cxnSp>
        <p:nvCxnSpPr>
          <p:cNvPr id="8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943350" y="19050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11111"/>
            </a:solidFill>
            <a:prstDash val="solid"/>
            <a:tailEnd type="triangle" w="sm" len="sm"/>
          </a:ln>
        </p:spPr>
      </p:cxnSp>
      <p:cxnSp>
        <p:nvCxnSpPr>
          <p:cNvPr id="84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991225" y="19050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11111"/>
            </a:solidFill>
            <a:prstDash val="solid"/>
            <a:tailEnd type="triangle" w="sm" len="sm"/>
          </a:ln>
        </p:spPr>
      </p:cxnSp>
      <p:cxnSp>
        <p:nvCxnSpPr>
          <p:cNvPr id="85" name=""/>
          <p:cNvCxnSpPr>
            <a:stCxn xmlns:a="http://schemas.openxmlformats.org/drawingml/2006/main" id="10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10344150" y="19050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11111"/>
            </a:solidFill>
            <a:prstDash val="solid"/>
            <a:tailEnd type="triangle" w="sm" len="sm"/>
          </a:ln>
        </p:spPr>
      </p:cxnSp>
      <p:cxnSp>
        <p:nvCxnSpPr>
          <p:cNvPr id="86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12220575" y="19050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11111"/>
            </a:solidFill>
            <a:prstDash val="solid"/>
            <a:tailEnd type="triangle" w="sm" len="sm"/>
          </a:ln>
        </p:spPr>
      </p:cxnSp>
      <p:cxnSp>
        <p:nvCxnSpPr>
          <p:cNvPr id="87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14249400" y="19050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3B9030-EAA2-4E01-8114-98AADFF6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009900"/>
            <a:ext cx="16221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0A0A0"/>
            </a:solidFill>
            <a:prstDash val="dash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B8A191-C2DE-4DEF-9308-00E48DB7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33725"/>
            <a:ext cx="76581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检索、风险与重排序公式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E7D59C-5A58-42E8-AA30-3651F7F9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33775"/>
            <a:ext cx="7658100" cy="676275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8573">
            <a:solidFill>
              <a:srgbClr val="77777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1FA5DD-9281-443F-A2CE-18DA8A6C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71875"/>
            <a:ext cx="7505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S_RRF(d | q) = Σᵢ₌₁ᴹ  wᵢ(q) / [k + rᵢ(d)]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D59867-9D1B-43F7-B554-C5687E06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48150"/>
            <a:ext cx="7505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163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wᵢ(q) 为查询级通道权重，rᵢ(d) 为候选在第 i 个检索器中的排名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FF6839-534C-4FA6-BF55-15C507FE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38675"/>
            <a:ext cx="7658100" cy="676275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8573">
            <a:solidFill>
              <a:srgbClr val="77777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700E6D-2D4F-4024-AC28-794726B2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76775"/>
            <a:ext cx="7505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R(q,d) = Σⱼ λⱼ · P(Eⱼ = 1 | φ(q), z(d))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5EFFBE-2FC4-464E-89D4-4219AD0D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53050"/>
            <a:ext cx="7505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163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j ∈ {area, subsystem, device, signal, invalid}，λⱼ 表示错误严重度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A96AF7-307E-4632-9E94-18A1B756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43575"/>
            <a:ext cx="7658100" cy="7143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8573">
            <a:solidFill>
              <a:srgbClr val="77777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B01744-D5A9-4A84-A22E-A1382FD4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81675"/>
            <a:ext cx="75057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S_final = αS_rel + (1−α)S_RRF − γR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FBC818-3C68-4A2D-AB66-A571AA0F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7505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00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α 与 γ 只在开发集选择；同一候选集上比较相关性增益与风险下降，避免把通道选择收益误当成风险建模收益。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E24739B-234C-4EFB-94D9-E21AB020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33725"/>
            <a:ext cx="781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概率校准与拒答条件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FE9837B-D13C-496C-A4A9-7189192A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33775"/>
            <a:ext cx="7810500" cy="676275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8573">
            <a:solidFill>
              <a:srgbClr val="77777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3D954D2-80AC-4C3D-8320-3B7B780B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571875"/>
            <a:ext cx="76581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p(d | q) = exp[S_final(q,d)/τ] / Σc exp[S_final(q,c)/τ]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943A27C-9ED7-4E06-ABF8-BCDA54D4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391025"/>
            <a:ext cx="7810500" cy="676275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8573">
            <a:solidFill>
              <a:srgbClr val="77777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238048F-6148-4AEA-9E76-BC0E6387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429125"/>
            <a:ext cx="76581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margin(q) = S_final(q,d₁) − S_final(q,d₂)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0A7C168-9631-4ED9-B247-7E72CE96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248275"/>
            <a:ext cx="78105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8573">
            <a:solidFill>
              <a:srgbClr val="77777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B48B3EC-3979-4EA9-BB4D-97016D3A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286375"/>
            <a:ext cx="7658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38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38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answer ⇔ p(d₁|q) ≥ τp  ∧  R(q,d₁) ≤ τR  ∧  margin(q) ≥ τm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382D7A5-D364-478E-BE66-5F0E22B8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191250"/>
            <a:ext cx="78105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64C6EC6-60B6-493E-8909-BBAFEFE6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28650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三类输出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FB3501D-6550-40C8-8D97-9F372FA4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648450"/>
            <a:ext cx="742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75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回答：候选有效、结构一致且排序间隔充分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245CEA7-1478-4B3A-A46A-37225DEF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962775"/>
            <a:ext cx="742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75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请求澄清：查询实体缺失或多个真实对象竞争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CF35E5D-CB10-40B6-BF76-EE3B2F69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7277100"/>
            <a:ext cx="742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75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拒答：标识符无效、结构冲突高或证据不足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29E41E6-622A-4B96-B7B8-7B0A64E3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29475"/>
            <a:ext cx="76581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dash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2B6E9E2-7752-4487-9CA6-C4E7238D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77100"/>
            <a:ext cx="7410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75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关键边界：如果固定 Registry 规则已达到同等风险下降，学习式 Risk Scorer 应删除，贡献转为可解释约束检索。</a:t>
            </a:r>
          </a:p>
        </p:txBody>
      </p:sp>
    </p:spTree>
    <p:extLst>
      <p:ext uri="{BB962C8B-B14F-4D97-AF65-F5344CB8AC3E}">
        <p14:creationId xmlns:p14="http://schemas.microsoft.com/office/powerpoint/2010/main" val="929551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4244E6B-17B3-40B1-A87E-BC12D737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33350"/>
            <a:ext cx="16630650" cy="8172450"/>
          </a:xfrm>
          <a:prstGeom xmlns:a="http://schemas.openxmlformats.org/drawingml/2006/main" prst="roundRect">
            <a:avLst>
              <a:gd name="adj" fmla="val 1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11111"/>
            </a:solidFill>
            <a:prstDash val="dash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D7F79-8258-49DB-A65D-18C2FDF4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57175"/>
            <a:ext cx="160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250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结构保持反事实训练与联合目标函数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83A081-3A78-4795-8E45-145FA090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85800"/>
            <a:ext cx="1590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333333"/>
                </a:solidFill>
                <a:latin typeface="SimSun"/>
                <a:ea typeface="SimSun"/>
                <a:cs typeface="SimSun"/>
              </a:defRPr>
            </a:pPr>
            <a:r>
              <a:rPr sz="1275" b="0" i="1">
                <a:solidFill>
                  <a:srgbClr val="333333"/>
                </a:solidFill>
                <a:latin typeface="SimSun"/>
                <a:ea typeface="SimSun"/>
                <a:cs typeface="SimSun"/>
              </a:rPr>
              <a:t>负样本不仅要“难”，还要明确“难在哪一个控制字段”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96C44-F0D1-42BD-99A7-967538E2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133475"/>
            <a:ext cx="6877050" cy="6600825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11111"/>
            </a:solidFill>
            <a:prstDash val="dash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76CF0B-150E-41C5-97DA-B657485D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238250"/>
            <a:ext cx="652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数据构造：划分优先，Registry 约束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77C991-0FA9-46DE-8264-5C570FE5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85925"/>
            <a:ext cx="400050" cy="3714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8C0A9-676D-42AC-85BB-5311F713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2DB4EA-2A3F-4AAE-80FF-4BB001BF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85925"/>
            <a:ext cx="5953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38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按 subsystem / device family / pattern / snapshot 划分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EAAA46-67D5-41B2-B66A-C257F650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71700"/>
            <a:ext cx="400050" cy="3714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33E307-9CE3-4D4F-B427-D5ACD6C3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81225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EBF400-01F6-4A53-9187-F64A592C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71700"/>
            <a:ext cx="5953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38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在当前 split 内选择正确对象 d⁺ 与 Registry 快照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A32F92-C11C-4B42-97BC-C0A9870C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57475"/>
            <a:ext cx="400050" cy="3714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990167-875B-460B-A30C-0C56F170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BCFF10-DA11-49B4-94C7-2E0EFF1F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57475"/>
            <a:ext cx="5953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38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只替换一个字段，生成 valid-but-wrong 或 invalid-but-plausible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716E81-829B-4151-B1D4-0758548F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43250"/>
            <a:ext cx="400050" cy="3714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266588-37B3-4A7E-9E96-F7C86156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52775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FD0B16-5042-4392-A6ED-80283AA3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43250"/>
            <a:ext cx="5953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38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记录 risk_type、severity、source_id 与 transformation_id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CE8EEB-37FB-4F8D-9CAE-603AAC5D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05225"/>
            <a:ext cx="6505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A0A0A0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6E7CDB-4C57-4B35-9873-90B258D1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76675"/>
            <a:ext cx="1543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7144">
            <a:solidFill>
              <a:srgbClr val="88888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BD7BE7-F3BA-48CB-99E2-854AC304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895725"/>
            <a:ext cx="1485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163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交换类型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41B009-6C35-4050-8E55-9922D3D9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876675"/>
            <a:ext cx="22955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7144">
            <a:solidFill>
              <a:srgbClr val="88888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DE42CE-4805-4952-A4B8-B52D469C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895725"/>
            <a:ext cx="223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163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保持项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406716-1633-48CE-B411-B3B425C3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876675"/>
            <a:ext cx="10668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7144">
            <a:solidFill>
              <a:srgbClr val="88888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D7C618-3F07-47C2-83F2-FAAAE175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95725"/>
            <a:ext cx="1009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163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变化项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305BD9-5BED-429C-A875-F3E645AF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876675"/>
            <a:ext cx="16002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7144">
            <a:solidFill>
              <a:srgbClr val="88888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9B919D-94B9-441E-A955-A29FF79B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895725"/>
            <a:ext cx="1543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163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主要错误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7528DD-5D3E-4AD1-8C9A-BA12E53F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24350"/>
            <a:ext cx="1543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8888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150E9D-54C0-41E1-B832-C1F847BF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343400"/>
            <a:ext cx="1485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Area swap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029C20-D4AA-41D7-B796-007B589A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324350"/>
            <a:ext cx="22955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8888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A660F1-020D-40D4-A4E0-141EF3C7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343400"/>
            <a:ext cx="223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088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subsystem/device/signal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11EAEC-EFC5-4A5E-A861-CDBE1FE2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324350"/>
            <a:ext cx="10668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8888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00B813-5894-4B59-9AD9-A3240356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43400"/>
            <a:ext cx="1009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088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area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D69D0D-C479-49AC-95E4-830E6F84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324350"/>
            <a:ext cx="16002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8888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A7DA34-A2C2-483B-A155-FF1A4ED8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343400"/>
            <a:ext cx="1543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088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区域错配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786435-A98E-4458-9283-B754CDFA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72025"/>
            <a:ext cx="1543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8888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6CDC3E-33F2-4E11-8B9A-00C955EA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791075"/>
            <a:ext cx="1485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Device swap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6512FA-5BDA-4A49-A545-C127F930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772025"/>
            <a:ext cx="22955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8888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BE732B-4AB9-4C7A-A164-1125B597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791075"/>
            <a:ext cx="223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088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area/subsystem/signal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681388-17BF-486A-AE80-D116111C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772025"/>
            <a:ext cx="10668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8888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6A842B-D61C-4638-B1CF-F3706334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791075"/>
            <a:ext cx="1009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088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device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D68CFC-4CA5-4F0F-8C14-125D577D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772025"/>
            <a:ext cx="16002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8888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0CF0A00-5356-49CD-B367-4D5D890D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791075"/>
            <a:ext cx="1543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088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设备错配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6D12F2-A337-4A7A-877A-647A5AAB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19700"/>
            <a:ext cx="1543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8888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CA0D37-82A1-4AAD-A382-62CE04A0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238750"/>
            <a:ext cx="1485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Signal swap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286ADC3-7C2C-4C79-AD8D-2A46B684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219700"/>
            <a:ext cx="22955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8888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A5CC922-3BA1-47FB-B190-DB428E81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238750"/>
            <a:ext cx="223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088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area/subsystem/device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DFEFEEF-1B28-494D-A26D-2D5F4011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219700"/>
            <a:ext cx="10668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8888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6034108-E3B0-46D3-B1F6-8BBC9636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238750"/>
            <a:ext cx="1009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088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signal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C77300B-82E7-4351-8BEA-9C7C279F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219700"/>
            <a:ext cx="16002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8888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21296B9-70AA-403C-A942-B91B4EC6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238750"/>
            <a:ext cx="1543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088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信号错配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47D9911-9920-48CD-89B5-A309B004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67375"/>
            <a:ext cx="1543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8888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A66E7AE-CE8A-42F1-8D95-00CAC968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686425"/>
            <a:ext cx="1485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Qualifier swap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0A47A24-E54B-48DE-8F7D-D1949E89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667375"/>
            <a:ext cx="22955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8888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B4A5DC9-CAB8-4AD1-9E39-2BD7EBA6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686425"/>
            <a:ext cx="223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088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对象主体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DB27AD1-A252-4B5A-A4A9-5574DA57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667375"/>
            <a:ext cx="10668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8888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6AE1516-7173-4692-ACCF-BA24C9C4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686425"/>
            <a:ext cx="1009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088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SP/RBV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A1C5757-A600-46F0-A108-89BC91C1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667375"/>
            <a:ext cx="16002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8888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8E539E6-2234-4F72-B269-946FC301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86425"/>
            <a:ext cx="1543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088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动作语义错误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39D51D8-92D4-40A3-A7BC-19C0EAD9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15050"/>
            <a:ext cx="1543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8888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27945D1-94A6-40AE-AA81-F42D96AA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6134100"/>
            <a:ext cx="1485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Invalid ID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9EB136D-6538-4BA6-8698-EC276181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6115050"/>
            <a:ext cx="22955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8888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BCEE337-B68A-454F-B976-23BF4843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6134100"/>
            <a:ext cx="223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088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命名语法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AE1978D-8005-4E76-84D3-964E2AFC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6115050"/>
            <a:ext cx="10668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8888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37BDA0C-0DE0-44DD-82F1-945E3583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134100"/>
            <a:ext cx="1009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088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Registry validity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04CD7F5-93F8-4649-AD4A-8BF784ED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6115050"/>
            <a:ext cx="16002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8888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28CA69A-A8F9-44EC-AA5D-3DF5F65D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6134100"/>
            <a:ext cx="1543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088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合理但不存在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60076AD-EF2C-400B-B67A-706B2DAC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743700"/>
            <a:ext cx="6505575" cy="790575"/>
          </a:xfrm>
          <a:prstGeom xmlns:a="http://schemas.openxmlformats.org/drawingml/2006/main" prst="roundRect">
            <a:avLst>
              <a:gd name="adj" fmla="val 8434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026E516-7F32-4BAE-ADBC-D0ACDB1B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791325"/>
            <a:ext cx="62960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38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硬约束：同一设备模板或 PV 名称不得通过负样本生成泄漏到测试集；真实存在但错误的候选与合理但不存在的候选必须分开报告。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2A20AF3-2713-421E-9AD5-6425966E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133475"/>
            <a:ext cx="9191625" cy="6600825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11111"/>
            </a:solidFill>
            <a:prstDash val="dash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BB21806-BFB8-4061-9D12-9AAA821C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238250"/>
            <a:ext cx="881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训练目标：同时学习相关性、风险与反事实排序间隔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BF042C3-F96D-4FA0-B495-C2A395D8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714500"/>
            <a:ext cx="8791575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8573">
            <a:solidFill>
              <a:srgbClr val="777777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7424A54-17CF-45A9-B24D-B174D715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752600"/>
            <a:ext cx="86391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38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38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L_rank = −log { exp[s(q,d⁺)/τ] / [exp[s(q,d⁺)/τ] + Σⱼ exp[s(q,dⱼ⁻)/τ]] }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BF2CE41-038E-4475-8433-83B48CC7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24125"/>
            <a:ext cx="857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163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对比排序损失：正确对象相对全部困难负样本获得更高分数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28408FF-1322-4C85-95E6-73CEB52A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924175"/>
            <a:ext cx="8791575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8573">
            <a:solidFill>
              <a:srgbClr val="777777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675DC19-9836-4365-9083-30F8D739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962275"/>
            <a:ext cx="86391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L_risk = Σⱼ ωⱼ · BCE(êⱼ(q,d), eⱼ(q,d))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8F28557-4FC0-469A-918A-0A326279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57600"/>
            <a:ext cx="857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163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多任务风险损失：逐项预测 area/device/signal/invalid 等冲突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5F64CE9-7C81-494E-83F5-5A47FABA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057650"/>
            <a:ext cx="8791575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8573">
            <a:solidFill>
              <a:srgbClr val="777777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6D25D01-75DB-4294-B706-585FDB7B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095750"/>
            <a:ext cx="86391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L_cf = Σⱼ max[0, mⱼ + s(q,dⱼ⁻) − s(q,d⁺)]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341DE92-86BB-43EC-A70B-8850ACCD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91075"/>
            <a:ext cx="857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163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严重度感知间隔：高风险字段使用更大的 mⱼ 或 ωⱼ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6472B00-CD25-4C4A-AE28-3B9CF2D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5191125"/>
            <a:ext cx="8791575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8573">
            <a:solidFill>
              <a:srgbClr val="777777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596B227-60E2-443A-851B-7A00C628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229225"/>
            <a:ext cx="86391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 = L_rank + βL_risk + ηL_cf + ξ||θ||²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FE45088-2AF5-4779-A4AF-200E2812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6153150"/>
            <a:ext cx="871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A0A0A0"/>
            </a:solidFill>
            <a:prstDash val="dash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F6EF890-62FE-41C8-AC33-47C7626D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29602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00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β、η、ξ 与风险严重度权重仅在开发集选择，测试集只评估一次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D4632B0-36E3-45F9-B361-4982A761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629400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00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同数量、同难度对照：随机负样本、BM25 困难负样本、ANN 困难负样本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1EC448C-E709-4ABE-B1D0-02958611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9627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00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关键消融：去掉结构字段、去掉反事实、分别去掉 Area/Device/Signal 风险项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6F83F83-D20F-452B-8F10-DAA2A1A5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7296150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00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若普通困难负样本达到同等效果，结构反事实贡献降为数据工程</a:t>
            </a:r>
          </a:p>
        </p:txBody>
      </p:sp>
    </p:spTree>
    <p:extLst>
      <p:ext uri="{BB962C8B-B14F-4D97-AF65-F5344CB8AC3E}">
        <p14:creationId xmlns:p14="http://schemas.microsoft.com/office/powerpoint/2010/main" val="8046948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ED4F85-F13D-49A7-A4B1-A17C63AE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33350"/>
            <a:ext cx="16630650" cy="8172450"/>
          </a:xfrm>
          <a:prstGeom xmlns:a="http://schemas.openxmlformats.org/drawingml/2006/main" prst="roundRect">
            <a:avLst>
              <a:gd name="adj" fmla="val 1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11111"/>
            </a:solidFill>
            <a:prstDash val="dash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20555-A029-4C59-A280-7D485107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57175"/>
            <a:ext cx="160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250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创新意义、评测指标与可证伪结论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CEDA15-3277-444B-AC87-2B8F9BFF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85800"/>
            <a:ext cx="1590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333333"/>
                </a:solidFill>
                <a:latin typeface="SimSun"/>
                <a:ea typeface="SimSun"/>
                <a:cs typeface="SimSun"/>
              </a:defRPr>
            </a:pPr>
            <a:r>
              <a:rPr sz="1275" b="0" i="1">
                <a:solidFill>
                  <a:srgbClr val="333333"/>
                </a:solidFill>
                <a:latin typeface="SimSun"/>
                <a:ea typeface="SimSun"/>
                <a:cs typeface="SimSun"/>
              </a:rPr>
              <a:t>主结论先在 Retrieval-only 条件下成立，再评估对生成答案的影响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174D3-FAEB-4DB6-85B0-50B0B285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104900"/>
            <a:ext cx="1609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风险敏感评测指标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31C4D7-3664-43E5-8416-2BEA9A5D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514475"/>
            <a:ext cx="7905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8573">
            <a:solidFill>
              <a:srgbClr val="77777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AA260-D669-491D-920E-7E6319A1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52575"/>
            <a:ext cx="7753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63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3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SafeRecall@K = |Q|⁻¹ Σq 𝟙[rq⁺≤K] · 𝟙[rq⁺ &lt; min d⁻∈Dqʳⁱˢᵏ rq(d⁻)]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8936F1-99CD-4B18-B69B-4EEC3B12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14475"/>
            <a:ext cx="7905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8573">
            <a:solidFill>
              <a:srgbClr val="77777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C68F6D-0DE1-4EC1-A62C-2935B873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52575"/>
            <a:ext cx="7753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NMER@K = (K|Q|)⁻¹ Σq Σd∈TopK(q) 𝟙[d∈Dqʳⁱˢᵏ]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0BA251-1901-4B52-8DC4-6901A213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24100"/>
            <a:ext cx="7677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163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正确对象进入 Top-K，且其前方不存在高风险冲突候选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A24F1A-13A8-48DD-87CD-A23C6226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24100"/>
            <a:ext cx="7677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163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Top-K 中高风险候选的平均占比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D8016A-D8B8-4D21-8007-093E6C3C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686050"/>
            <a:ext cx="790575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8573">
            <a:solidFill>
              <a:srgbClr val="77777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4A50C8-5A02-4246-82E4-32D810A9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24150"/>
            <a:ext cx="7753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63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3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rnDCG@K = Zq⁻¹ Σⱼ₌₁ᴷ [2^(g(q,dⱼ)−ηR(q,dⱼ)) − 1] / log₂(j+1)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DEBDB7-6284-4F5C-BCE4-91866961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86050"/>
            <a:ext cx="790575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8573">
            <a:solidFill>
              <a:srgbClr val="77777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366F3E-50EB-4010-9513-E004FA76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24150"/>
            <a:ext cx="7753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88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88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Coverage(τ)=|{q:cq≥τ}|/|Q|,   SelRisk(τ)=Σq:Rq·𝟙[cq≥τ]/Σq𝟙[cq≥τ]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96327C-7BD3-4DEE-BC88-8299ED2A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14725"/>
            <a:ext cx="7677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163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相关性增益扣除结构风险，Zq 为理想排序归一化项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528A8F-B889-4854-B63E-4353E3CD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14725"/>
            <a:ext cx="7677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163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用风险-覆盖率曲线评价拒答，而不是只展示单一阈值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282990-DEBA-40CE-8B9E-007E7F82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933825"/>
            <a:ext cx="1611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0A0A0"/>
            </a:solidFill>
            <a:prstDash val="dash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2B0F3C-E40E-4FAE-A20D-74E0E795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105275"/>
            <a:ext cx="5162550" cy="2638425"/>
          </a:xfrm>
          <a:prstGeom xmlns:a="http://schemas.openxmlformats.org/drawingml/2006/main" prst="roundRect">
            <a:avLst>
              <a:gd name="adj" fmla="val 32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11111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53FA5B-F1D4-4681-B8CE-EE43BB20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105275"/>
            <a:ext cx="5162550" cy="2638425"/>
          </a:xfrm>
          <a:prstGeom xmlns:a="http://schemas.openxmlformats.org/drawingml/2006/main" prst="roundRect">
            <a:avLst>
              <a:gd name="adj" fmla="val 32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11111"/>
            </a:solidFill>
            <a:prstDash val="dash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6265D5-A28C-4A4F-B002-4F4DE07E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105275"/>
            <a:ext cx="5105400" cy="2638425"/>
          </a:xfrm>
          <a:prstGeom xmlns:a="http://schemas.openxmlformats.org/drawingml/2006/main" prst="roundRect">
            <a:avLst>
              <a:gd name="adj" fmla="val 32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11111"/>
            </a:solidFill>
            <a:prstDash val="dash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F7449B-1950-482A-8A3E-7899180B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191000"/>
            <a:ext cx="4991100" cy="4667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721D29-BEB9-4A11-B19D-AEBE27EA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210050"/>
            <a:ext cx="514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4C1B6C-0707-4260-A923-A471668B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0050"/>
            <a:ext cx="42767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科学创新意义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B4FCF5-814B-4FE8-B10C-F8E57F3B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191000"/>
            <a:ext cx="4991100" cy="4667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7DDD05-0055-4EC1-B481-7759397D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210050"/>
            <a:ext cx="514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052F71-DC24-44FF-A03F-944B2AC8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10050"/>
            <a:ext cx="42767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工程与领域意义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81BBC8-2709-431F-9EC6-DF102A54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4191000"/>
            <a:ext cx="4933950" cy="4667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E3A894-6522-41DA-ABE0-C7980A7B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4210050"/>
            <a:ext cx="514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B657B0-8600-440D-A24E-CD8CAC42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4210050"/>
            <a:ext cx="4219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验证闭环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7AE2F5-7391-49C3-9DCB-04A79743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81550"/>
            <a:ext cx="4791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38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把对象错配代价纳入候选排序目标，补足纯相关性指标的盲区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A8ED52-AEF9-45A1-85D9-932F3A4B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29225"/>
            <a:ext cx="4791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38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把负样本难度定位到单一结构字段，使训练信号可解释、可复现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890E06-D373-4F60-842B-F0CC4EB7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76900"/>
            <a:ext cx="4791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38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用结构 OOD 区分规则学习与命名模板记忆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419AE8-FE53-4C6C-B006-700969D5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24575"/>
            <a:ext cx="4791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38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形成风险定义、训练机制、泛化证据相互支撑的贡献链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05D209-C3F6-456E-9DCE-6076BC5F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81550"/>
            <a:ext cx="4791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38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降低区域、设备、信号近邻被误引用的概率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1D7AB0-BDCB-4A0F-A6DF-159972B2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29225"/>
            <a:ext cx="4791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38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利用现有 IOC/PV Registry 与文档资产，不依赖虚构故障统计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ED7F63-C6F0-4D92-8B0C-5D0C1473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676900"/>
            <a:ext cx="4791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38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低置信时请求澄清或拒答，适合控制知识的审慎使用场景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340CA6-6A4C-41D7-B45C-65B13BEA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6124575"/>
            <a:ext cx="4791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38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输出可追溯 evidence、实体字段、风险类型与 Registry 版本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936060-5348-410B-A55C-DF074184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4781550"/>
            <a:ext cx="4724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9416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00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Oracle Expert 衡量检索通道互补性，Oracle Risk Filter 衡量风险上限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F8359B-5295-4190-89B4-64A09763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5229225"/>
            <a:ext cx="4724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00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标准指标与自定义风险指标并列，报告完整风险-召回权衡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D6785D-143D-4E6E-A41B-FECAD498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5676900"/>
            <a:ext cx="4724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00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随机与结构留出分别报告，使用 paired bootstrap 置信区间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15D885F-6831-4B26-BA2F-F48EF4B1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124575"/>
            <a:ext cx="4724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00" b="0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•  逐项消融并预先定义失败条件，避免事后选择有利结论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4CCDD5-1D5F-435A-9D8C-2B24F71C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962775"/>
            <a:ext cx="161163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3D7401-BF9B-46C8-8085-0DBE473D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03897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Go / No-Go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526EFC-A7F2-47FC-8D84-F26C00A6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096125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77777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C2BC2BC-DD9E-43E2-85BE-F88B2C5C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7048500"/>
            <a:ext cx="13287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350" b="1" i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若 Expert Oracle Gap 小而 Risk Oracle Gap 明显，停止学习式路由，采用固定混合 + 候选级风险重排；若两者均小，转向 Benchmark 与错误分类；若风险优势只在随机划分出现，则停止结构泛化主张。</a:t>
            </a:r>
          </a:p>
        </p:txBody>
      </p:sp>
    </p:spTree>
    <p:extLst>
      <p:ext uri="{BB962C8B-B14F-4D97-AF65-F5344CB8AC3E}">
        <p14:creationId xmlns:p14="http://schemas.microsoft.com/office/powerpoint/2010/main" val="199430956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2026-09-08T09:44:24.7710000Z</dcterms:created>
  <dcterms:modified xsi:type="dcterms:W3CDTF">2026-09-08T09:44:24.7710000Z</dcterms:modified>
</coreProperties>
</file>