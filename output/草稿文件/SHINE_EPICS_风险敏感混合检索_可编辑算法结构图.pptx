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c2155381d401c" /><Relationship Type="http://schemas.openxmlformats.org/officeDocument/2006/relationships/extended-properties" Target="/docProps/app.xml" Id="Rc49ca96cb1b042ae" /><Relationship Type="http://schemas.openxmlformats.org/officeDocument/2006/relationships/officeDocument" Target="/ppt/presentation.xml" Id="Rd161f06d0b48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979a7c7c049b6"/>
  </p:sldMasterIdLst>
  <p:notesMasterIdLst>
    <p:notesMasterId xmlns:r="http://schemas.openxmlformats.org/officeDocument/2006/relationships" r:id="R39eec4ce8da54aed"/>
  </p:notesMasterIdLst>
  <p:sldIdLst>
    <p:sldId xmlns:r="http://schemas.openxmlformats.org/officeDocument/2006/relationships" id="256" r:id="Re4169fc2efe7407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1eaf40a3b4bad" /><Relationship Type="http://schemas.openxmlformats.org/officeDocument/2006/relationships/slideMaster" Target="/ppt/slideMasters/slideMaster1.xml" Id="R878979a7c7c049b6" /><Relationship Type="http://schemas.openxmlformats.org/officeDocument/2006/relationships/notesMaster" Target="/ppt/notesMasters/notesMaster1.xml" Id="R39eec4ce8da54aed" /><Relationship Type="http://schemas.openxmlformats.org/officeDocument/2006/relationships/presProps" Target="/ppt/presProps.xml" Id="R85a1d82bbe794b5c" /><Relationship Type="http://schemas.openxmlformats.org/officeDocument/2006/relationships/tableStyles" Target="/ppt/tableStyles.xml" Id="R027125c0f8a9427f" /><Relationship Type="http://schemas.openxmlformats.org/officeDocument/2006/relationships/slide" Target="/ppt/slides/slide1.xml" Id="Re4169fc2efe7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95e1f3549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a6483663e4981" /><Relationship Type="http://schemas.openxmlformats.org/officeDocument/2006/relationships/notesMaster" Target="/ppt/notesMasters/notesMaster1.xml" Id="R3345b27c7a6943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SHINE_EPICS_风险敏感混合检索_综合研究设计报告.pdf, sections 9-13, especially Figure 10-1 and formulas (1)-(5). This editable diagram interprets the report's recommended layered architecture: the pre-router controls channel budget and initial weights, while control-object risk acts at candidate level before final fusion.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4eb29650942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990d5c2fd4167" /><Relationship Type="http://schemas.openxmlformats.org/officeDocument/2006/relationships/slideLayout" Target="/ppt/slideLayouts/slideLayout1.xml" Id="Re446c44927fe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6c44927fe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d05515c1f4373" /><Relationship Type="http://schemas.openxmlformats.org/officeDocument/2006/relationships/notesSlide" Target="/ppt/notesSlides/notesSlide1.xml" Id="R5e05e08ae05f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751091-CC74-488C-8403-F985607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SHINE EPICS 风险敏感混合检索算法结构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81C81-F749-466C-B595-F83520D0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1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1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Risk-Sensitive Hybrid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1609F-616C-4164-8182-0E3456BA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424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" name="在线检索与回答-frame">
            <a:extLst xmlns:a="http://schemas.openxmlformats.org/drawingml/2006/main">
              <a:ext uri="{FF2B5EF4-FFF2-40B4-BE49-F238E27FC236}">
                <a16:creationId xmlns:a16="http://schemas.microsoft.com/office/drawing/2014/main" id="{1CDE3C3E-C152-404A-897D-7A2DDF7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443990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268B4E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53F7-90B7-4FD9-80B2-3972D2A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1790700" cy="295275"/>
          </a:xfrm>
          <a:prstGeom xmlns:a="http://schemas.openxmlformats.org/drawingml/2006/main" prst="roundRect">
            <a:avLst>
              <a:gd name="adj" fmla="val 45161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14288">
            <a:solidFill>
              <a:srgbClr val="268B4E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274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8B4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68B4E"/>
                </a:solidFill>
                <a:latin typeface="Noto Sans CJK SC"/>
                <a:ea typeface="Noto Sans CJK SC"/>
                <a:cs typeface="Noto Sans CJK SC"/>
              </a:rPr>
              <a:t>在线检索与回答</a:t>
            </a:r>
          </a:p>
        </p:txBody>
      </p:sp>
      <p:sp>
        <p:nvSpPr>
          <p:cNvPr id="6" name="离线数据与训练-frame">
            <a:extLst xmlns:a="http://schemas.openxmlformats.org/drawingml/2006/main">
              <a:ext uri="{FF2B5EF4-FFF2-40B4-BE49-F238E27FC236}">
                <a16:creationId xmlns:a16="http://schemas.microsoft.com/office/drawing/2014/main" id="{4B4A97C6-1B90-4FA7-8782-ED465EF1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44399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EA6A2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5D9DA-A8C0-4B17-8EB2-5BA07C8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790700" cy="295275"/>
          </a:xfrm>
          <a:prstGeom xmlns:a="http://schemas.openxmlformats.org/drawingml/2006/main" prst="roundRect">
            <a:avLst>
              <a:gd name="adj" fmla="val 45161"/>
            </a:avLst>
          </a:prstGeom>
          <a:solidFill xmlns:a="http://schemas.openxmlformats.org/drawingml/2006/main">
            <a:srgbClr val="FFF6EE"/>
          </a:solidFill>
          <a:ln xmlns:a="http://schemas.openxmlformats.org/drawingml/2006/main" w="14288">
            <a:solidFill>
              <a:srgbClr val="EA6A2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274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6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EA6A2A"/>
                </a:solidFill>
                <a:latin typeface="Noto Sans CJK SC"/>
                <a:ea typeface="Noto Sans CJK SC"/>
                <a:cs typeface="Noto Sans CJK SC"/>
              </a:rPr>
              <a:t>离线数据与训练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D603-E959-4D7C-8A7D-4A489675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① 查询理解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BE16B-74A9-4B3E-BA8B-6DB5695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解析目标对象与检索意图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90AB-26D2-49E4-A192-55CC5BC9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906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② 并行检索专家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36DF-818C-4B0D-8CD5-26A98210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74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Router 仅分配通道预算与初始权重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0CF8C-F392-429A-B1C7-61E429F4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90625"/>
            <a:ext cx="3162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③ 候选级风险建模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22D2A-4891-46CF-9F91-9DBD99C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逐候选检查结构冲突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B58E0-B622-4049-B0D3-59D57AA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190625"/>
            <a:ext cx="251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④ 融合、拒答与生成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9BE57-1464-496D-A27A-9509A54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287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相关性与控制风险共同决策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4A724-4A80-4DB8-95BE-C6C007F1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383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D1D5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C37FA-67AD-4251-AB16-7432AAC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383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D1D5"/>
            </a:solidFill>
            <a:prstDash val="dot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D9A30-F302-4EF1-820F-731F9E09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16383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D1D5"/>
            </a:solidFill>
            <a:prstDash val="dot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AE52D-C5C1-4B82-A09A-6B48EF7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4288">
            <a:solidFill>
              <a:srgbClr val="17252C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936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用户查询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“INJ1 BUNCHER 的 PHASE 回读量”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39D8C-1E84-4345-83FA-08ED073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2374A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实体与词法解析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area · subsystem · device ·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B1B0F-31A5-4CA1-B893-6C8AFE5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14288">
            <a:solidFill>
              <a:srgbClr val="268B4E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Pre-Router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通道预算 + 初始权重  wᵢ(q)</a:t>
            </a:r>
          </a:p>
        </p:txBody>
      </p:sp>
      <p:cxnSp>
        <p:nvCxnSpPr>
          <p:cNvPr id="109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857375" y="24955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52C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857375" y="36195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8B4E"/>
            </a:solidFill>
            <a:prstDash val="solid"/>
            <a:tailEnd type="triangle" w="sm" len="sm"/>
          </a:ln>
        </p:spPr>
      </p:cxnSp>
      <p:sp>
        <p:nvSpPr>
          <p:cNvPr id="24" name="expert-BM25 Expert">
            <a:extLst xmlns:a="http://schemas.openxmlformats.org/drawingml/2006/main">
              <a:ext uri="{FF2B5EF4-FFF2-40B4-BE49-F238E27FC236}">
                <a16:creationId xmlns:a16="http://schemas.microsoft.com/office/drawing/2014/main" id="{C0FF8D69-5F10-4850-8FDE-E6A729F0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24050"/>
            <a:ext cx="195262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15240">
            <a:solidFill>
              <a:srgbClr val="6C7C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6E66C-4CF8-4B3D-8847-04DA773C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09775"/>
            <a:ext cx="1800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BM25 Expert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9D0FA-3294-4756-B8BC-1E2D5678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955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精确术语、缩写、PV 片段</a:t>
            </a:r>
          </a:p>
        </p:txBody>
      </p:sp>
      <p:sp>
        <p:nvSpPr>
          <p:cNvPr id="27" name="expert-Dense Expert">
            <a:extLst xmlns:a="http://schemas.openxmlformats.org/drawingml/2006/main">
              <a:ext uri="{FF2B5EF4-FFF2-40B4-BE49-F238E27FC236}">
                <a16:creationId xmlns:a16="http://schemas.microsoft.com/office/drawing/2014/main" id="{0E68A8D8-746B-44F7-AEEF-297AFD98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95262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2374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06283-A2EC-48BF-8662-7C16E90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09775"/>
            <a:ext cx="1800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Dense Expert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0095C-423C-4EFE-8B02-0A99A56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955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概念、同义改写、长查询</a:t>
            </a:r>
          </a:p>
        </p:txBody>
      </p:sp>
      <p:sp>
        <p:nvSpPr>
          <p:cNvPr id="30" name="expert-PV / Registry">
            <a:extLst xmlns:a="http://schemas.openxmlformats.org/drawingml/2006/main">
              <a:ext uri="{FF2B5EF4-FFF2-40B4-BE49-F238E27FC236}">
                <a16:creationId xmlns:a16="http://schemas.microsoft.com/office/drawing/2014/main" id="{BAA255A8-6580-4604-80E5-A8DC6F8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195262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5240">
            <a:solidFill>
              <a:srgbClr val="008E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C033D-CD12-4F61-AEA7-49B931C1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05175"/>
            <a:ext cx="1800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PV / Registry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BC49A9-E0D1-420C-BE65-D913CA4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909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实体定位、命名与有效性</a:t>
            </a:r>
          </a:p>
        </p:txBody>
      </p:sp>
      <p:sp>
        <p:nvSpPr>
          <p:cNvPr id="33" name="expert-Metadata Expert">
            <a:extLst xmlns:a="http://schemas.openxmlformats.org/drawingml/2006/main">
              <a:ext uri="{FF2B5EF4-FFF2-40B4-BE49-F238E27FC236}">
                <a16:creationId xmlns:a16="http://schemas.microsoft.com/office/drawing/2014/main" id="{5CE698EB-9B72-4DF6-B265-71B0273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195262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EDFA"/>
          </a:solidFill>
          <a:ln xmlns:a="http://schemas.openxmlformats.org/drawingml/2006/main" w="15240">
            <a:solidFill>
              <a:srgbClr val="7356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2E8B3-D5D8-4501-87EE-8051DB0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05175"/>
            <a:ext cx="1800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Metadata Expert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F48B48-3286-4CA8-8ABC-05C279E7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90925"/>
            <a:ext cx="1800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子系统、文档类型与版本</a:t>
            </a:r>
          </a:p>
        </p:txBody>
      </p:sp>
      <p:cxnSp>
        <p:nvCxnSpPr>
          <p:cNvPr id="123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3048000" y="2295525"/>
            <a:ext cx="809625" cy="2066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68B4E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21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3048000" y="2295525"/>
            <a:ext cx="3000375" cy="2066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68B4E"/>
            </a:solidFill>
            <a:prstDash val="solid"/>
            <a:tailEnd type="triangle" w="sm" len="sm"/>
          </a:ln>
        </p:spPr>
      </p:cxnSp>
      <p:cxnSp>
        <p:nvCxnSpPr>
          <p:cNvPr id="125" name=""/>
          <p:cNvCxnSpPr>
            <a:stCxn xmlns:a="http://schemas.openxmlformats.org/drawingml/2006/main" id="21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3048000" y="3590925"/>
            <a:ext cx="80962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68B4E"/>
            </a:solidFill>
            <a:prstDash val="soli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2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3048000" y="3590925"/>
            <a:ext cx="300037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68B4E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A465A6-5B31-4853-878D-59EC84A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10763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7C83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038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7C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6C7C83"/>
                </a:solidFill>
                <a:latin typeface="Noto Sans CJK SC"/>
                <a:ea typeface="Noto Sans CJK SC"/>
                <a:cs typeface="Noto Sans CJK SC"/>
              </a:rPr>
              <a:t>Top-K candidates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91A09D-3F07-4776-8744-3D056CD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24150"/>
            <a:ext cx="10763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74A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038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374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374A6"/>
                </a:solidFill>
                <a:latin typeface="Noto Sans CJK SC"/>
                <a:ea typeface="Noto Sans CJK SC"/>
                <a:cs typeface="Noto Sans CJK SC"/>
              </a:rPr>
              <a:t>Top-K candidates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D1AFDA-E9EE-40B9-8745-D0495619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19550"/>
            <a:ext cx="10763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8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038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8E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008E86"/>
                </a:solidFill>
                <a:latin typeface="Noto Sans CJK SC"/>
                <a:ea typeface="Noto Sans CJK SC"/>
                <a:cs typeface="Noto Sans CJK SC"/>
              </a:rPr>
              <a:t>Top-K candidates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DAFBE-C50C-4081-B3D4-D638A217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19550"/>
            <a:ext cx="10763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6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6038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356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356A8"/>
                </a:solidFill>
                <a:latin typeface="Noto Sans CJK SC"/>
                <a:ea typeface="Noto Sans CJK SC"/>
                <a:cs typeface="Noto Sans CJK SC"/>
              </a:rPr>
              <a:t>Top-K candidates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1F7680-73DB-43DF-85B6-A056C12F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52636C"/>
                </a:solidFill>
                <a:latin typeface="Noto Sans CJK SC"/>
                <a:ea typeface="Noto Sans CJK SC"/>
                <a:cs typeface="Noto Sans CJK SC"/>
              </a:rPr>
              <a:t>统一 SearchResult：rank · score · source · metadata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1AFC52-55C2-43DC-BD3A-5911E5C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66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7252C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Candidate Normalization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证据单元、排名与来源元数据统一</a:t>
            </a:r>
          </a:p>
        </p:txBody>
      </p:sp>
      <p:cxnSp>
        <p:nvCxnSpPr>
          <p:cNvPr id="133" name=""/>
          <p:cNvCxnSpPr>
            <a:stCxn xmlns:a="http://schemas.openxmlformats.org/drawingml/2006/main" id="2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5810250" y="2200275"/>
            <a:ext cx="31051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858C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27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8001000" y="2200275"/>
            <a:ext cx="9144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858C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30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5810250" y="2200275"/>
            <a:ext cx="3105150" cy="1390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858C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3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8001000" y="2200275"/>
            <a:ext cx="914400" cy="1390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858C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BBB030-7CF1-4950-889F-242D6EE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DEB"/>
          </a:solidFill>
          <a:ln xmlns:a="http://schemas.openxmlformats.org/drawingml/2006/main" w="14288">
            <a:solidFill>
              <a:srgbClr val="C8463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Control-object Risk Scorer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查询结构 × 候选结构 × Registry</a:t>
            </a:r>
          </a:p>
        </p:txBody>
      </p:sp>
      <p:cxnSp>
        <p:nvCxnSpPr>
          <p:cNvPr id="138" name=""/>
          <p:cNvCxnSpPr>
            <a:stCxn xmlns:a="http://schemas.openxmlformats.org/drawingml/2006/main" id="45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248900" y="25908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463A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3B91F3-F150-4B6C-BBA5-FE848EF9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5524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C9C4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Eₐ</a:t>
            </a:r>
          </a:p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区域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F13B33-8626-49EE-8B74-EC3873E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5524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D7B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Eₛ</a:t>
            </a:r>
          </a:p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子系统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0605A-3AA1-4203-ADBD-AF55F07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71950"/>
            <a:ext cx="5524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3A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Eᵥ</a:t>
            </a:r>
          </a:p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75A3F5-B875-4D5F-B7B4-7386E7C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71950"/>
            <a:ext cx="5524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DEBE6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Eg</a:t>
            </a:r>
          </a:p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信号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275D63-0B71-4D7C-935C-8A2D475B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171950"/>
            <a:ext cx="7810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D0EE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Eu</a:t>
            </a:r>
          </a:p>
          <a:p xmlns:a="http://schemas.openxmlformats.org/drawingml/2006/main">
            <a:pPr algn="ctr">
              <a:def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无效标识符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DB2617-2CE0-4959-8786-9B981595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8463A"/>
                </a:solidFill>
                <a:latin typeface="Noto Sans CJK SC"/>
                <a:ea typeface="Noto Sans CJK SC"/>
                <a:cs typeface="Noto Sans CJK SC"/>
              </a:rPr>
              <a:t>R(q,d)=βaEa+βsEs+βvEv+βgEg+βuEu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E350BC-9359-4757-8AAB-A85E387E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1771650"/>
            <a:ext cx="2076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4288">
            <a:solidFill>
              <a:srgbClr val="C78600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Risk-aware Fusion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RRF + rerank − λ · risk</a:t>
            </a:r>
          </a:p>
        </p:txBody>
      </p:sp>
      <p:cxnSp>
        <p:nvCxnSpPr>
          <p:cNvPr id="146" name=""/>
          <p:cNvCxnSpPr>
            <a:stCxn xmlns:a="http://schemas.openxmlformats.org/drawingml/2006/main" id="45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V="1">
            <a:off x="11582400" y="2181225"/>
            <a:ext cx="72390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78600"/>
            </a:solidFill>
            <a:prstDash val="soli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50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V="1">
            <a:off x="11582400" y="2181225"/>
            <a:ext cx="723900" cy="1323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463A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DD3789-153C-4939-9B3F-85F7564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086100"/>
            <a:ext cx="2076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EA6A2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Confidence / Abstention</a:t>
            </a:r>
          </a:p>
          <a:p xmlns:a="http://schemas.openxmlformats.org/drawingml/2006/main">
            <a:pPr algn="ctr">
              <a:def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回答 · 请求澄清 · 拒答</a:t>
            </a:r>
          </a:p>
        </p:txBody>
      </p:sp>
      <p:cxnSp>
        <p:nvCxnSpPr>
          <p:cNvPr id="149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13344525" y="25908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52C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D7DFE9-789C-4EBC-B29F-417267F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2672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AF4"/>
          </a:solidFill>
          <a:ln xmlns:a="http://schemas.openxmlformats.org/drawingml/2006/main" w="14288">
            <a:solidFill>
              <a:srgbClr val="268B4E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Top-K 安全证据</a:t>
            </a:r>
          </a:p>
          <a:p xmlns:a="http://schemas.openxmlformats.org/drawingml/2006/main">
            <a:pPr algn="ctr">
              <a:def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LLM 生成带来源答案</a:t>
            </a:r>
          </a:p>
        </p:txBody>
      </p:sp>
      <p:cxnSp>
        <p:nvCxnSpPr>
          <p:cNvPr id="151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3344525" y="3810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8B4E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23FD31-CDA6-42C1-8AF7-1F0CF7AD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80391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CCD5D9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核心边界：Router 管理检索通道；Risk Scorer 在同一通道内部识别“有效但错误”的危险近邻。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5C605E-DC44-4110-B18F-0614361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6212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4288">
            <a:solidFill>
              <a:srgbClr val="EA6A2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设计报告 / 操作手册</a:t>
            </a:r>
          </a:p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章节、段落、表格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B85BE9-3DD6-48D4-9013-F4AF6B58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86625"/>
            <a:ext cx="176212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4288">
            <a:solidFill>
              <a:srgbClr val="008E8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90555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Registry 快照</a:t>
            </a:r>
          </a:p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PV · IOC · 控制对象字段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AB1838-C9C6-40EA-B630-620ECEBF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67500"/>
            <a:ext cx="2143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4288">
            <a:solidFill>
              <a:srgbClr val="17252C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结构化预处理</a:t>
            </a:r>
          </a:p>
          <a:p xmlns:a="http://schemas.openxmlformats.org/drawingml/2006/main">
            <a:pPr algn="ctr">
              <a:def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文档切块与实体链接</a:t>
            </a:r>
          </a:p>
          <a:p xmlns:a="http://schemas.openxmlformats.org/drawingml/2006/main">
            <a:pPr algn="ctr">
              <a:def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Registry 规范化与版本控制</a:t>
            </a:r>
          </a:p>
        </p:txBody>
      </p:sp>
      <p:cxnSp>
        <p:nvCxnSpPr>
          <p:cNvPr id="156" name=""/>
          <p:cNvCxnSpPr>
            <a:stCxn xmlns:a="http://schemas.openxmlformats.org/drawingml/2006/main" id="66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428875" y="6786563"/>
            <a:ext cx="523875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A6A2A"/>
            </a:solidFill>
            <a:prstDash val="solid"/>
            <a:tailEnd type="triangle" w="sm" len="sm"/>
          </a:ln>
        </p:spPr>
      </p:cxnSp>
      <p:cxnSp>
        <p:nvCxnSpPr>
          <p:cNvPr id="15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 flipV="1">
            <a:off x="2428875" y="7153275"/>
            <a:ext cx="523875" cy="433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E86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DD65DD-3780-4D71-B4C4-19F20A9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91275"/>
            <a:ext cx="271462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A6A2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FCE972-152D-4C19-A53F-6CD4671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674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多通道索引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B1221E-38C5-4572-8A15-15FF3CA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753225"/>
            <a:ext cx="2333625" cy="21907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7620">
            <a:solidFill>
              <a:srgbClr val="6C7C83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7807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BM25 倒排索引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10EE13-988F-4DC3-AFE2-9BBBD1B0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010400"/>
            <a:ext cx="2333625" cy="21907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7620">
            <a:solidFill>
              <a:srgbClr val="2374A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7807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Dense 向量索引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540F8D-80C0-410E-A36B-30D037D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267575"/>
            <a:ext cx="2333625" cy="21907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7620">
            <a:solidFill>
              <a:srgbClr val="008E86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7807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PV / Registry 索引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3049E9-0A52-4E75-90AB-BF65F9B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524750"/>
            <a:ext cx="2333625" cy="21907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EDFA"/>
          </a:solidFill>
          <a:ln xmlns:a="http://schemas.openxmlformats.org/drawingml/2006/main" w="7620">
            <a:solidFill>
              <a:srgbClr val="7356A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7807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Metadata 索引</a:t>
            </a:r>
          </a:p>
        </p:txBody>
      </p:sp>
      <p:cxnSp>
        <p:nvCxnSpPr>
          <p:cNvPr id="164" name=""/>
          <p:cNvCxnSpPr>
            <a:stCxn xmlns:a="http://schemas.openxmlformats.org/drawingml/2006/main" id="68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 flipV="1">
            <a:off x="5095875" y="7077075"/>
            <a:ext cx="619125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A6A2A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9A3E4B-2733-4782-B38C-258950D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29375"/>
            <a:ext cx="21717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6EE"/>
          </a:solidFill>
          <a:ln xmlns:a="http://schemas.openxmlformats.org/drawingml/2006/main" w="14288">
            <a:solidFill>
              <a:srgbClr val="EA6A2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85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先结构划分，再生成负样本</a:t>
            </a:r>
          </a:p>
          <a:p xmlns:a="http://schemas.openxmlformats.org/drawingml/2006/main">
            <a:pPr algn="ctr">
              <a:def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subsystem / device family / pattern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49AAD0-6E2A-454A-A6D4-0A31749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191375"/>
            <a:ext cx="21717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DEB"/>
          </a:solidFill>
          <a:ln xmlns:a="http://schemas.openxmlformats.org/drawingml/2006/main" w="14288">
            <a:solidFill>
              <a:srgbClr val="C8463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结构保持反事实负样本</a:t>
            </a:r>
          </a:p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只替换一个关键字段</a:t>
            </a:r>
          </a:p>
        </p:txBody>
      </p:sp>
      <p:cxnSp>
        <p:nvCxnSpPr>
          <p:cNvPr id="167" name=""/>
          <p:cNvCxnSpPr>
            <a:stCxn xmlns:a="http://schemas.openxmlformats.org/drawingml/2006/main" id="68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5095875" y="6686550"/>
            <a:ext cx="3952875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A6A2A"/>
            </a:solidFill>
            <a:prstDash val="solid"/>
            <a:tailEnd type="triangle" w="sm" len="sm"/>
          </a:ln>
        </p:spPr>
      </p:cxnSp>
      <p:cxnSp>
        <p:nvCxnSpPr>
          <p:cNvPr id="16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10134600" y="6943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463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43D1A5-0142-45E3-AB2A-F6C84A37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705600"/>
            <a:ext cx="2476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CEDEB"/>
          </a:solidFill>
          <a:ln xmlns:a="http://schemas.openxmlformats.org/drawingml/2006/main" w="14288">
            <a:solidFill>
              <a:srgbClr val="C8463A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风险模型训练 / 校准</a:t>
            </a:r>
          </a:p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valid-but-wrong 与 invalid-but-plausible</a:t>
            </a:r>
          </a:p>
          <a:p xmlns:a="http://schemas.openxmlformats.org/drawingml/2006/main">
            <a:pPr algn="ctr">
              <a:def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252C"/>
                </a:solidFill>
                <a:latin typeface="Noto Sans CJK SC"/>
                <a:ea typeface="Noto Sans CJK SC"/>
                <a:cs typeface="Noto Sans CJK SC"/>
              </a:rPr>
              <a:t>分开训练、分开报告</a:t>
            </a:r>
          </a:p>
        </p:txBody>
      </p:sp>
      <p:cxnSp>
        <p:nvCxnSpPr>
          <p:cNvPr id="170" name=""/>
          <p:cNvCxnSpPr>
            <a:stCxn xmlns:a="http://schemas.openxmlformats.org/drawingml/2006/main" id="79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V="1">
            <a:off x="11220450" y="7153275"/>
            <a:ext cx="638175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463A"/>
            </a:solidFill>
            <a:prstDash val="solid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71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H="1" flipV="1">
            <a:off x="4833938" y="2667000"/>
            <a:ext cx="2238375" cy="3724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EA6A2A"/>
            </a:solidFill>
            <a:prstDash val="dash"/>
            <a:tailEnd type="triangle" w="sm" len="sm"/>
          </a:ln>
        </p:spPr>
      </p:cxnSp>
      <p:cxnSp>
        <p:nvCxnSpPr>
          <p:cNvPr id="172" name=""/>
          <p:cNvCxnSpPr>
            <a:stCxn xmlns:a="http://schemas.openxmlformats.org/drawingml/2006/main" id="82" idx="0"/>
            <a:endCxn xmlns:a="http://schemas.openxmlformats.org/drawingml/2006/main" id="50" idx="2"/>
          </p:cNvCxnSpPr>
          <p:nvPr/>
        </p:nvCxnSpPr>
        <p:spPr>
          <a:xfrm xmlns:a="http://schemas.openxmlformats.org/drawingml/2006/main" flipH="1" flipV="1">
            <a:off x="10248900" y="3943350"/>
            <a:ext cx="2847975" cy="2762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C8463A"/>
            </a:solidFill>
            <a:prstDash val="dash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EB9D77-1F28-4EDE-8134-3ED90621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626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EA6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EA6A2A"/>
                </a:solidFill>
                <a:latin typeface="Noto Sans CJK SC"/>
                <a:ea typeface="Noto Sans CJK SC"/>
                <a:cs typeface="Noto Sans CJK SC"/>
              </a:rPr>
              <a:t>索引供在线检索调用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743806-A727-4BCC-95C3-19818AE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9626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 i="0">
                <a:solidFill>
                  <a:srgbClr val="C8463A"/>
                </a:solidFill>
                <a:latin typeface="Noto Sans CJK SC"/>
                <a:ea typeface="Noto Sans CJK SC"/>
                <a:cs typeface="Noto Sans CJK SC"/>
              </a:rPr>
              <a:t>训练后的风险评分器上线</a:t>
            </a:r>
          </a:p>
        </p:txBody>
      </p:sp>
    </p:spTree>
    <p:extLst>
      <p:ext uri="{BB962C8B-B14F-4D97-AF65-F5344CB8AC3E}">
        <p14:creationId xmlns:p14="http://schemas.microsoft.com/office/powerpoint/2010/main" val="284676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2026-09-08T06:46:38.9630000Z</dcterms:created>
  <dcterms:modified xsi:type="dcterms:W3CDTF">2026-09-08T06:46:38.9630000Z</dcterms:modified>
</coreProperties>
</file>