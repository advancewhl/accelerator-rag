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6897350" cy="8448675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zh-CN" sz="4400" spc="-1" strike="noStrike">
                <a:latin typeface="Arial"/>
              </a:rPr>
              <a:t>单击</a:t>
            </a:r>
            <a:r>
              <a:rPr b="0" lang="zh-CN" sz="4400" spc="-1" strike="noStrike">
                <a:latin typeface="Arial"/>
              </a:rPr>
              <a:t>以移</a:t>
            </a:r>
            <a:r>
              <a:rPr b="0" lang="zh-CN" sz="4400" spc="-1" strike="noStrike">
                <a:latin typeface="Arial"/>
              </a:rPr>
              <a:t>动幻</a:t>
            </a:r>
            <a:r>
              <a:rPr b="0" lang="zh-CN" sz="4400" spc="-1" strike="noStrike">
                <a:latin typeface="Arial"/>
              </a:rPr>
              <a:t>灯片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2000" spc="-1" strike="noStrike">
                <a:latin typeface="Arial"/>
              </a:rPr>
              <a:t>点击编辑</a:t>
            </a:r>
            <a:r>
              <a:rPr b="0" lang="zh-CN" sz="2000" spc="-1" strike="noStrike">
                <a:latin typeface="Arial"/>
              </a:rPr>
              <a:t>备注格式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&lt;页眉&gt;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&lt;日期/时间&gt;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&lt;页脚&gt;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6B51596-8738-4EF4-A75D-D33AD253C9DE}" type="slidenum">
              <a:rPr b="0" lang="en-US" sz="1400" spc="-1" strike="noStrike">
                <a:latin typeface="Times New Roman"/>
              </a:rPr>
              <a:t>&lt;编号&gt;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Editable English reconstruction of the user-provided reference image. All frames, boxes, arrows, and labels are native PowerPoint objects. Font: Times New Roman.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Editable Chinese reconstruction of the user-provided reference image. All frames, boxes, arrows, and labels are native PowerPoint objects. Font: SimSun.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6400" cy="140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844560" y="1976760"/>
            <a:ext cx="15206760" cy="48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6400" cy="140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44560" y="1976760"/>
            <a:ext cx="15206760" cy="48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6400" cy="140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844560" y="1976760"/>
            <a:ext cx="7420680" cy="48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8636760" y="1976760"/>
            <a:ext cx="7420680" cy="48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6400" cy="140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844560" y="336960"/>
            <a:ext cx="15206400" cy="653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6400" cy="140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44560" y="1976760"/>
            <a:ext cx="742068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8636760" y="1976760"/>
            <a:ext cx="7420680" cy="48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844560" y="4536000"/>
            <a:ext cx="742068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6400" cy="140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844560" y="1976760"/>
            <a:ext cx="7420680" cy="48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8636760" y="1976760"/>
            <a:ext cx="742068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8636760" y="4536000"/>
            <a:ext cx="742068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6400" cy="140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844560" y="1976760"/>
            <a:ext cx="742068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8636760" y="1976760"/>
            <a:ext cx="742068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844560" y="4536000"/>
            <a:ext cx="1520676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6400" cy="140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844560" y="1976760"/>
            <a:ext cx="1520676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844560" y="4536000"/>
            <a:ext cx="1520676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6400" cy="140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44560" y="1976760"/>
            <a:ext cx="742068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636760" y="1976760"/>
            <a:ext cx="742068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844560" y="4536000"/>
            <a:ext cx="742068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8636760" y="4536000"/>
            <a:ext cx="742068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6400" cy="140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44560" y="1976760"/>
            <a:ext cx="489636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986080" y="1976760"/>
            <a:ext cx="489636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1127600" y="1976760"/>
            <a:ext cx="489636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844560" y="4536000"/>
            <a:ext cx="489636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5986080" y="4536000"/>
            <a:ext cx="489636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11127600" y="4536000"/>
            <a:ext cx="4896360" cy="23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44560" y="336960"/>
            <a:ext cx="15206400" cy="140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pc="-1" strike="noStrike">
                <a:latin typeface="Arial"/>
              </a:rPr>
              <a:t>单击以编辑标题文本格式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44560" y="1976760"/>
            <a:ext cx="15206760" cy="48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latin typeface="Arial"/>
              </a:rPr>
              <a:t>点击以编辑提纲文本格式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latin typeface="Arial"/>
              </a:rPr>
              <a:t>第二提纲级别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latin typeface="Arial"/>
              </a:rPr>
              <a:t>第三提纲级别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latin typeface="Arial"/>
              </a:rPr>
              <a:t>第四提纲级别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latin typeface="Arial"/>
              </a:rPr>
              <a:t>第五提纲级别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latin typeface="Arial"/>
              </a:rPr>
              <a:t>第六提纲级别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latin typeface="Arial"/>
              </a:rPr>
              <a:t>第七提纲级别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304200" y="438120"/>
            <a:ext cx="1584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111111"/>
                </a:solidFill>
                <a:latin typeface="SimSun"/>
                <a:ea typeface="SimSun"/>
              </a:rPr>
              <a:t>RAG </a:t>
            </a:r>
            <a:r>
              <a:rPr b="1" lang="zh-CN" sz="2100" spc="-1" strike="noStrike">
                <a:solidFill>
                  <a:srgbClr val="111111"/>
                </a:solidFill>
                <a:latin typeface="SimSun"/>
                <a:ea typeface="SimSun"/>
              </a:rPr>
              <a:t>技术</a:t>
            </a:r>
            <a:r>
              <a:rPr b="1" lang="zh-CN" sz="2100" spc="-1" strike="noStrike">
                <a:solidFill>
                  <a:srgbClr val="111111"/>
                </a:solidFill>
                <a:latin typeface="SimSun"/>
                <a:ea typeface="SimSun"/>
              </a:rPr>
              <a:t>发展路线图</a:t>
            </a:r>
            <a:r>
              <a:rPr b="1" lang="zh-CN" sz="2100" spc="-1" strike="noStrike">
                <a:solidFill>
                  <a:srgbClr val="111111"/>
                </a:solidFill>
                <a:latin typeface="SimSun"/>
                <a:ea typeface="SimSun"/>
              </a:rPr>
              <a:t>（</a:t>
            </a:r>
            <a:r>
              <a:rPr b="1" lang="en-US" sz="2100" spc="-1" strike="noStrike">
                <a:solidFill>
                  <a:srgbClr val="111111"/>
                </a:solidFill>
                <a:latin typeface="SimSun"/>
                <a:ea typeface="SimSun"/>
              </a:rPr>
              <a:t>2020–</a:t>
            </a:r>
            <a:r>
              <a:rPr b="1" lang="en-US" sz="2100" spc="-1" strike="noStrike">
                <a:solidFill>
                  <a:srgbClr val="111111"/>
                </a:solidFill>
                <a:latin typeface="SimSun"/>
                <a:ea typeface="SimSun"/>
              </a:rPr>
              <a:t>2026</a:t>
            </a:r>
            <a:r>
              <a:rPr b="1" lang="zh-CN" sz="2100" spc="-1" strike="noStrike">
                <a:solidFill>
                  <a:srgbClr val="111111"/>
                </a:solidFill>
                <a:latin typeface="SimSun"/>
                <a:ea typeface="SimSun"/>
              </a:rPr>
              <a:t>）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304200" y="804240"/>
            <a:ext cx="158400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从文档检索到 </a:t>
            </a:r>
            <a:r>
              <a:rPr b="0" lang="en-US" sz="1350" spc="-1" strike="noStrike">
                <a:solidFill>
                  <a:srgbClr val="111111"/>
                </a:solidFill>
                <a:latin typeface="SimSun"/>
                <a:ea typeface="SimSun"/>
              </a:rPr>
              <a:t>Agentic </a:t>
            </a:r>
            <a:r>
              <a:rPr b="0" lang="en-US" sz="1350" spc="-1" strike="noStrike">
                <a:solidFill>
                  <a:srgbClr val="111111"/>
                </a:solidFill>
                <a:latin typeface="SimSun"/>
                <a:ea typeface="SimSun"/>
              </a:rPr>
              <a:t>Knowledge </a:t>
            </a:r>
            <a:r>
              <a:rPr b="0" lang="en-US" sz="1350" spc="-1" strike="noStrike">
                <a:solidFill>
                  <a:srgbClr val="111111"/>
                </a:solidFill>
                <a:latin typeface="SimSun"/>
                <a:ea typeface="SimSun"/>
              </a:rPr>
              <a:t>System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482400" y="1352880"/>
            <a:ext cx="15483600" cy="50508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601200" y="1428480"/>
            <a:ext cx="1524600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450" spc="-1" strike="noStrike">
                <a:solidFill>
                  <a:srgbClr val="111111"/>
                </a:solidFill>
                <a:latin typeface="SimSun"/>
                <a:ea typeface="SimSun"/>
              </a:rPr>
              <a:t>核心问题：</a:t>
            </a:r>
            <a:r>
              <a:rPr b="1" lang="en-US" sz="1450" spc="-1" strike="noStrike">
                <a:solidFill>
                  <a:srgbClr val="111111"/>
                </a:solidFill>
                <a:latin typeface="SimSun"/>
                <a:ea typeface="SimSun"/>
              </a:rPr>
              <a:t>LLM </a:t>
            </a:r>
            <a:r>
              <a:rPr b="1" lang="zh-CN" sz="1450" spc="-1" strike="noStrike">
                <a:solidFill>
                  <a:srgbClr val="111111"/>
                </a:solidFill>
                <a:latin typeface="SimSun"/>
                <a:ea typeface="SimSun"/>
              </a:rPr>
              <a:t>如何访问、组</a:t>
            </a:r>
            <a:r>
              <a:rPr b="1" lang="zh-CN" sz="1450" spc="-1" strike="noStrike">
                <a:solidFill>
                  <a:srgbClr val="111111"/>
                </a:solidFill>
                <a:latin typeface="SimSun"/>
                <a:ea typeface="SimSun"/>
              </a:rPr>
              <a:t>织、验证并利用</a:t>
            </a:r>
            <a:r>
              <a:rPr b="1" lang="zh-CN" sz="1450" spc="-1" strike="noStrike">
                <a:solidFill>
                  <a:srgbClr val="111111"/>
                </a:solidFill>
                <a:latin typeface="SimSun"/>
                <a:ea typeface="SimSun"/>
              </a:rPr>
              <a:t>外部知识？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482400" y="2214000"/>
            <a:ext cx="2480760" cy="4552200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Shape 5"/>
          <p:cNvSpPr/>
          <p:nvPr/>
        </p:nvSpPr>
        <p:spPr>
          <a:xfrm>
            <a:off x="531720" y="2300040"/>
            <a:ext cx="2382120" cy="429840"/>
          </a:xfrm>
          <a:prstGeom prst="roundRect">
            <a:avLst>
              <a:gd name="adj" fmla="val 15000"/>
            </a:avLst>
          </a:prstGeom>
          <a:solidFill>
            <a:srgbClr val="f3f3f3"/>
          </a:solidFill>
          <a:ln w="508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6"/>
          <p:cNvSpPr/>
          <p:nvPr/>
        </p:nvSpPr>
        <p:spPr>
          <a:xfrm>
            <a:off x="541800" y="2321640"/>
            <a:ext cx="2362320" cy="3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20" spc="-1" strike="noStrike">
                <a:solidFill>
                  <a:srgbClr val="111111"/>
                </a:solidFill>
                <a:latin typeface="SimSun"/>
                <a:ea typeface="SimSun"/>
              </a:rPr>
              <a:t>1. 2020 </a:t>
            </a:r>
            <a:r>
              <a:rPr b="1" lang="zh-CN" sz="1120" spc="-1" strike="noStrike">
                <a:solidFill>
                  <a:srgbClr val="111111"/>
                </a:solidFill>
                <a:latin typeface="SimSun"/>
                <a:ea typeface="SimSun"/>
              </a:rPr>
              <a:t>起点：</a:t>
            </a:r>
            <a:r>
              <a:rPr b="1" lang="en-US" sz="1120" spc="-1" strike="noStrike">
                <a:solidFill>
                  <a:srgbClr val="111111"/>
                </a:solidFill>
                <a:latin typeface="SimSun"/>
                <a:ea typeface="SimSun"/>
              </a:rPr>
              <a:t>RAG</a:t>
            </a:r>
            <a:endParaRPr b="0" lang="en-US" sz="112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1722960" y="1859040"/>
            <a:ext cx="360" cy="301320"/>
          </a:xfrm>
          <a:prstGeom prst="line">
            <a:avLst/>
          </a:prstGeom>
          <a:ln w="1016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Shape 8"/>
          <p:cNvSpPr/>
          <p:nvPr/>
        </p:nvSpPr>
        <p:spPr>
          <a:xfrm>
            <a:off x="3083040" y="2214000"/>
            <a:ext cx="2480760" cy="4552200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Shape 9"/>
          <p:cNvSpPr/>
          <p:nvPr/>
        </p:nvSpPr>
        <p:spPr>
          <a:xfrm>
            <a:off x="3132360" y="2300040"/>
            <a:ext cx="2382120" cy="429840"/>
          </a:xfrm>
          <a:prstGeom prst="roundRect">
            <a:avLst>
              <a:gd name="adj" fmla="val 15000"/>
            </a:avLst>
          </a:prstGeom>
          <a:solidFill>
            <a:srgbClr val="f3f3f3"/>
          </a:solidFill>
          <a:ln w="508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0"/>
          <p:cNvSpPr/>
          <p:nvPr/>
        </p:nvSpPr>
        <p:spPr>
          <a:xfrm>
            <a:off x="3142080" y="2321640"/>
            <a:ext cx="2362320" cy="3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20" spc="-1" strike="noStrike">
                <a:solidFill>
                  <a:srgbClr val="111111"/>
                </a:solidFill>
                <a:latin typeface="SimSun"/>
                <a:ea typeface="SimSun"/>
              </a:rPr>
              <a:t>2. 2021–2022</a:t>
            </a:r>
            <a:endParaRPr b="0" lang="en-US" sz="11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20" spc="-1" strike="noStrike">
                <a:solidFill>
                  <a:srgbClr val="111111"/>
                </a:solidFill>
                <a:latin typeface="SimSun"/>
                <a:ea typeface="SimSun"/>
              </a:rPr>
              <a:t>Naive RAG</a:t>
            </a:r>
            <a:endParaRPr b="0" lang="en-US" sz="1120" spc="-1" strike="noStrike">
              <a:latin typeface="Arial"/>
            </a:endParaRPr>
          </a:p>
        </p:txBody>
      </p:sp>
      <p:sp>
        <p:nvSpPr>
          <p:cNvPr id="55" name="Shape 11"/>
          <p:cNvSpPr/>
          <p:nvPr/>
        </p:nvSpPr>
        <p:spPr>
          <a:xfrm>
            <a:off x="4323600" y="1859040"/>
            <a:ext cx="360" cy="301320"/>
          </a:xfrm>
          <a:prstGeom prst="line">
            <a:avLst/>
          </a:prstGeom>
          <a:ln w="1016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12"/>
          <p:cNvSpPr/>
          <p:nvPr/>
        </p:nvSpPr>
        <p:spPr>
          <a:xfrm>
            <a:off x="5683680" y="2214000"/>
            <a:ext cx="2480760" cy="4552200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Shape 13"/>
          <p:cNvSpPr/>
          <p:nvPr/>
        </p:nvSpPr>
        <p:spPr>
          <a:xfrm>
            <a:off x="5733000" y="2300040"/>
            <a:ext cx="2382120" cy="429840"/>
          </a:xfrm>
          <a:prstGeom prst="roundRect">
            <a:avLst>
              <a:gd name="adj" fmla="val 15000"/>
            </a:avLst>
          </a:prstGeom>
          <a:solidFill>
            <a:srgbClr val="f3f3f3"/>
          </a:solidFill>
          <a:ln w="508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4"/>
          <p:cNvSpPr/>
          <p:nvPr/>
        </p:nvSpPr>
        <p:spPr>
          <a:xfrm>
            <a:off x="5742720" y="2321640"/>
            <a:ext cx="2362320" cy="3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3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.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 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2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0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2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3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–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2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0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2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4</a:t>
            </a:r>
            <a:endParaRPr b="0" lang="en-US" sz="103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A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d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v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a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n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c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e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d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 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 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M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o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d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u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l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a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r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 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R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A</a:t>
            </a:r>
            <a:r>
              <a:rPr b="1" lang="en-US" sz="1030" spc="-1" strike="noStrike">
                <a:solidFill>
                  <a:srgbClr val="111111"/>
                </a:solidFill>
                <a:latin typeface="SimSun"/>
                <a:ea typeface="SimSun"/>
              </a:rPr>
              <a:t>G</a:t>
            </a:r>
            <a:endParaRPr b="0" lang="en-US" sz="1030" spc="-1" strike="noStrike">
              <a:latin typeface="Arial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6924240" y="1859040"/>
            <a:ext cx="360" cy="301320"/>
          </a:xfrm>
          <a:prstGeom prst="line">
            <a:avLst/>
          </a:prstGeom>
          <a:ln w="1016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16"/>
          <p:cNvSpPr/>
          <p:nvPr/>
        </p:nvSpPr>
        <p:spPr>
          <a:xfrm>
            <a:off x="8283960" y="2214000"/>
            <a:ext cx="2480760" cy="4552200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Shape 17"/>
          <p:cNvSpPr/>
          <p:nvPr/>
        </p:nvSpPr>
        <p:spPr>
          <a:xfrm>
            <a:off x="8333280" y="2300040"/>
            <a:ext cx="2382120" cy="429840"/>
          </a:xfrm>
          <a:prstGeom prst="roundRect">
            <a:avLst>
              <a:gd name="adj" fmla="val 15000"/>
            </a:avLst>
          </a:prstGeom>
          <a:solidFill>
            <a:srgbClr val="f3f3f3"/>
          </a:solidFill>
          <a:ln w="508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8"/>
          <p:cNvSpPr/>
          <p:nvPr/>
        </p:nvSpPr>
        <p:spPr>
          <a:xfrm>
            <a:off x="8343360" y="2321640"/>
            <a:ext cx="2362320" cy="3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20" spc="-1" strike="noStrike">
                <a:solidFill>
                  <a:srgbClr val="111111"/>
                </a:solidFill>
                <a:latin typeface="SimSun"/>
                <a:ea typeface="SimSun"/>
              </a:rPr>
              <a:t>4. 2024 </a:t>
            </a:r>
            <a:r>
              <a:rPr b="1" lang="zh-CN" sz="1120" spc="-1" strike="noStrike">
                <a:solidFill>
                  <a:srgbClr val="111111"/>
                </a:solidFill>
                <a:latin typeface="SimSun"/>
                <a:ea typeface="SimSun"/>
              </a:rPr>
              <a:t>知识结构</a:t>
            </a:r>
            <a:r>
              <a:rPr b="1" lang="zh-CN" sz="1120" spc="-1" strike="noStrike">
                <a:solidFill>
                  <a:srgbClr val="111111"/>
                </a:solidFill>
                <a:latin typeface="SimSun"/>
                <a:ea typeface="SimSun"/>
              </a:rPr>
              <a:t>化</a:t>
            </a:r>
            <a:endParaRPr b="0" lang="en-US" sz="1120" spc="-1" strike="noStrike">
              <a:latin typeface="Arial"/>
            </a:endParaRPr>
          </a:p>
        </p:txBody>
      </p:sp>
      <p:sp>
        <p:nvSpPr>
          <p:cNvPr id="63" name="Shape 19"/>
          <p:cNvSpPr/>
          <p:nvPr/>
        </p:nvSpPr>
        <p:spPr>
          <a:xfrm>
            <a:off x="9524520" y="1859040"/>
            <a:ext cx="360" cy="301320"/>
          </a:xfrm>
          <a:prstGeom prst="line">
            <a:avLst/>
          </a:prstGeom>
          <a:ln w="1016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Shape 20"/>
          <p:cNvSpPr/>
          <p:nvPr/>
        </p:nvSpPr>
        <p:spPr>
          <a:xfrm>
            <a:off x="10884600" y="2214000"/>
            <a:ext cx="2480760" cy="4552200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Shape 21"/>
          <p:cNvSpPr/>
          <p:nvPr/>
        </p:nvSpPr>
        <p:spPr>
          <a:xfrm>
            <a:off x="10933920" y="2300040"/>
            <a:ext cx="2382120" cy="429840"/>
          </a:xfrm>
          <a:prstGeom prst="roundRect">
            <a:avLst>
              <a:gd name="adj" fmla="val 15000"/>
            </a:avLst>
          </a:prstGeom>
          <a:solidFill>
            <a:srgbClr val="f3f3f3"/>
          </a:solidFill>
          <a:ln w="508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22"/>
          <p:cNvSpPr/>
          <p:nvPr/>
        </p:nvSpPr>
        <p:spPr>
          <a:xfrm>
            <a:off x="10944000" y="2321640"/>
            <a:ext cx="2362320" cy="3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20" spc="-1" strike="noStrike">
                <a:solidFill>
                  <a:srgbClr val="111111"/>
                </a:solidFill>
                <a:latin typeface="SimSun"/>
                <a:ea typeface="SimSun"/>
              </a:rPr>
              <a:t>5. 2024–2025</a:t>
            </a:r>
            <a:endParaRPr b="0" lang="en-US" sz="11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120" spc="-1" strike="noStrike">
                <a:solidFill>
                  <a:srgbClr val="111111"/>
                </a:solidFill>
                <a:latin typeface="SimSun"/>
                <a:ea typeface="SimSun"/>
              </a:rPr>
              <a:t>检索决策与可靠</a:t>
            </a:r>
            <a:r>
              <a:rPr b="1" lang="zh-CN" sz="1120" spc="-1" strike="noStrike">
                <a:solidFill>
                  <a:srgbClr val="111111"/>
                </a:solidFill>
                <a:latin typeface="SimSun"/>
                <a:ea typeface="SimSun"/>
              </a:rPr>
              <a:t>性</a:t>
            </a:r>
            <a:endParaRPr b="0" lang="en-US" sz="1120" spc="-1" strike="noStrike">
              <a:latin typeface="Arial"/>
            </a:endParaRPr>
          </a:p>
        </p:txBody>
      </p:sp>
      <p:sp>
        <p:nvSpPr>
          <p:cNvPr id="67" name="Shape 23"/>
          <p:cNvSpPr/>
          <p:nvPr/>
        </p:nvSpPr>
        <p:spPr>
          <a:xfrm>
            <a:off x="12125160" y="1859040"/>
            <a:ext cx="360" cy="301320"/>
          </a:xfrm>
          <a:prstGeom prst="line">
            <a:avLst/>
          </a:prstGeom>
          <a:ln w="1016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Shape 24"/>
          <p:cNvSpPr/>
          <p:nvPr/>
        </p:nvSpPr>
        <p:spPr>
          <a:xfrm>
            <a:off x="13485240" y="2214000"/>
            <a:ext cx="2480760" cy="4552200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Shape 25"/>
          <p:cNvSpPr/>
          <p:nvPr/>
        </p:nvSpPr>
        <p:spPr>
          <a:xfrm>
            <a:off x="13534560" y="2300040"/>
            <a:ext cx="2382120" cy="429840"/>
          </a:xfrm>
          <a:prstGeom prst="roundRect">
            <a:avLst>
              <a:gd name="adj" fmla="val 15000"/>
            </a:avLst>
          </a:prstGeom>
          <a:solidFill>
            <a:srgbClr val="f3f3f3"/>
          </a:solidFill>
          <a:ln w="5080">
            <a:solidFill>
              <a:srgbClr val="efef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26"/>
          <p:cNvSpPr/>
          <p:nvPr/>
        </p:nvSpPr>
        <p:spPr>
          <a:xfrm>
            <a:off x="13544280" y="2321640"/>
            <a:ext cx="2362320" cy="3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20" spc="-1" strike="noStrike">
                <a:solidFill>
                  <a:srgbClr val="111111"/>
                </a:solidFill>
                <a:latin typeface="SimSun"/>
                <a:ea typeface="SimSun"/>
              </a:rPr>
              <a:t>6. 2025–2026</a:t>
            </a:r>
            <a:endParaRPr b="0" lang="en-US" sz="11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20" spc="-1" strike="noStrike">
                <a:solidFill>
                  <a:srgbClr val="111111"/>
                </a:solidFill>
                <a:latin typeface="SimSun"/>
                <a:ea typeface="SimSun"/>
              </a:rPr>
              <a:t>Agentic RAG</a:t>
            </a:r>
            <a:endParaRPr b="0" lang="en-US" sz="1120" spc="-1" strike="noStrike">
              <a:latin typeface="Arial"/>
            </a:endParaRPr>
          </a:p>
        </p:txBody>
      </p:sp>
      <p:sp>
        <p:nvSpPr>
          <p:cNvPr id="71" name="Shape 27"/>
          <p:cNvSpPr/>
          <p:nvPr/>
        </p:nvSpPr>
        <p:spPr>
          <a:xfrm>
            <a:off x="14725800" y="1859040"/>
            <a:ext cx="360" cy="301320"/>
          </a:xfrm>
          <a:prstGeom prst="line">
            <a:avLst/>
          </a:prstGeom>
          <a:ln w="1016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Shape 28"/>
          <p:cNvSpPr/>
          <p:nvPr/>
        </p:nvSpPr>
        <p:spPr>
          <a:xfrm>
            <a:off x="2983680" y="4452840"/>
            <a:ext cx="79560" cy="360"/>
          </a:xfrm>
          <a:prstGeom prst="line">
            <a:avLst/>
          </a:prstGeom>
          <a:ln w="1016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Shape 29"/>
          <p:cNvSpPr/>
          <p:nvPr/>
        </p:nvSpPr>
        <p:spPr>
          <a:xfrm>
            <a:off x="5584320" y="4452840"/>
            <a:ext cx="78840" cy="360"/>
          </a:xfrm>
          <a:prstGeom prst="line">
            <a:avLst/>
          </a:prstGeom>
          <a:ln w="1016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Shape 30"/>
          <p:cNvSpPr/>
          <p:nvPr/>
        </p:nvSpPr>
        <p:spPr>
          <a:xfrm>
            <a:off x="8184960" y="4452840"/>
            <a:ext cx="78840" cy="360"/>
          </a:xfrm>
          <a:prstGeom prst="line">
            <a:avLst/>
          </a:prstGeom>
          <a:ln w="1016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Shape 31"/>
          <p:cNvSpPr/>
          <p:nvPr/>
        </p:nvSpPr>
        <p:spPr>
          <a:xfrm>
            <a:off x="10785600" y="4452840"/>
            <a:ext cx="78840" cy="360"/>
          </a:xfrm>
          <a:prstGeom prst="line">
            <a:avLst/>
          </a:prstGeom>
          <a:ln w="1016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Shape 32"/>
          <p:cNvSpPr/>
          <p:nvPr/>
        </p:nvSpPr>
        <p:spPr>
          <a:xfrm>
            <a:off x="13385880" y="4452840"/>
            <a:ext cx="79200" cy="360"/>
          </a:xfrm>
          <a:prstGeom prst="line">
            <a:avLst/>
          </a:prstGeom>
          <a:ln w="1016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Shape 33"/>
          <p:cNvSpPr/>
          <p:nvPr/>
        </p:nvSpPr>
        <p:spPr>
          <a:xfrm>
            <a:off x="601200" y="3882240"/>
            <a:ext cx="543600" cy="4514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34"/>
          <p:cNvSpPr/>
          <p:nvPr/>
        </p:nvSpPr>
        <p:spPr>
          <a:xfrm>
            <a:off x="621000" y="3893400"/>
            <a:ext cx="504000" cy="4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Query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79" name="Shape 35"/>
          <p:cNvSpPr/>
          <p:nvPr/>
        </p:nvSpPr>
        <p:spPr>
          <a:xfrm>
            <a:off x="1294200" y="3882240"/>
            <a:ext cx="662760" cy="4514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36"/>
          <p:cNvSpPr/>
          <p:nvPr/>
        </p:nvSpPr>
        <p:spPr>
          <a:xfrm>
            <a:off x="1314000" y="3893400"/>
            <a:ext cx="623160" cy="4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</a:t>
            </a: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e</a:t>
            </a: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t</a:t>
            </a: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</a:t>
            </a: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i</a:t>
            </a: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e</a:t>
            </a: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v</a:t>
            </a: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e</a:t>
            </a: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1" name="Shape 37"/>
          <p:cNvSpPr/>
          <p:nvPr/>
        </p:nvSpPr>
        <p:spPr>
          <a:xfrm>
            <a:off x="2126160" y="3882240"/>
            <a:ext cx="712080" cy="4514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38"/>
          <p:cNvSpPr/>
          <p:nvPr/>
        </p:nvSpPr>
        <p:spPr>
          <a:xfrm>
            <a:off x="2145600" y="3893400"/>
            <a:ext cx="672480" cy="4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G</a:t>
            </a: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e</a:t>
            </a: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n</a:t>
            </a: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e</a:t>
            </a: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</a:t>
            </a: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a</a:t>
            </a: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t</a:t>
            </a: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o</a:t>
            </a:r>
            <a:r>
              <a:rPr b="0" lang="en-US" sz="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3" name="Shape 39"/>
          <p:cNvSpPr/>
          <p:nvPr/>
        </p:nvSpPr>
        <p:spPr>
          <a:xfrm>
            <a:off x="1145880" y="4108320"/>
            <a:ext cx="148320" cy="360"/>
          </a:xfrm>
          <a:prstGeom prst="line">
            <a:avLst/>
          </a:prstGeom>
          <a:ln w="762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Shape 40"/>
          <p:cNvSpPr/>
          <p:nvPr/>
        </p:nvSpPr>
        <p:spPr>
          <a:xfrm>
            <a:off x="1957320" y="4108320"/>
            <a:ext cx="168480" cy="360"/>
          </a:xfrm>
          <a:prstGeom prst="line">
            <a:avLst/>
          </a:prstGeom>
          <a:ln w="762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42"/>
          <p:cNvSpPr/>
          <p:nvPr/>
        </p:nvSpPr>
        <p:spPr>
          <a:xfrm>
            <a:off x="660600" y="5464800"/>
            <a:ext cx="2163960" cy="79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91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910" spc="-1" strike="noStrike">
                <a:solidFill>
                  <a:srgbClr val="111111"/>
                </a:solidFill>
                <a:latin typeface="SimSun"/>
                <a:ea typeface="SimSun"/>
              </a:rPr>
              <a:t>外部知识增强生成</a:t>
            </a:r>
            <a:endParaRPr b="0" lang="en-US" sz="91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1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910" spc="-1" strike="noStrike">
                <a:solidFill>
                  <a:srgbClr val="111111"/>
                </a:solidFill>
                <a:latin typeface="SimSun"/>
                <a:ea typeface="SimSun"/>
              </a:rPr>
              <a:t>参数化记忆 </a:t>
            </a:r>
            <a:r>
              <a:rPr b="0" lang="en-US" sz="910" spc="-1" strike="noStrike">
                <a:solidFill>
                  <a:srgbClr val="111111"/>
                </a:solidFill>
                <a:latin typeface="SimSun"/>
                <a:ea typeface="SimSun"/>
              </a:rPr>
              <a:t>+ </a:t>
            </a:r>
            <a:r>
              <a:rPr b="0" lang="zh-CN" sz="910" spc="-1" strike="noStrike">
                <a:solidFill>
                  <a:srgbClr val="111111"/>
                </a:solidFill>
                <a:latin typeface="SimSun"/>
                <a:ea typeface="SimSun"/>
              </a:rPr>
              <a:t>非参数化记忆</a:t>
            </a:r>
            <a:endParaRPr b="0" lang="en-US" sz="91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1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910" spc="-1" strike="noStrike">
                <a:solidFill>
                  <a:srgbClr val="111111"/>
                </a:solidFill>
                <a:latin typeface="SimSun"/>
                <a:ea typeface="SimSun"/>
              </a:rPr>
              <a:t>代表：</a:t>
            </a:r>
            <a:r>
              <a:rPr b="0" lang="en-US" sz="910" spc="-1" strike="noStrike">
                <a:solidFill>
                  <a:srgbClr val="111111"/>
                </a:solidFill>
                <a:latin typeface="SimSun"/>
                <a:ea typeface="SimSun"/>
              </a:rPr>
              <a:t>Lewis et al., 2020</a:t>
            </a:r>
            <a:endParaRPr b="0" lang="en-US" sz="910" spc="-1" strike="noStrike">
              <a:latin typeface="Arial"/>
            </a:endParaRPr>
          </a:p>
        </p:txBody>
      </p:sp>
      <p:sp>
        <p:nvSpPr>
          <p:cNvPr id="86" name="Shape 43"/>
          <p:cNvSpPr/>
          <p:nvPr/>
        </p:nvSpPr>
        <p:spPr>
          <a:xfrm>
            <a:off x="3696840" y="2989080"/>
            <a:ext cx="1312920" cy="300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44"/>
          <p:cNvSpPr/>
          <p:nvPr/>
        </p:nvSpPr>
        <p:spPr>
          <a:xfrm>
            <a:off x="3716640" y="2999880"/>
            <a:ext cx="127332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50" spc="-1" strike="noStrike">
                <a:solidFill>
                  <a:srgbClr val="111111"/>
                </a:solidFill>
                <a:latin typeface="SimSun"/>
                <a:ea typeface="SimSun"/>
              </a:rPr>
              <a:t>文档解析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88" name="Shape 45"/>
          <p:cNvSpPr/>
          <p:nvPr/>
        </p:nvSpPr>
        <p:spPr>
          <a:xfrm>
            <a:off x="4323600" y="3290400"/>
            <a:ext cx="360" cy="75600"/>
          </a:xfrm>
          <a:prstGeom prst="line">
            <a:avLst/>
          </a:prstGeom>
          <a:ln w="63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Shape 46"/>
          <p:cNvSpPr/>
          <p:nvPr/>
        </p:nvSpPr>
        <p:spPr>
          <a:xfrm>
            <a:off x="3696840" y="3366000"/>
            <a:ext cx="1312920" cy="3002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47"/>
          <p:cNvSpPr/>
          <p:nvPr/>
        </p:nvSpPr>
        <p:spPr>
          <a:xfrm>
            <a:off x="3716640" y="3376440"/>
            <a:ext cx="127332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50" spc="-1" strike="noStrike">
                <a:solidFill>
                  <a:srgbClr val="111111"/>
                </a:solidFill>
                <a:latin typeface="SimSun"/>
                <a:ea typeface="SimSun"/>
              </a:rPr>
              <a:t>切块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91" name="Shape 48"/>
          <p:cNvSpPr/>
          <p:nvPr/>
        </p:nvSpPr>
        <p:spPr>
          <a:xfrm>
            <a:off x="4323600" y="3666960"/>
            <a:ext cx="360" cy="75600"/>
          </a:xfrm>
          <a:prstGeom prst="line">
            <a:avLst/>
          </a:prstGeom>
          <a:ln w="63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Shape 49"/>
          <p:cNvSpPr/>
          <p:nvPr/>
        </p:nvSpPr>
        <p:spPr>
          <a:xfrm>
            <a:off x="3696840" y="3742560"/>
            <a:ext cx="1312920" cy="300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50"/>
          <p:cNvSpPr/>
          <p:nvPr/>
        </p:nvSpPr>
        <p:spPr>
          <a:xfrm>
            <a:off x="3716640" y="3753000"/>
            <a:ext cx="12733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Embedding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94" name="Shape 51"/>
          <p:cNvSpPr/>
          <p:nvPr/>
        </p:nvSpPr>
        <p:spPr>
          <a:xfrm>
            <a:off x="4323600" y="4043880"/>
            <a:ext cx="360" cy="75240"/>
          </a:xfrm>
          <a:prstGeom prst="line">
            <a:avLst/>
          </a:prstGeom>
          <a:ln w="63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52"/>
          <p:cNvSpPr/>
          <p:nvPr/>
        </p:nvSpPr>
        <p:spPr>
          <a:xfrm>
            <a:off x="3696840" y="4119120"/>
            <a:ext cx="1312920" cy="300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53"/>
          <p:cNvSpPr/>
          <p:nvPr/>
        </p:nvSpPr>
        <p:spPr>
          <a:xfrm>
            <a:off x="3716640" y="4129920"/>
            <a:ext cx="127332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50" spc="-1" strike="noStrike">
                <a:solidFill>
                  <a:srgbClr val="111111"/>
                </a:solidFill>
                <a:latin typeface="SimSun"/>
                <a:ea typeface="SimSun"/>
              </a:rPr>
              <a:t>向</a:t>
            </a:r>
            <a:r>
              <a:rPr b="0" lang="zh-CN" sz="950" spc="-1" strike="noStrike">
                <a:solidFill>
                  <a:srgbClr val="111111"/>
                </a:solidFill>
                <a:latin typeface="SimSun"/>
                <a:ea typeface="SimSun"/>
              </a:rPr>
              <a:t>量</a:t>
            </a:r>
            <a:r>
              <a:rPr b="0" lang="zh-CN" sz="950" spc="-1" strike="noStrike">
                <a:solidFill>
                  <a:srgbClr val="111111"/>
                </a:solidFill>
                <a:latin typeface="SimSun"/>
                <a:ea typeface="SimSun"/>
              </a:rPr>
              <a:t>库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97" name="Shape 54"/>
          <p:cNvSpPr/>
          <p:nvPr/>
        </p:nvSpPr>
        <p:spPr>
          <a:xfrm>
            <a:off x="4323600" y="4420440"/>
            <a:ext cx="360" cy="75600"/>
          </a:xfrm>
          <a:prstGeom prst="line">
            <a:avLst/>
          </a:prstGeom>
          <a:ln w="63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Shape 55"/>
          <p:cNvSpPr/>
          <p:nvPr/>
        </p:nvSpPr>
        <p:spPr>
          <a:xfrm>
            <a:off x="3696840" y="4496040"/>
            <a:ext cx="1312920" cy="3002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56"/>
          <p:cNvSpPr/>
          <p:nvPr/>
        </p:nvSpPr>
        <p:spPr>
          <a:xfrm>
            <a:off x="3716640" y="4506480"/>
            <a:ext cx="12733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Top-K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00" name="Shape 57"/>
          <p:cNvSpPr/>
          <p:nvPr/>
        </p:nvSpPr>
        <p:spPr>
          <a:xfrm>
            <a:off x="4323600" y="4797360"/>
            <a:ext cx="360" cy="75240"/>
          </a:xfrm>
          <a:prstGeom prst="line">
            <a:avLst/>
          </a:prstGeom>
          <a:ln w="63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Shape 58"/>
          <p:cNvSpPr/>
          <p:nvPr/>
        </p:nvSpPr>
        <p:spPr>
          <a:xfrm>
            <a:off x="3696840" y="4872600"/>
            <a:ext cx="1312920" cy="300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59"/>
          <p:cNvSpPr/>
          <p:nvPr/>
        </p:nvSpPr>
        <p:spPr>
          <a:xfrm>
            <a:off x="3716640" y="4883400"/>
            <a:ext cx="127332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LLM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03" name="Text 61"/>
          <p:cNvSpPr/>
          <p:nvPr/>
        </p:nvSpPr>
        <p:spPr>
          <a:xfrm>
            <a:off x="3261240" y="5464800"/>
            <a:ext cx="2163960" cy="79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91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910" spc="-1" strike="noStrike">
                <a:solidFill>
                  <a:srgbClr val="111111"/>
                </a:solidFill>
                <a:latin typeface="SimSun"/>
                <a:ea typeface="SimSun"/>
              </a:rPr>
              <a:t>工程化落地</a:t>
            </a:r>
            <a:endParaRPr b="0" lang="en-US" sz="91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1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910" spc="-1" strike="noStrike">
                <a:solidFill>
                  <a:srgbClr val="111111"/>
                </a:solidFill>
                <a:latin typeface="SimSun"/>
                <a:ea typeface="SimSun"/>
              </a:rPr>
              <a:t>快速接入私有知识库</a:t>
            </a:r>
            <a:endParaRPr b="0" lang="en-US" sz="91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1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910" spc="-1" strike="noStrike">
                <a:solidFill>
                  <a:srgbClr val="111111"/>
                </a:solidFill>
                <a:latin typeface="SimSun"/>
                <a:ea typeface="SimSun"/>
              </a:rPr>
              <a:t>问题：</a:t>
            </a:r>
            <a:r>
              <a:rPr b="0" lang="en-US" sz="910" spc="-1" strike="noStrike">
                <a:solidFill>
                  <a:srgbClr val="111111"/>
                </a:solidFill>
                <a:latin typeface="SimSun"/>
                <a:ea typeface="SimSun"/>
              </a:rPr>
              <a:t>Chunk</a:t>
            </a:r>
            <a:r>
              <a:rPr b="0" lang="zh-CN" sz="910" spc="-1" strike="noStrike">
                <a:solidFill>
                  <a:srgbClr val="111111"/>
                </a:solidFill>
                <a:latin typeface="SimSun"/>
                <a:ea typeface="SimSun"/>
              </a:rPr>
              <a:t>边界、固定 </a:t>
            </a:r>
            <a:r>
              <a:rPr b="0" lang="en-US" sz="910" spc="-1" strike="noStrike">
                <a:solidFill>
                  <a:srgbClr val="111111"/>
                </a:solidFill>
                <a:latin typeface="SimSun"/>
                <a:ea typeface="SimSun"/>
              </a:rPr>
              <a:t>Top-K</a:t>
            </a:r>
            <a:endParaRPr b="0" lang="en-US" sz="910" spc="-1" strike="noStrike">
              <a:latin typeface="Arial"/>
            </a:endParaRPr>
          </a:p>
        </p:txBody>
      </p:sp>
      <p:sp>
        <p:nvSpPr>
          <p:cNvPr id="104" name="Shape 62"/>
          <p:cNvSpPr/>
          <p:nvPr/>
        </p:nvSpPr>
        <p:spPr>
          <a:xfrm>
            <a:off x="6138720" y="2989080"/>
            <a:ext cx="1570320" cy="300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63"/>
          <p:cNvSpPr/>
          <p:nvPr/>
        </p:nvSpPr>
        <p:spPr>
          <a:xfrm>
            <a:off x="6158880" y="2999880"/>
            <a:ext cx="153036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Query Rewrite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06" name="Shape 64"/>
          <p:cNvSpPr/>
          <p:nvPr/>
        </p:nvSpPr>
        <p:spPr>
          <a:xfrm>
            <a:off x="6924240" y="3290400"/>
            <a:ext cx="360" cy="75600"/>
          </a:xfrm>
          <a:prstGeom prst="line">
            <a:avLst/>
          </a:prstGeom>
          <a:ln w="63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65"/>
          <p:cNvSpPr/>
          <p:nvPr/>
        </p:nvSpPr>
        <p:spPr>
          <a:xfrm>
            <a:off x="6138720" y="3366000"/>
            <a:ext cx="1570320" cy="3002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66"/>
          <p:cNvSpPr/>
          <p:nvPr/>
        </p:nvSpPr>
        <p:spPr>
          <a:xfrm>
            <a:off x="6158880" y="3376440"/>
            <a:ext cx="153036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Hybrid Retrieval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09" name="Shape 67"/>
          <p:cNvSpPr/>
          <p:nvPr/>
        </p:nvSpPr>
        <p:spPr>
          <a:xfrm>
            <a:off x="6924240" y="3666960"/>
            <a:ext cx="360" cy="75600"/>
          </a:xfrm>
          <a:prstGeom prst="line">
            <a:avLst/>
          </a:prstGeom>
          <a:ln w="63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Shape 68"/>
          <p:cNvSpPr/>
          <p:nvPr/>
        </p:nvSpPr>
        <p:spPr>
          <a:xfrm>
            <a:off x="6138720" y="3742560"/>
            <a:ext cx="1570320" cy="300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69"/>
          <p:cNvSpPr/>
          <p:nvPr/>
        </p:nvSpPr>
        <p:spPr>
          <a:xfrm>
            <a:off x="6158880" y="3753000"/>
            <a:ext cx="15303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Metadata Filter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12" name="Shape 70"/>
          <p:cNvSpPr/>
          <p:nvPr/>
        </p:nvSpPr>
        <p:spPr>
          <a:xfrm>
            <a:off x="6924240" y="4043880"/>
            <a:ext cx="360" cy="75240"/>
          </a:xfrm>
          <a:prstGeom prst="line">
            <a:avLst/>
          </a:prstGeom>
          <a:ln w="63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Shape 71"/>
          <p:cNvSpPr/>
          <p:nvPr/>
        </p:nvSpPr>
        <p:spPr>
          <a:xfrm>
            <a:off x="6138720" y="4119120"/>
            <a:ext cx="1570320" cy="300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72"/>
          <p:cNvSpPr/>
          <p:nvPr/>
        </p:nvSpPr>
        <p:spPr>
          <a:xfrm>
            <a:off x="6158880" y="4129920"/>
            <a:ext cx="153036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Reranker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15" name="Shape 73"/>
          <p:cNvSpPr/>
          <p:nvPr/>
        </p:nvSpPr>
        <p:spPr>
          <a:xfrm>
            <a:off x="6924240" y="4420440"/>
            <a:ext cx="360" cy="75600"/>
          </a:xfrm>
          <a:prstGeom prst="line">
            <a:avLst/>
          </a:prstGeom>
          <a:ln w="63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Shape 74"/>
          <p:cNvSpPr/>
          <p:nvPr/>
        </p:nvSpPr>
        <p:spPr>
          <a:xfrm>
            <a:off x="6138720" y="4496040"/>
            <a:ext cx="1570320" cy="3002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75"/>
          <p:cNvSpPr/>
          <p:nvPr/>
        </p:nvSpPr>
        <p:spPr>
          <a:xfrm>
            <a:off x="6158880" y="4506480"/>
            <a:ext cx="15303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Context Compression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18" name="Shape 76"/>
          <p:cNvSpPr/>
          <p:nvPr/>
        </p:nvSpPr>
        <p:spPr>
          <a:xfrm>
            <a:off x="6924240" y="4797360"/>
            <a:ext cx="360" cy="75240"/>
          </a:xfrm>
          <a:prstGeom prst="line">
            <a:avLst/>
          </a:prstGeom>
          <a:ln w="63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Shape 77"/>
          <p:cNvSpPr/>
          <p:nvPr/>
        </p:nvSpPr>
        <p:spPr>
          <a:xfrm>
            <a:off x="6138720" y="4872600"/>
            <a:ext cx="1570320" cy="300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78"/>
          <p:cNvSpPr/>
          <p:nvPr/>
        </p:nvSpPr>
        <p:spPr>
          <a:xfrm>
            <a:off x="6158880" y="4883400"/>
            <a:ext cx="153036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Parent-Child / Fusion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21" name="Text 80"/>
          <p:cNvSpPr/>
          <p:nvPr/>
        </p:nvSpPr>
        <p:spPr>
          <a:xfrm>
            <a:off x="5861880" y="5486400"/>
            <a:ext cx="2163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92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920" spc="-1" strike="noStrike">
                <a:solidFill>
                  <a:srgbClr val="111111"/>
                </a:solidFill>
                <a:latin typeface="SimSun"/>
                <a:ea typeface="SimSun"/>
              </a:rPr>
              <a:t>检索链路优化</a:t>
            </a:r>
            <a:endParaRPr b="0" lang="en-US" sz="9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2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920" spc="-1" strike="noStrike">
                <a:solidFill>
                  <a:srgbClr val="111111"/>
                </a:solidFill>
                <a:latin typeface="SimSun"/>
                <a:ea typeface="SimSun"/>
              </a:rPr>
              <a:t>从黑盒 </a:t>
            </a:r>
            <a:r>
              <a:rPr b="0" lang="en-US" sz="920" spc="-1" strike="noStrike">
                <a:solidFill>
                  <a:srgbClr val="111111"/>
                </a:solidFill>
                <a:latin typeface="SimSun"/>
                <a:ea typeface="SimSun"/>
              </a:rPr>
              <a:t>Retriever </a:t>
            </a:r>
            <a:r>
              <a:rPr b="0" lang="zh-CN" sz="920" spc="-1" strike="noStrike">
                <a:solidFill>
                  <a:srgbClr val="111111"/>
                </a:solidFill>
                <a:latin typeface="SimSun"/>
                <a:ea typeface="SimSun"/>
              </a:rPr>
              <a:t>到模块组合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22" name="Shape 81"/>
          <p:cNvSpPr/>
          <p:nvPr/>
        </p:nvSpPr>
        <p:spPr>
          <a:xfrm>
            <a:off x="8402760" y="3129120"/>
            <a:ext cx="1071720" cy="204408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82"/>
          <p:cNvSpPr/>
          <p:nvPr/>
        </p:nvSpPr>
        <p:spPr>
          <a:xfrm>
            <a:off x="9574560" y="3129120"/>
            <a:ext cx="1071720" cy="204408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83"/>
          <p:cNvSpPr/>
          <p:nvPr/>
        </p:nvSpPr>
        <p:spPr>
          <a:xfrm>
            <a:off x="8422560" y="3247560"/>
            <a:ext cx="10321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GraphRAG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5" name="Shape 84"/>
          <p:cNvSpPr/>
          <p:nvPr/>
        </p:nvSpPr>
        <p:spPr>
          <a:xfrm>
            <a:off x="8481960" y="3807000"/>
            <a:ext cx="982440" cy="48348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85"/>
          <p:cNvSpPr/>
          <p:nvPr/>
        </p:nvSpPr>
        <p:spPr>
          <a:xfrm>
            <a:off x="8501760" y="3817800"/>
            <a:ext cx="942840" cy="4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850" spc="-1" strike="noStrike">
                <a:solidFill>
                  <a:srgbClr val="111111"/>
                </a:solidFill>
                <a:latin typeface="SimSun"/>
                <a:ea typeface="SimSun"/>
              </a:rPr>
              <a:t>实体–关系–社区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27" name="Shape 86"/>
          <p:cNvSpPr/>
          <p:nvPr/>
        </p:nvSpPr>
        <p:spPr>
          <a:xfrm>
            <a:off x="8973360" y="4291200"/>
            <a:ext cx="360" cy="226080"/>
          </a:xfrm>
          <a:prstGeom prst="line">
            <a:avLst/>
          </a:prstGeom>
          <a:ln w="6985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Shape 87"/>
          <p:cNvSpPr/>
          <p:nvPr/>
        </p:nvSpPr>
        <p:spPr>
          <a:xfrm>
            <a:off x="8481960" y="4517640"/>
            <a:ext cx="982440" cy="515520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88"/>
          <p:cNvSpPr/>
          <p:nvPr/>
        </p:nvSpPr>
        <p:spPr>
          <a:xfrm>
            <a:off x="8501760" y="4528080"/>
            <a:ext cx="94284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Local / Global</a:t>
            </a:r>
            <a:endParaRPr b="0" lang="en-US" sz="8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Search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30" name="Text 89"/>
          <p:cNvSpPr/>
          <p:nvPr/>
        </p:nvSpPr>
        <p:spPr>
          <a:xfrm>
            <a:off x="9594360" y="3236760"/>
            <a:ext cx="1041840" cy="3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6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Hierarchical RAG /</a:t>
            </a:r>
            <a:endParaRPr b="0" lang="en-US" sz="86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6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RAPTOR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31" name="Shape 90"/>
          <p:cNvSpPr/>
          <p:nvPr/>
        </p:nvSpPr>
        <p:spPr>
          <a:xfrm>
            <a:off x="9653400" y="3807000"/>
            <a:ext cx="963000" cy="48348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91"/>
          <p:cNvSpPr/>
          <p:nvPr/>
        </p:nvSpPr>
        <p:spPr>
          <a:xfrm>
            <a:off x="9673560" y="3817800"/>
            <a:ext cx="923400" cy="4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Chunk–Cluster–</a:t>
            </a:r>
            <a:endParaRPr b="0" lang="en-US" sz="8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Summary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33" name="Shape 92"/>
          <p:cNvSpPr/>
          <p:nvPr/>
        </p:nvSpPr>
        <p:spPr>
          <a:xfrm>
            <a:off x="10135440" y="4291200"/>
            <a:ext cx="360" cy="226080"/>
          </a:xfrm>
          <a:prstGeom prst="line">
            <a:avLst/>
          </a:prstGeom>
          <a:ln w="6985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93"/>
          <p:cNvSpPr/>
          <p:nvPr/>
        </p:nvSpPr>
        <p:spPr>
          <a:xfrm>
            <a:off x="9653400" y="4517640"/>
            <a:ext cx="963000" cy="515520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94"/>
          <p:cNvSpPr/>
          <p:nvPr/>
        </p:nvSpPr>
        <p:spPr>
          <a:xfrm>
            <a:off x="9673560" y="4528080"/>
            <a:ext cx="92340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820" spc="-1" strike="noStrike">
                <a:solidFill>
                  <a:srgbClr val="111111"/>
                </a:solidFill>
                <a:latin typeface="SimSun"/>
                <a:ea typeface="SimSun"/>
              </a:rPr>
              <a:t>多层级检索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36" name="Text 96"/>
          <p:cNvSpPr/>
          <p:nvPr/>
        </p:nvSpPr>
        <p:spPr>
          <a:xfrm>
            <a:off x="8462520" y="5572440"/>
            <a:ext cx="2124720" cy="3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80" spc="-1" strike="noStrike">
                <a:solidFill>
                  <a:srgbClr val="111111"/>
                </a:solidFill>
                <a:latin typeface="SimSun"/>
                <a:ea typeface="SimSun"/>
              </a:rPr>
              <a:t>从文本相似度到结构化知识理解</a:t>
            </a:r>
            <a:endParaRPr b="0" lang="en-US" sz="980" spc="-1" strike="noStrike">
              <a:latin typeface="Arial"/>
            </a:endParaRPr>
          </a:p>
        </p:txBody>
      </p:sp>
      <p:sp>
        <p:nvSpPr>
          <p:cNvPr id="137" name="Shape 97"/>
          <p:cNvSpPr/>
          <p:nvPr/>
        </p:nvSpPr>
        <p:spPr>
          <a:xfrm>
            <a:off x="11280600" y="3312000"/>
            <a:ext cx="1688760" cy="48348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98"/>
          <p:cNvSpPr/>
          <p:nvPr/>
        </p:nvSpPr>
        <p:spPr>
          <a:xfrm>
            <a:off x="11300400" y="3322440"/>
            <a:ext cx="1649160" cy="4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Adaptive RAG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39" name="Shape 99"/>
          <p:cNvSpPr/>
          <p:nvPr/>
        </p:nvSpPr>
        <p:spPr>
          <a:xfrm>
            <a:off x="12125160" y="3796200"/>
            <a:ext cx="360" cy="290520"/>
          </a:xfrm>
          <a:prstGeom prst="line">
            <a:avLst/>
          </a:prstGeom>
          <a:ln w="6985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Shape 100"/>
          <p:cNvSpPr/>
          <p:nvPr/>
        </p:nvSpPr>
        <p:spPr>
          <a:xfrm>
            <a:off x="11280600" y="4087080"/>
            <a:ext cx="1688760" cy="48348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101"/>
          <p:cNvSpPr/>
          <p:nvPr/>
        </p:nvSpPr>
        <p:spPr>
          <a:xfrm>
            <a:off x="11300400" y="4097520"/>
            <a:ext cx="164916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Self-RAG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42" name="Shape 102"/>
          <p:cNvSpPr/>
          <p:nvPr/>
        </p:nvSpPr>
        <p:spPr>
          <a:xfrm>
            <a:off x="12125160" y="4570920"/>
            <a:ext cx="360" cy="290880"/>
          </a:xfrm>
          <a:prstGeom prst="line">
            <a:avLst/>
          </a:prstGeom>
          <a:ln w="6985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Shape 103"/>
          <p:cNvSpPr/>
          <p:nvPr/>
        </p:nvSpPr>
        <p:spPr>
          <a:xfrm>
            <a:off x="11280600" y="4862160"/>
            <a:ext cx="1688760" cy="48348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104"/>
          <p:cNvSpPr/>
          <p:nvPr/>
        </p:nvSpPr>
        <p:spPr>
          <a:xfrm>
            <a:off x="11300400" y="4872600"/>
            <a:ext cx="164916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CRAG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45" name="Text 106"/>
          <p:cNvSpPr/>
          <p:nvPr/>
        </p:nvSpPr>
        <p:spPr>
          <a:xfrm>
            <a:off x="11062440" y="5486400"/>
            <a:ext cx="216432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91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910" spc="-1" strike="noStrike">
                <a:solidFill>
                  <a:srgbClr val="111111"/>
                </a:solidFill>
                <a:latin typeface="SimSun"/>
                <a:ea typeface="SimSun"/>
              </a:rPr>
              <a:t>何时检索、查什么、查多少</a:t>
            </a:r>
            <a:endParaRPr b="0" lang="en-US" sz="91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1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910" spc="-1" strike="noStrike">
                <a:solidFill>
                  <a:srgbClr val="111111"/>
                </a:solidFill>
                <a:latin typeface="SimSun"/>
                <a:ea typeface="SimSun"/>
              </a:rPr>
              <a:t>自反思 </a:t>
            </a:r>
            <a:r>
              <a:rPr b="0" lang="en-US" sz="91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0" lang="zh-CN" sz="910" spc="-1" strike="noStrike">
                <a:solidFill>
                  <a:srgbClr val="111111"/>
                </a:solidFill>
                <a:latin typeface="SimSun"/>
                <a:ea typeface="SimSun"/>
              </a:rPr>
              <a:t>纠错 </a:t>
            </a:r>
            <a:r>
              <a:rPr b="0" lang="en-US" sz="91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0" lang="zh-CN" sz="910" spc="-1" strike="noStrike">
                <a:solidFill>
                  <a:srgbClr val="111111"/>
                </a:solidFill>
                <a:latin typeface="SimSun"/>
                <a:ea typeface="SimSun"/>
              </a:rPr>
              <a:t>验证</a:t>
            </a:r>
            <a:endParaRPr b="0" lang="en-US" sz="91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10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910" spc="-1" strike="noStrike">
                <a:solidFill>
                  <a:srgbClr val="111111"/>
                </a:solidFill>
                <a:latin typeface="SimSun"/>
                <a:ea typeface="SimSun"/>
              </a:rPr>
              <a:t>从 </a:t>
            </a:r>
            <a:r>
              <a:rPr b="0" lang="en-US" sz="910" spc="-1" strike="noStrike">
                <a:solidFill>
                  <a:srgbClr val="111111"/>
                </a:solidFill>
                <a:latin typeface="SimSun"/>
                <a:ea typeface="SimSun"/>
              </a:rPr>
              <a:t>Accuracy </a:t>
            </a:r>
            <a:r>
              <a:rPr b="0" lang="zh-CN" sz="910" spc="-1" strike="noStrike">
                <a:solidFill>
                  <a:srgbClr val="111111"/>
                </a:solidFill>
                <a:latin typeface="SimSun"/>
                <a:ea typeface="SimSun"/>
              </a:rPr>
              <a:t>到 </a:t>
            </a:r>
            <a:r>
              <a:rPr b="0" lang="en-US" sz="910" spc="-1" strike="noStrike">
                <a:solidFill>
                  <a:srgbClr val="111111"/>
                </a:solidFill>
                <a:latin typeface="SimSun"/>
                <a:ea typeface="SimSun"/>
              </a:rPr>
              <a:t>Reliability</a:t>
            </a:r>
            <a:endParaRPr b="0" lang="en-US" sz="910" spc="-1" strike="noStrike">
              <a:latin typeface="Arial"/>
            </a:endParaRPr>
          </a:p>
        </p:txBody>
      </p:sp>
      <p:sp>
        <p:nvSpPr>
          <p:cNvPr id="146" name="Shape 107"/>
          <p:cNvSpPr/>
          <p:nvPr/>
        </p:nvSpPr>
        <p:spPr>
          <a:xfrm>
            <a:off x="13584240" y="3968280"/>
            <a:ext cx="751320" cy="580680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08"/>
          <p:cNvSpPr/>
          <p:nvPr/>
        </p:nvSpPr>
        <p:spPr>
          <a:xfrm>
            <a:off x="13604040" y="3979440"/>
            <a:ext cx="71208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Planning /</a:t>
            </a:r>
            <a:endParaRPr b="0" lang="en-US" sz="8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Routing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48" name="Shape 109"/>
          <p:cNvSpPr/>
          <p:nvPr/>
        </p:nvSpPr>
        <p:spPr>
          <a:xfrm>
            <a:off x="15049440" y="3182760"/>
            <a:ext cx="777960" cy="4514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10"/>
          <p:cNvSpPr/>
          <p:nvPr/>
        </p:nvSpPr>
        <p:spPr>
          <a:xfrm>
            <a:off x="15069240" y="3193920"/>
            <a:ext cx="738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6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Tool Use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50" name="Shape 111"/>
          <p:cNvSpPr/>
          <p:nvPr/>
        </p:nvSpPr>
        <p:spPr>
          <a:xfrm flipV="1">
            <a:off x="14336280" y="3408480"/>
            <a:ext cx="713160" cy="850680"/>
          </a:xfrm>
          <a:prstGeom prst="line">
            <a:avLst/>
          </a:prstGeom>
          <a:ln w="6985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Shape 112"/>
          <p:cNvSpPr/>
          <p:nvPr/>
        </p:nvSpPr>
        <p:spPr>
          <a:xfrm>
            <a:off x="15049440" y="3774600"/>
            <a:ext cx="777960" cy="4514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113"/>
          <p:cNvSpPr/>
          <p:nvPr/>
        </p:nvSpPr>
        <p:spPr>
          <a:xfrm>
            <a:off x="15069240" y="3785760"/>
            <a:ext cx="738720" cy="4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6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Memory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53" name="Shape 114"/>
          <p:cNvSpPr/>
          <p:nvPr/>
        </p:nvSpPr>
        <p:spPr>
          <a:xfrm flipV="1">
            <a:off x="14336280" y="4000680"/>
            <a:ext cx="713160" cy="258480"/>
          </a:xfrm>
          <a:prstGeom prst="line">
            <a:avLst/>
          </a:prstGeom>
          <a:ln w="6985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Shape 115"/>
          <p:cNvSpPr/>
          <p:nvPr/>
        </p:nvSpPr>
        <p:spPr>
          <a:xfrm>
            <a:off x="15049440" y="4366800"/>
            <a:ext cx="777960" cy="4510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116"/>
          <p:cNvSpPr/>
          <p:nvPr/>
        </p:nvSpPr>
        <p:spPr>
          <a:xfrm>
            <a:off x="15069240" y="4377600"/>
            <a:ext cx="738720" cy="4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6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Multimodal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56" name="Shape 117"/>
          <p:cNvSpPr/>
          <p:nvPr/>
        </p:nvSpPr>
        <p:spPr>
          <a:xfrm>
            <a:off x="14336280" y="4259160"/>
            <a:ext cx="713160" cy="333360"/>
          </a:xfrm>
          <a:prstGeom prst="line">
            <a:avLst/>
          </a:prstGeom>
          <a:ln w="6985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Shape 118"/>
          <p:cNvSpPr/>
          <p:nvPr/>
        </p:nvSpPr>
        <p:spPr>
          <a:xfrm>
            <a:off x="15049440" y="4958640"/>
            <a:ext cx="777960" cy="4514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119"/>
          <p:cNvSpPr/>
          <p:nvPr/>
        </p:nvSpPr>
        <p:spPr>
          <a:xfrm>
            <a:off x="15069240" y="4969800"/>
            <a:ext cx="738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6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Online Data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59" name="Shape 120"/>
          <p:cNvSpPr/>
          <p:nvPr/>
        </p:nvSpPr>
        <p:spPr>
          <a:xfrm>
            <a:off x="14336280" y="4259160"/>
            <a:ext cx="713160" cy="925560"/>
          </a:xfrm>
          <a:prstGeom prst="line">
            <a:avLst/>
          </a:prstGeom>
          <a:ln w="6985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122"/>
          <p:cNvSpPr/>
          <p:nvPr/>
        </p:nvSpPr>
        <p:spPr>
          <a:xfrm>
            <a:off x="13663080" y="5464800"/>
            <a:ext cx="216432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US" sz="889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889" spc="-1" strike="noStrike">
                <a:solidFill>
                  <a:srgbClr val="111111"/>
                </a:solidFill>
                <a:latin typeface="SimSun"/>
                <a:ea typeface="SimSun"/>
              </a:rPr>
              <a:t>检索与推理交替进行</a:t>
            </a:r>
            <a:endParaRPr b="0" lang="en-US" sz="889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889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zh-CN" sz="889" spc="-1" strike="noStrike">
                <a:solidFill>
                  <a:srgbClr val="111111"/>
                </a:solidFill>
                <a:latin typeface="SimSun"/>
                <a:ea typeface="SimSun"/>
              </a:rPr>
              <a:t>面向任务的动态知识访问</a:t>
            </a:r>
            <a:endParaRPr b="0" lang="en-US" sz="889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9" spc="-1" strike="noStrike">
                <a:solidFill>
                  <a:srgbClr val="111111"/>
                </a:solidFill>
                <a:latin typeface="SimSun"/>
                <a:ea typeface="SimSun"/>
              </a:rPr>
              <a:t>•  </a:t>
            </a:r>
            <a:r>
              <a:rPr b="0" lang="en-US" sz="889" spc="-1" strike="noStrike">
                <a:solidFill>
                  <a:srgbClr val="111111"/>
                </a:solidFill>
                <a:latin typeface="SimSun"/>
                <a:ea typeface="SimSun"/>
              </a:rPr>
              <a:t>RAG </a:t>
            </a:r>
            <a:r>
              <a:rPr b="0" lang="zh-CN" sz="889" spc="-1" strike="noStrike">
                <a:solidFill>
                  <a:srgbClr val="111111"/>
                </a:solidFill>
                <a:latin typeface="SimSun"/>
                <a:ea typeface="SimSun"/>
              </a:rPr>
              <a:t>成为 </a:t>
            </a:r>
            <a:r>
              <a:rPr b="0" lang="en-US" sz="889" spc="-1" strike="noStrike">
                <a:solidFill>
                  <a:srgbClr val="111111"/>
                </a:solidFill>
                <a:latin typeface="SimSun"/>
                <a:ea typeface="SimSun"/>
              </a:rPr>
              <a:t>Agent </a:t>
            </a:r>
            <a:r>
              <a:rPr b="0" lang="zh-CN" sz="889" spc="-1" strike="noStrike">
                <a:solidFill>
                  <a:srgbClr val="111111"/>
                </a:solidFill>
                <a:latin typeface="SimSun"/>
                <a:ea typeface="SimSun"/>
              </a:rPr>
              <a:t>的知识基础设施</a:t>
            </a:r>
            <a:endParaRPr b="0" lang="en-US" sz="889" spc="-1" strike="noStrike">
              <a:latin typeface="Arial"/>
            </a:endParaRPr>
          </a:p>
        </p:txBody>
      </p:sp>
      <p:sp>
        <p:nvSpPr>
          <p:cNvPr id="161" name="Shape 123"/>
          <p:cNvSpPr/>
          <p:nvPr/>
        </p:nvSpPr>
        <p:spPr>
          <a:xfrm>
            <a:off x="482400" y="7079040"/>
            <a:ext cx="15483600" cy="55908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124"/>
          <p:cNvSpPr/>
          <p:nvPr/>
        </p:nvSpPr>
        <p:spPr>
          <a:xfrm>
            <a:off x="720000" y="7176240"/>
            <a:ext cx="1500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150" spc="-1" strike="noStrike">
                <a:solidFill>
                  <a:srgbClr val="111111"/>
                </a:solidFill>
                <a:latin typeface="SimSun"/>
                <a:ea typeface="SimSun"/>
              </a:rPr>
              <a:t>结论：</a:t>
            </a:r>
            <a:r>
              <a:rPr b="1" lang="en-US" sz="1150" spc="-1" strike="noStrike">
                <a:solidFill>
                  <a:srgbClr val="111111"/>
                </a:solidFill>
                <a:latin typeface="SimSun"/>
                <a:ea typeface="SimSun"/>
              </a:rPr>
              <a:t>RAG </a:t>
            </a:r>
            <a:r>
              <a:rPr b="1" lang="zh-CN" sz="1150" spc="-1" strike="noStrike">
                <a:solidFill>
                  <a:srgbClr val="111111"/>
                </a:solidFill>
                <a:latin typeface="SimSun"/>
                <a:ea typeface="SimSun"/>
              </a:rPr>
              <a:t>不是单线替代，而是检索能力、知识组织、流程控制、知识模态与可靠性五个维度的并行升级。</a:t>
            </a:r>
            <a:endParaRPr b="0" lang="en-US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Online frame"/>
          <p:cNvSpPr/>
          <p:nvPr/>
        </p:nvSpPr>
        <p:spPr>
          <a:xfrm>
            <a:off x="142920" y="628560"/>
            <a:ext cx="16610400" cy="3837600"/>
          </a:xfrm>
          <a:prstGeom prst="roundRect">
            <a:avLst>
              <a:gd name="adj" fmla="val 4218"/>
            </a:avLst>
          </a:prstGeom>
          <a:noFill/>
          <a:ln w="12859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"/>
          <p:cNvSpPr/>
          <p:nvPr/>
        </p:nvSpPr>
        <p:spPr>
          <a:xfrm>
            <a:off x="352440" y="771480"/>
            <a:ext cx="666648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Online Inference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5" name="Offline frame"/>
          <p:cNvSpPr/>
          <p:nvPr/>
        </p:nvSpPr>
        <p:spPr>
          <a:xfrm>
            <a:off x="142920" y="4724280"/>
            <a:ext cx="16610400" cy="3132720"/>
          </a:xfrm>
          <a:prstGeom prst="roundRect">
            <a:avLst>
              <a:gd name="adj" fmla="val 5167"/>
            </a:avLst>
          </a:prstGeom>
          <a:noFill/>
          <a:ln w="12859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"/>
          <p:cNvSpPr/>
          <p:nvPr/>
        </p:nvSpPr>
        <p:spPr>
          <a:xfrm>
            <a:off x="352440" y="4838760"/>
            <a:ext cx="723780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Offline Data &amp; Training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324000" y="1943280"/>
            <a:ext cx="1446840" cy="1618200"/>
          </a:xfrm>
          <a:prstGeom prst="roundRect">
            <a:avLst>
              <a:gd name="adj" fmla="val 4605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"/>
          <p:cNvSpPr/>
          <p:nvPr/>
        </p:nvSpPr>
        <p:spPr>
          <a:xfrm>
            <a:off x="371520" y="2171880"/>
            <a:ext cx="135144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User Query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390600" y="2610000"/>
            <a:ext cx="1313280" cy="75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2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q</a:t>
            </a:r>
            <a:endParaRPr b="0" lang="en-US" sz="12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(natural</a:t>
            </a:r>
            <a:endParaRPr b="0" lang="en-US" sz="12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language)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1933560" y="1943280"/>
            <a:ext cx="1589760" cy="1618200"/>
          </a:xfrm>
          <a:prstGeom prst="roundRect">
            <a:avLst>
              <a:gd name="adj" fmla="val 4192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"/>
          <p:cNvSpPr/>
          <p:nvPr/>
        </p:nvSpPr>
        <p:spPr>
          <a:xfrm>
            <a:off x="1981080" y="2124000"/>
            <a:ext cx="1494360" cy="61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Entity &amp;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Lexical Parsing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2000160" y="2771640"/>
            <a:ext cx="14562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entities, keywords,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control context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3676680" y="1943280"/>
            <a:ext cx="1494360" cy="1618200"/>
          </a:xfrm>
          <a:prstGeom prst="roundRect">
            <a:avLst>
              <a:gd name="adj" fmla="val 445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"/>
          <p:cNvSpPr/>
          <p:nvPr/>
        </p:nvSpPr>
        <p:spPr>
          <a:xfrm>
            <a:off x="3724200" y="2200320"/>
            <a:ext cx="139896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Pre-Router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3743280" y="2610000"/>
            <a:ext cx="1361160" cy="7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2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channel budget +</a:t>
            </a:r>
            <a:endParaRPr b="0" lang="en-US" sz="12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initial weights</a:t>
            </a:r>
            <a:endParaRPr b="0" lang="en-US" sz="12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w = f(q)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1771560" y="2752560"/>
            <a:ext cx="160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"/>
          <p:cNvSpPr/>
          <p:nvPr/>
        </p:nvSpPr>
        <p:spPr>
          <a:xfrm>
            <a:off x="3524400" y="2752560"/>
            <a:ext cx="151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"/>
          <p:cNvSpPr/>
          <p:nvPr/>
        </p:nvSpPr>
        <p:spPr>
          <a:xfrm>
            <a:off x="5505480" y="1057320"/>
            <a:ext cx="3342240" cy="3294720"/>
          </a:xfrm>
          <a:prstGeom prst="roundRect">
            <a:avLst>
              <a:gd name="adj" fmla="val 3757"/>
            </a:avLst>
          </a:prstGeom>
          <a:noFill/>
          <a:ln w="11906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"/>
          <p:cNvSpPr/>
          <p:nvPr/>
        </p:nvSpPr>
        <p:spPr>
          <a:xfrm>
            <a:off x="5505480" y="1085760"/>
            <a:ext cx="33422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8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Retriever Experts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5867280" y="1400040"/>
            <a:ext cx="2713680" cy="618120"/>
          </a:xfrm>
          <a:prstGeom prst="roundRect">
            <a:avLst>
              <a:gd name="adj" fmla="val 1076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"/>
          <p:cNvSpPr/>
          <p:nvPr/>
        </p:nvSpPr>
        <p:spPr>
          <a:xfrm>
            <a:off x="5915160" y="1419120"/>
            <a:ext cx="26182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BM25 Expert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5934240" y="1657440"/>
            <a:ext cx="258012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exact terms / abbreviations 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PV fragments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5867280" y="2104920"/>
            <a:ext cx="2713680" cy="618120"/>
          </a:xfrm>
          <a:prstGeom prst="roundRect">
            <a:avLst>
              <a:gd name="adj" fmla="val 1076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"/>
          <p:cNvSpPr/>
          <p:nvPr/>
        </p:nvSpPr>
        <p:spPr>
          <a:xfrm>
            <a:off x="5915160" y="2124000"/>
            <a:ext cx="26182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Dense Expert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5934240" y="2362320"/>
            <a:ext cx="258012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semantic concepts 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paraphrases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5867280" y="2819520"/>
            <a:ext cx="2713680" cy="646560"/>
          </a:xfrm>
          <a:prstGeom prst="roundRect">
            <a:avLst>
              <a:gd name="adj" fmla="val 10294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"/>
          <p:cNvSpPr/>
          <p:nvPr/>
        </p:nvSpPr>
        <p:spPr>
          <a:xfrm>
            <a:off x="5915160" y="2838600"/>
            <a:ext cx="26182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PV / Registry Expert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5934240" y="3095640"/>
            <a:ext cx="258012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identifier grounding 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validity lookup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5867280" y="3552840"/>
            <a:ext cx="2713680" cy="665640"/>
          </a:xfrm>
          <a:prstGeom prst="roundRect">
            <a:avLst>
              <a:gd name="adj" fmla="val 10000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"/>
          <p:cNvSpPr/>
          <p:nvPr/>
        </p:nvSpPr>
        <p:spPr>
          <a:xfrm>
            <a:off x="5915160" y="3571920"/>
            <a:ext cx="26182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Metadata Expert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5934240" y="3828960"/>
            <a:ext cx="258012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subsystem / doc type 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version filtering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 flipV="1">
            <a:off x="5172120" y="1708920"/>
            <a:ext cx="694080" cy="104184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"/>
          <p:cNvSpPr/>
          <p:nvPr/>
        </p:nvSpPr>
        <p:spPr>
          <a:xfrm flipV="1">
            <a:off x="5172120" y="2413800"/>
            <a:ext cx="694080" cy="33696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"/>
          <p:cNvSpPr/>
          <p:nvPr/>
        </p:nvSpPr>
        <p:spPr>
          <a:xfrm>
            <a:off x="5172120" y="2752560"/>
            <a:ext cx="694080" cy="38952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"/>
          <p:cNvSpPr/>
          <p:nvPr/>
        </p:nvSpPr>
        <p:spPr>
          <a:xfrm>
            <a:off x="5172120" y="2752560"/>
            <a:ext cx="694080" cy="113256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"/>
          <p:cNvSpPr/>
          <p:nvPr/>
        </p:nvSpPr>
        <p:spPr>
          <a:xfrm>
            <a:off x="9010800" y="1943280"/>
            <a:ext cx="1398960" cy="1618200"/>
          </a:xfrm>
          <a:prstGeom prst="roundRect">
            <a:avLst>
              <a:gd name="adj" fmla="val 4762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"/>
          <p:cNvSpPr/>
          <p:nvPr/>
        </p:nvSpPr>
        <p:spPr>
          <a:xfrm>
            <a:off x="9058320" y="2228760"/>
            <a:ext cx="1303920" cy="5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Candidate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Normalization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9077400" y="2838600"/>
            <a:ext cx="1265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unify evidence units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across metadata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8848800" y="2705040"/>
            <a:ext cx="160920" cy="46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"/>
          <p:cNvSpPr/>
          <p:nvPr/>
        </p:nvSpPr>
        <p:spPr>
          <a:xfrm>
            <a:off x="10544040" y="1895400"/>
            <a:ext cx="1503720" cy="1761120"/>
          </a:xfrm>
          <a:prstGeom prst="roundRect">
            <a:avLst>
              <a:gd name="adj" fmla="val 4430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"/>
          <p:cNvSpPr/>
          <p:nvPr/>
        </p:nvSpPr>
        <p:spPr>
          <a:xfrm>
            <a:off x="10591920" y="2028960"/>
            <a:ext cx="1408680" cy="5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Control-object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Risk Scorer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10611000" y="2581200"/>
            <a:ext cx="1370520" cy="96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Sᵣ(c | q)</a:t>
            </a:r>
            <a:endParaRPr b="0" lang="en-US" sz="117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area · subsystem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device · signal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qualifier · validity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10410840" y="2752560"/>
            <a:ext cx="132120" cy="22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"/>
          <p:cNvSpPr/>
          <p:nvPr/>
        </p:nvSpPr>
        <p:spPr>
          <a:xfrm>
            <a:off x="12192120" y="1895400"/>
            <a:ext cx="1456200" cy="1761120"/>
          </a:xfrm>
          <a:prstGeom prst="roundRect">
            <a:avLst>
              <a:gd name="adj" fmla="val 4575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"/>
          <p:cNvSpPr/>
          <p:nvPr/>
        </p:nvSpPr>
        <p:spPr>
          <a:xfrm>
            <a:off x="12239640" y="2057400"/>
            <a:ext cx="1361160" cy="55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Risk-aware</a:t>
            </a:r>
            <a:endParaRPr b="0" lang="en-US" sz="13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Fusion / Reranker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12258720" y="2638440"/>
            <a:ext cx="132300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relevance +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structure risk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S(c | q, r)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12049200" y="2776680"/>
            <a:ext cx="1418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"/>
          <p:cNvSpPr/>
          <p:nvPr/>
        </p:nvSpPr>
        <p:spPr>
          <a:xfrm>
            <a:off x="13773240" y="1895400"/>
            <a:ext cx="1522800" cy="1761120"/>
          </a:xfrm>
          <a:prstGeom prst="roundRect">
            <a:avLst>
              <a:gd name="adj" fmla="val 4375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"/>
          <p:cNvSpPr/>
          <p:nvPr/>
        </p:nvSpPr>
        <p:spPr>
          <a:xfrm>
            <a:off x="13820760" y="2085840"/>
            <a:ext cx="14277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Confidence /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Abstention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13839840" y="2638440"/>
            <a:ext cx="138960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answer / ask for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clarification / refuse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p(a | q, c)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13649400" y="2776680"/>
            <a:ext cx="122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"/>
          <p:cNvSpPr/>
          <p:nvPr/>
        </p:nvSpPr>
        <p:spPr>
          <a:xfrm>
            <a:off x="15411600" y="1895400"/>
            <a:ext cx="1189440" cy="1761120"/>
          </a:xfrm>
          <a:prstGeom prst="roundRect">
            <a:avLst>
              <a:gd name="adj" fmla="val 5600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"/>
          <p:cNvSpPr/>
          <p:nvPr/>
        </p:nvSpPr>
        <p:spPr>
          <a:xfrm>
            <a:off x="15459120" y="2238480"/>
            <a:ext cx="109440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Generated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Answer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15478200" y="2895480"/>
            <a:ext cx="105624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a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15297120" y="2776680"/>
            <a:ext cx="1134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"/>
          <p:cNvSpPr/>
          <p:nvPr/>
        </p:nvSpPr>
        <p:spPr>
          <a:xfrm>
            <a:off x="324000" y="5362560"/>
            <a:ext cx="2980080" cy="2313360"/>
          </a:xfrm>
          <a:prstGeom prst="roundRect">
            <a:avLst>
              <a:gd name="adj" fmla="val 5350"/>
            </a:avLst>
          </a:prstGeom>
          <a:noFill/>
          <a:ln w="11906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"/>
          <p:cNvSpPr/>
          <p:nvPr/>
        </p:nvSpPr>
        <p:spPr>
          <a:xfrm>
            <a:off x="514440" y="5391000"/>
            <a:ext cx="18086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Data Sources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476280" y="5715000"/>
            <a:ext cx="2475360" cy="865800"/>
          </a:xfrm>
          <a:prstGeom prst="roundRect">
            <a:avLst>
              <a:gd name="adj" fmla="val 7692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"/>
          <p:cNvSpPr/>
          <p:nvPr/>
        </p:nvSpPr>
        <p:spPr>
          <a:xfrm>
            <a:off x="523800" y="5762520"/>
            <a:ext cx="238032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Accelerator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Documentation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542880" y="6238800"/>
            <a:ext cx="23421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09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manuals / reports /</a:t>
            </a:r>
            <a:endParaRPr b="0" lang="en-US" sz="109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09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procedures</a:t>
            </a:r>
            <a:endParaRPr b="0" lang="en-US" sz="1090" spc="-1" strike="noStrike"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476280" y="6657840"/>
            <a:ext cx="2475360" cy="875160"/>
          </a:xfrm>
          <a:prstGeom prst="roundRect">
            <a:avLst>
              <a:gd name="adj" fmla="val 760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"/>
          <p:cNvSpPr/>
          <p:nvPr/>
        </p:nvSpPr>
        <p:spPr>
          <a:xfrm>
            <a:off x="523800" y="6705720"/>
            <a:ext cx="238032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EPICS Registry /</a:t>
            </a:r>
            <a:endParaRPr b="0" lang="en-US" sz="13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IOC-PV Metadata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542880" y="7191360"/>
            <a:ext cx="234216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09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PV / IOC / area / subsystem /</a:t>
            </a:r>
            <a:endParaRPr b="0" lang="en-US" sz="109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09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device / signal</a:t>
            </a:r>
            <a:endParaRPr b="0" lang="en-US" sz="1090" spc="-1" strike="noStrike"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3552840" y="6086520"/>
            <a:ext cx="1513440" cy="875160"/>
          </a:xfrm>
          <a:prstGeom prst="roundRect">
            <a:avLst>
              <a:gd name="adj" fmla="val 760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"/>
          <p:cNvSpPr/>
          <p:nvPr/>
        </p:nvSpPr>
        <p:spPr>
          <a:xfrm>
            <a:off x="3600360" y="6191280"/>
            <a:ext cx="1418040" cy="64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Indexer /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Normalizer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2952720" y="6148440"/>
            <a:ext cx="599040" cy="37512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"/>
          <p:cNvSpPr/>
          <p:nvPr/>
        </p:nvSpPr>
        <p:spPr>
          <a:xfrm flipV="1">
            <a:off x="2952720" y="6523200"/>
            <a:ext cx="599040" cy="57060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"/>
          <p:cNvSpPr/>
          <p:nvPr/>
        </p:nvSpPr>
        <p:spPr>
          <a:xfrm>
            <a:off x="5295960" y="5353200"/>
            <a:ext cx="3199320" cy="2151720"/>
          </a:xfrm>
          <a:prstGeom prst="roundRect">
            <a:avLst>
              <a:gd name="adj" fmla="val 5752"/>
            </a:avLst>
          </a:prstGeom>
          <a:noFill/>
          <a:ln w="11906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"/>
          <p:cNvSpPr/>
          <p:nvPr/>
        </p:nvSpPr>
        <p:spPr>
          <a:xfrm>
            <a:off x="5295960" y="5381640"/>
            <a:ext cx="319932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Multi-source Indexes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5695920" y="5734080"/>
            <a:ext cx="2589840" cy="351360"/>
          </a:xfrm>
          <a:prstGeom prst="roundRect">
            <a:avLst>
              <a:gd name="adj" fmla="val 1891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"/>
          <p:cNvSpPr/>
          <p:nvPr/>
        </p:nvSpPr>
        <p:spPr>
          <a:xfrm>
            <a:off x="5743440" y="5753160"/>
            <a:ext cx="249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4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BM25 Index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5695920" y="6153120"/>
            <a:ext cx="2589840" cy="351360"/>
          </a:xfrm>
          <a:prstGeom prst="roundRect">
            <a:avLst>
              <a:gd name="adj" fmla="val 1891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"/>
          <p:cNvSpPr/>
          <p:nvPr/>
        </p:nvSpPr>
        <p:spPr>
          <a:xfrm>
            <a:off x="5743440" y="6172200"/>
            <a:ext cx="249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4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Dense Vector Store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5695920" y="6581880"/>
            <a:ext cx="2589840" cy="351360"/>
          </a:xfrm>
          <a:prstGeom prst="roundRect">
            <a:avLst>
              <a:gd name="adj" fmla="val 1891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"/>
          <p:cNvSpPr/>
          <p:nvPr/>
        </p:nvSpPr>
        <p:spPr>
          <a:xfrm>
            <a:off x="5743440" y="6600960"/>
            <a:ext cx="249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4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Registry Store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5695920" y="7000920"/>
            <a:ext cx="2589840" cy="351360"/>
          </a:xfrm>
          <a:prstGeom prst="roundRect">
            <a:avLst>
              <a:gd name="adj" fmla="val 1891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"/>
          <p:cNvSpPr/>
          <p:nvPr/>
        </p:nvSpPr>
        <p:spPr>
          <a:xfrm>
            <a:off x="5743440" y="7020000"/>
            <a:ext cx="249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4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Metadata Store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 flipV="1">
            <a:off x="5067360" y="5909400"/>
            <a:ext cx="627480" cy="61344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"/>
          <p:cNvSpPr/>
          <p:nvPr/>
        </p:nvSpPr>
        <p:spPr>
          <a:xfrm flipV="1">
            <a:off x="5067360" y="6328080"/>
            <a:ext cx="627480" cy="19404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"/>
          <p:cNvSpPr/>
          <p:nvPr/>
        </p:nvSpPr>
        <p:spPr>
          <a:xfrm>
            <a:off x="5067360" y="6524640"/>
            <a:ext cx="627480" cy="23220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"/>
          <p:cNvSpPr/>
          <p:nvPr/>
        </p:nvSpPr>
        <p:spPr>
          <a:xfrm>
            <a:off x="5067360" y="6524640"/>
            <a:ext cx="627480" cy="65124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"/>
          <p:cNvSpPr/>
          <p:nvPr/>
        </p:nvSpPr>
        <p:spPr>
          <a:xfrm>
            <a:off x="8772480" y="5353200"/>
            <a:ext cx="7761960" cy="2180160"/>
          </a:xfrm>
          <a:prstGeom prst="roundRect">
            <a:avLst>
              <a:gd name="adj" fmla="val 5677"/>
            </a:avLst>
          </a:prstGeom>
          <a:noFill/>
          <a:ln w="11906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"/>
          <p:cNvSpPr/>
          <p:nvPr/>
        </p:nvSpPr>
        <p:spPr>
          <a:xfrm>
            <a:off x="8962920" y="5381640"/>
            <a:ext cx="2665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Training &amp; Benchmark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8896320" y="5896080"/>
            <a:ext cx="2684880" cy="1170360"/>
          </a:xfrm>
          <a:prstGeom prst="roundRect">
            <a:avLst>
              <a:gd name="adj" fmla="val 5691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"/>
          <p:cNvSpPr/>
          <p:nvPr/>
        </p:nvSpPr>
        <p:spPr>
          <a:xfrm>
            <a:off x="8943840" y="6076800"/>
            <a:ext cx="2589840" cy="76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Structure-preserving</a:t>
            </a:r>
            <a:endParaRPr b="0" lang="en-US" sz="13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2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Counterfactual Negatives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11715840" y="5905440"/>
            <a:ext cx="2189520" cy="1141920"/>
          </a:xfrm>
          <a:prstGeom prst="roundRect">
            <a:avLst>
              <a:gd name="adj" fmla="val 5833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"/>
          <p:cNvSpPr/>
          <p:nvPr/>
        </p:nvSpPr>
        <p:spPr>
          <a:xfrm>
            <a:off x="11763360" y="6086520"/>
            <a:ext cx="209448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Risk-labeled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Benchmark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11782440" y="6620040"/>
            <a:ext cx="205632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relevance + structure risk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14192280" y="5896080"/>
            <a:ext cx="2237400" cy="1161000"/>
          </a:xfrm>
          <a:prstGeom prst="roundRect">
            <a:avLst>
              <a:gd name="adj" fmla="val 5738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"/>
          <p:cNvSpPr/>
          <p:nvPr/>
        </p:nvSpPr>
        <p:spPr>
          <a:xfrm>
            <a:off x="14239800" y="6019920"/>
            <a:ext cx="214200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Structure-OOD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Splits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14258880" y="6591240"/>
            <a:ext cx="210384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generalize beyond</a:t>
            </a:r>
            <a:endParaRPr b="0" lang="en-US" sz="113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3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seen layouts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 flipV="1">
            <a:off x="11582280" y="6476400"/>
            <a:ext cx="132120" cy="3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"/>
          <p:cNvSpPr/>
          <p:nvPr/>
        </p:nvSpPr>
        <p:spPr>
          <a:xfrm>
            <a:off x="13906440" y="6477120"/>
            <a:ext cx="284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"/>
          <p:cNvSpPr/>
          <p:nvPr/>
        </p:nvSpPr>
        <p:spPr>
          <a:xfrm>
            <a:off x="7162920" y="5353200"/>
            <a:ext cx="27360" cy="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"/>
          <p:cNvSpPr/>
          <p:nvPr/>
        </p:nvSpPr>
        <p:spPr>
          <a:xfrm flipV="1">
            <a:off x="7270920" y="4218840"/>
            <a:ext cx="360" cy="1161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240">
            <a:solidFill>
              <a:srgbClr val="111111"/>
            </a:solidFill>
            <a:prstDash val="dash"/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"/>
          <p:cNvSpPr/>
          <p:nvPr/>
        </p:nvSpPr>
        <p:spPr>
          <a:xfrm>
            <a:off x="11268000" y="5353200"/>
            <a:ext cx="27360" cy="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"/>
          <p:cNvSpPr/>
          <p:nvPr/>
        </p:nvSpPr>
        <p:spPr>
          <a:xfrm flipH="1" flipV="1">
            <a:off x="11373120" y="3656160"/>
            <a:ext cx="360" cy="1695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240">
            <a:solidFill>
              <a:srgbClr val="111111"/>
            </a:solidFill>
            <a:prstDash val="dash"/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"/>
          <p:cNvSpPr/>
          <p:nvPr/>
        </p:nvSpPr>
        <p:spPr>
          <a:xfrm>
            <a:off x="12897000" y="5353200"/>
            <a:ext cx="27360" cy="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"/>
          <p:cNvSpPr/>
          <p:nvPr/>
        </p:nvSpPr>
        <p:spPr>
          <a:xfrm flipH="1" flipV="1">
            <a:off x="12918960" y="3656160"/>
            <a:ext cx="4680" cy="1694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240">
            <a:solidFill>
              <a:srgbClr val="111111"/>
            </a:solidFill>
            <a:prstDash val="dash"/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在线框架"/>
          <p:cNvSpPr/>
          <p:nvPr/>
        </p:nvSpPr>
        <p:spPr>
          <a:xfrm>
            <a:off x="142920" y="628560"/>
            <a:ext cx="16610400" cy="3837600"/>
          </a:xfrm>
          <a:prstGeom prst="roundRect">
            <a:avLst>
              <a:gd name="adj" fmla="val 4218"/>
            </a:avLst>
          </a:prstGeom>
          <a:noFill/>
          <a:ln w="12859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"/>
          <p:cNvSpPr/>
          <p:nvPr/>
        </p:nvSpPr>
        <p:spPr>
          <a:xfrm>
            <a:off x="352440" y="771480"/>
            <a:ext cx="666648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2400" spc="-1" strike="noStrike">
                <a:solidFill>
                  <a:srgbClr val="111111"/>
                </a:solidFill>
                <a:latin typeface="SimSun"/>
                <a:ea typeface="SimSun"/>
              </a:rPr>
              <a:t>在线推理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62" name="离线框架"/>
          <p:cNvSpPr/>
          <p:nvPr/>
        </p:nvSpPr>
        <p:spPr>
          <a:xfrm>
            <a:off x="142920" y="4724280"/>
            <a:ext cx="16610400" cy="3132720"/>
          </a:xfrm>
          <a:prstGeom prst="roundRect">
            <a:avLst>
              <a:gd name="adj" fmla="val 5167"/>
            </a:avLst>
          </a:prstGeom>
          <a:noFill/>
          <a:ln w="12859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"/>
          <p:cNvSpPr/>
          <p:nvPr/>
        </p:nvSpPr>
        <p:spPr>
          <a:xfrm>
            <a:off x="352440" y="4838760"/>
            <a:ext cx="723780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2400" spc="-1" strike="noStrike">
                <a:solidFill>
                  <a:srgbClr val="111111"/>
                </a:solidFill>
                <a:latin typeface="SimSun"/>
                <a:ea typeface="SimSun"/>
              </a:rPr>
              <a:t>离线数据与训练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324000" y="1943280"/>
            <a:ext cx="1446840" cy="1618200"/>
          </a:xfrm>
          <a:prstGeom prst="roundRect">
            <a:avLst>
              <a:gd name="adj" fmla="val 4605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"/>
          <p:cNvSpPr/>
          <p:nvPr/>
        </p:nvSpPr>
        <p:spPr>
          <a:xfrm>
            <a:off x="371520" y="2171880"/>
            <a:ext cx="135144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430" spc="-1" strike="noStrike">
                <a:solidFill>
                  <a:srgbClr val="111111"/>
                </a:solidFill>
                <a:latin typeface="SimSun"/>
                <a:ea typeface="SimSun"/>
              </a:rPr>
              <a:t>用户查询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390600" y="2610000"/>
            <a:ext cx="1313280" cy="75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280" spc="-1" strike="noStrike">
                <a:solidFill>
                  <a:srgbClr val="111111"/>
                </a:solidFill>
                <a:latin typeface="SimSun"/>
                <a:ea typeface="SimSun"/>
              </a:rPr>
              <a:t>q</a:t>
            </a:r>
            <a:endParaRPr b="0" lang="en-US" sz="12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280" spc="-1" strike="noStrike">
                <a:solidFill>
                  <a:srgbClr val="111111"/>
                </a:solidFill>
                <a:latin typeface="SimSun"/>
                <a:ea typeface="SimSun"/>
              </a:rPr>
              <a:t>（自然语言）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1933560" y="1943280"/>
            <a:ext cx="1589760" cy="1618200"/>
          </a:xfrm>
          <a:prstGeom prst="roundRect">
            <a:avLst>
              <a:gd name="adj" fmla="val 4192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"/>
          <p:cNvSpPr/>
          <p:nvPr/>
        </p:nvSpPr>
        <p:spPr>
          <a:xfrm>
            <a:off x="1981080" y="2124000"/>
            <a:ext cx="1494360" cy="61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实体与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词法解析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2000160" y="2771640"/>
            <a:ext cx="14562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200" spc="-1" strike="noStrike">
                <a:solidFill>
                  <a:srgbClr val="111111"/>
                </a:solidFill>
                <a:latin typeface="SimSun"/>
                <a:ea typeface="SimSun"/>
              </a:rPr>
              <a:t>实体、关键词、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200" spc="-1" strike="noStrike">
                <a:solidFill>
                  <a:srgbClr val="111111"/>
                </a:solidFill>
                <a:latin typeface="SimSun"/>
                <a:ea typeface="SimSun"/>
              </a:rPr>
              <a:t>控制上下文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3676680" y="1943280"/>
            <a:ext cx="1494360" cy="1618200"/>
          </a:xfrm>
          <a:prstGeom prst="roundRect">
            <a:avLst>
              <a:gd name="adj" fmla="val 445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"/>
          <p:cNvSpPr/>
          <p:nvPr/>
        </p:nvSpPr>
        <p:spPr>
          <a:xfrm>
            <a:off x="3724200" y="2200320"/>
            <a:ext cx="139896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430" spc="-1" strike="noStrike">
                <a:solidFill>
                  <a:srgbClr val="111111"/>
                </a:solidFill>
                <a:latin typeface="SimSun"/>
                <a:ea typeface="SimSun"/>
              </a:rPr>
              <a:t>检索前路由器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3743280" y="2610000"/>
            <a:ext cx="1361160" cy="7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280" spc="-1" strike="noStrike">
                <a:solidFill>
                  <a:srgbClr val="111111"/>
                </a:solidFill>
                <a:latin typeface="SimSun"/>
                <a:ea typeface="SimSun"/>
              </a:rPr>
              <a:t>通道预算 </a:t>
            </a:r>
            <a:r>
              <a:rPr b="0" i="1" lang="en-US" sz="1280" spc="-1" strike="noStrike">
                <a:solidFill>
                  <a:srgbClr val="111111"/>
                </a:solidFill>
                <a:latin typeface="SimSun"/>
                <a:ea typeface="SimSun"/>
              </a:rPr>
              <a:t>+</a:t>
            </a:r>
            <a:endParaRPr b="0" lang="en-US" sz="12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280" spc="-1" strike="noStrike">
                <a:solidFill>
                  <a:srgbClr val="111111"/>
                </a:solidFill>
                <a:latin typeface="SimSun"/>
                <a:ea typeface="SimSun"/>
              </a:rPr>
              <a:t>初始权重</a:t>
            </a:r>
            <a:endParaRPr b="0" lang="en-US" sz="128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80" spc="-1" strike="noStrike">
                <a:solidFill>
                  <a:srgbClr val="111111"/>
                </a:solidFill>
                <a:latin typeface="SimSun"/>
                <a:ea typeface="SimSun"/>
              </a:rPr>
              <a:t>w = f(q)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1771560" y="2752560"/>
            <a:ext cx="160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"/>
          <p:cNvSpPr/>
          <p:nvPr/>
        </p:nvSpPr>
        <p:spPr>
          <a:xfrm>
            <a:off x="3524400" y="2752560"/>
            <a:ext cx="151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"/>
          <p:cNvSpPr/>
          <p:nvPr/>
        </p:nvSpPr>
        <p:spPr>
          <a:xfrm>
            <a:off x="5505480" y="1057320"/>
            <a:ext cx="3342240" cy="3294720"/>
          </a:xfrm>
          <a:prstGeom prst="roundRect">
            <a:avLst>
              <a:gd name="adj" fmla="val 3757"/>
            </a:avLst>
          </a:prstGeom>
          <a:noFill/>
          <a:ln w="11906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"/>
          <p:cNvSpPr/>
          <p:nvPr/>
        </p:nvSpPr>
        <p:spPr>
          <a:xfrm>
            <a:off x="5505480" y="1085760"/>
            <a:ext cx="33422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580" spc="-1" strike="noStrike">
                <a:solidFill>
                  <a:srgbClr val="111111"/>
                </a:solidFill>
                <a:latin typeface="SimSun"/>
                <a:ea typeface="SimSun"/>
              </a:rPr>
              <a:t>检索器专家</a:t>
            </a:r>
            <a:endParaRPr b="0" lang="en-US" sz="1580" spc="-1" strike="noStrike"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5867280" y="1400040"/>
            <a:ext cx="2713680" cy="618120"/>
          </a:xfrm>
          <a:prstGeom prst="roundRect">
            <a:avLst>
              <a:gd name="adj" fmla="val 1076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"/>
          <p:cNvSpPr/>
          <p:nvPr/>
        </p:nvSpPr>
        <p:spPr>
          <a:xfrm>
            <a:off x="5915160" y="1419120"/>
            <a:ext cx="26182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30" spc="-1" strike="noStrike">
                <a:solidFill>
                  <a:srgbClr val="111111"/>
                </a:solidFill>
                <a:latin typeface="SimSun"/>
                <a:ea typeface="SimSun"/>
              </a:rPr>
              <a:t>BM25 </a:t>
            </a:r>
            <a:r>
              <a:rPr b="1" lang="zh-CN" sz="1430" spc="-1" strike="noStrike">
                <a:solidFill>
                  <a:srgbClr val="111111"/>
                </a:solidFill>
                <a:latin typeface="SimSun"/>
                <a:ea typeface="SimSun"/>
              </a:rPr>
              <a:t>专家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5934240" y="1657440"/>
            <a:ext cx="258012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精确术语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缩写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PV </a:t>
            </a: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片段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5867280" y="2104920"/>
            <a:ext cx="2713680" cy="618120"/>
          </a:xfrm>
          <a:prstGeom prst="roundRect">
            <a:avLst>
              <a:gd name="adj" fmla="val 1076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"/>
          <p:cNvSpPr/>
          <p:nvPr/>
        </p:nvSpPr>
        <p:spPr>
          <a:xfrm>
            <a:off x="5915160" y="2124000"/>
            <a:ext cx="26182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430" spc="-1" strike="noStrike">
                <a:solidFill>
                  <a:srgbClr val="111111"/>
                </a:solidFill>
                <a:latin typeface="SimSun"/>
                <a:ea typeface="SimSun"/>
              </a:rPr>
              <a:t>稠密检索专家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5934240" y="2362320"/>
            <a:ext cx="258012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语义概念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同义改写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5867280" y="2819520"/>
            <a:ext cx="2713680" cy="646560"/>
          </a:xfrm>
          <a:prstGeom prst="roundRect">
            <a:avLst>
              <a:gd name="adj" fmla="val 10294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"/>
          <p:cNvSpPr/>
          <p:nvPr/>
        </p:nvSpPr>
        <p:spPr>
          <a:xfrm>
            <a:off x="5915160" y="2838600"/>
            <a:ext cx="26182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111111"/>
                </a:solidFill>
                <a:latin typeface="SimSun"/>
                <a:ea typeface="SimSun"/>
              </a:rPr>
              <a:t>PV / </a:t>
            </a: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注册表专家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5934240" y="3095640"/>
            <a:ext cx="258012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标识符定位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有效性校验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5867280" y="3552840"/>
            <a:ext cx="2713680" cy="665640"/>
          </a:xfrm>
          <a:prstGeom prst="roundRect">
            <a:avLst>
              <a:gd name="adj" fmla="val 10000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"/>
          <p:cNvSpPr/>
          <p:nvPr/>
        </p:nvSpPr>
        <p:spPr>
          <a:xfrm>
            <a:off x="5915160" y="3571920"/>
            <a:ext cx="26182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430" spc="-1" strike="noStrike">
                <a:solidFill>
                  <a:srgbClr val="111111"/>
                </a:solidFill>
                <a:latin typeface="SimSun"/>
                <a:ea typeface="SimSun"/>
              </a:rPr>
              <a:t>元数据专家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5934240" y="3828960"/>
            <a:ext cx="258012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子系统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文档类型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版本过滤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 flipV="1">
            <a:off x="5172120" y="1708920"/>
            <a:ext cx="694080" cy="104184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"/>
          <p:cNvSpPr/>
          <p:nvPr/>
        </p:nvSpPr>
        <p:spPr>
          <a:xfrm flipV="1">
            <a:off x="5172120" y="2413800"/>
            <a:ext cx="694080" cy="33696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"/>
          <p:cNvSpPr/>
          <p:nvPr/>
        </p:nvSpPr>
        <p:spPr>
          <a:xfrm>
            <a:off x="5172120" y="2752560"/>
            <a:ext cx="694080" cy="38952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"/>
          <p:cNvSpPr/>
          <p:nvPr/>
        </p:nvSpPr>
        <p:spPr>
          <a:xfrm>
            <a:off x="5172120" y="2752560"/>
            <a:ext cx="694080" cy="113256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"/>
          <p:cNvSpPr/>
          <p:nvPr/>
        </p:nvSpPr>
        <p:spPr>
          <a:xfrm>
            <a:off x="9010800" y="1943280"/>
            <a:ext cx="1398960" cy="1618200"/>
          </a:xfrm>
          <a:prstGeom prst="roundRect">
            <a:avLst>
              <a:gd name="adj" fmla="val 4762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"/>
          <p:cNvSpPr/>
          <p:nvPr/>
        </p:nvSpPr>
        <p:spPr>
          <a:xfrm>
            <a:off x="9058320" y="2228760"/>
            <a:ext cx="1303920" cy="5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候选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归一化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9077400" y="2838600"/>
            <a:ext cx="1265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统一不同元数据中的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证据单元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8848800" y="2705040"/>
            <a:ext cx="160920" cy="46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"/>
          <p:cNvSpPr/>
          <p:nvPr/>
        </p:nvSpPr>
        <p:spPr>
          <a:xfrm>
            <a:off x="10544040" y="1895400"/>
            <a:ext cx="1503720" cy="1761120"/>
          </a:xfrm>
          <a:prstGeom prst="roundRect">
            <a:avLst>
              <a:gd name="adj" fmla="val 4430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"/>
          <p:cNvSpPr/>
          <p:nvPr/>
        </p:nvSpPr>
        <p:spPr>
          <a:xfrm>
            <a:off x="10591920" y="2028960"/>
            <a:ext cx="1408680" cy="5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控制对象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风险评分器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10611000" y="2581200"/>
            <a:ext cx="1370520" cy="96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Sᵣ(c | q)</a:t>
            </a:r>
            <a:endParaRPr b="0" lang="en-US" sz="117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区域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· </a:t>
            </a: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子系统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设备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· </a:t>
            </a: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信号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限定符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· </a:t>
            </a: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有效性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10410840" y="2752560"/>
            <a:ext cx="132120" cy="22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"/>
          <p:cNvSpPr/>
          <p:nvPr/>
        </p:nvSpPr>
        <p:spPr>
          <a:xfrm>
            <a:off x="12192120" y="1895400"/>
            <a:ext cx="1456200" cy="1761120"/>
          </a:xfrm>
          <a:prstGeom prst="roundRect">
            <a:avLst>
              <a:gd name="adj" fmla="val 4575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"/>
          <p:cNvSpPr/>
          <p:nvPr/>
        </p:nvSpPr>
        <p:spPr>
          <a:xfrm>
            <a:off x="12239640" y="2057400"/>
            <a:ext cx="1361160" cy="55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20" spc="-1" strike="noStrike">
                <a:solidFill>
                  <a:srgbClr val="111111"/>
                </a:solidFill>
                <a:latin typeface="SimSun"/>
                <a:ea typeface="SimSun"/>
              </a:rPr>
              <a:t>风险感知</a:t>
            </a:r>
            <a:endParaRPr b="0" lang="en-US" sz="13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20" spc="-1" strike="noStrike">
                <a:solidFill>
                  <a:srgbClr val="111111"/>
                </a:solidFill>
                <a:latin typeface="SimSun"/>
                <a:ea typeface="SimSun"/>
              </a:rPr>
              <a:t>融合 </a:t>
            </a:r>
            <a:r>
              <a:rPr b="1" lang="en-US" sz="132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1" lang="zh-CN" sz="1320" spc="-1" strike="noStrike">
                <a:solidFill>
                  <a:srgbClr val="111111"/>
                </a:solidFill>
                <a:latin typeface="SimSun"/>
                <a:ea typeface="SimSun"/>
              </a:rPr>
              <a:t>重排序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12258720" y="2638440"/>
            <a:ext cx="132300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200" spc="-1" strike="noStrike">
                <a:solidFill>
                  <a:srgbClr val="111111"/>
                </a:solidFill>
                <a:latin typeface="SimSun"/>
                <a:ea typeface="SimSun"/>
              </a:rPr>
              <a:t>相关性 </a:t>
            </a:r>
            <a:r>
              <a:rPr b="0" i="1" lang="en-US" sz="1200" spc="-1" strike="noStrike">
                <a:solidFill>
                  <a:srgbClr val="111111"/>
                </a:solidFill>
                <a:latin typeface="SimSun"/>
                <a:ea typeface="SimSun"/>
              </a:rPr>
              <a:t>+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200" spc="-1" strike="noStrike">
                <a:solidFill>
                  <a:srgbClr val="111111"/>
                </a:solidFill>
                <a:latin typeface="SimSun"/>
                <a:ea typeface="SimSun"/>
              </a:rPr>
              <a:t>结构风险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111111"/>
                </a:solidFill>
                <a:latin typeface="SimSun"/>
                <a:ea typeface="SimSun"/>
              </a:rPr>
              <a:t>S(c | q, r)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12049200" y="2776680"/>
            <a:ext cx="1418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"/>
          <p:cNvSpPr/>
          <p:nvPr/>
        </p:nvSpPr>
        <p:spPr>
          <a:xfrm>
            <a:off x="13773240" y="1895400"/>
            <a:ext cx="1522800" cy="1761120"/>
          </a:xfrm>
          <a:prstGeom prst="roundRect">
            <a:avLst>
              <a:gd name="adj" fmla="val 4375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"/>
          <p:cNvSpPr/>
          <p:nvPr/>
        </p:nvSpPr>
        <p:spPr>
          <a:xfrm>
            <a:off x="13820760" y="2085840"/>
            <a:ext cx="14277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置信度 </a:t>
            </a:r>
            <a:r>
              <a:rPr b="1" lang="en-US" sz="135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拒答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13839840" y="2638440"/>
            <a:ext cx="138960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回答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请求澄清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拒绝回答</a:t>
            </a:r>
            <a:endParaRPr b="0" lang="en-US" sz="117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p(a | q, c)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13649400" y="2776680"/>
            <a:ext cx="122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"/>
          <p:cNvSpPr/>
          <p:nvPr/>
        </p:nvSpPr>
        <p:spPr>
          <a:xfrm>
            <a:off x="15411600" y="1895400"/>
            <a:ext cx="1189440" cy="1761120"/>
          </a:xfrm>
          <a:prstGeom prst="roundRect">
            <a:avLst>
              <a:gd name="adj" fmla="val 5600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"/>
          <p:cNvSpPr/>
          <p:nvPr/>
        </p:nvSpPr>
        <p:spPr>
          <a:xfrm>
            <a:off x="15459120" y="2238480"/>
            <a:ext cx="109440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生成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答案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15478200" y="2895480"/>
            <a:ext cx="105624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350" spc="-1" strike="noStrike">
                <a:solidFill>
                  <a:srgbClr val="111111"/>
                </a:solidFill>
                <a:latin typeface="SimSun"/>
                <a:ea typeface="SimSun"/>
              </a:rPr>
              <a:t>a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15297120" y="2776680"/>
            <a:ext cx="1134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"/>
          <p:cNvSpPr/>
          <p:nvPr/>
        </p:nvSpPr>
        <p:spPr>
          <a:xfrm>
            <a:off x="324000" y="5362560"/>
            <a:ext cx="2980080" cy="2313360"/>
          </a:xfrm>
          <a:prstGeom prst="roundRect">
            <a:avLst>
              <a:gd name="adj" fmla="val 5350"/>
            </a:avLst>
          </a:prstGeom>
          <a:noFill/>
          <a:ln w="11906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"/>
          <p:cNvSpPr/>
          <p:nvPr/>
        </p:nvSpPr>
        <p:spPr>
          <a:xfrm>
            <a:off x="514440" y="5391000"/>
            <a:ext cx="18086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1500" spc="-1" strike="noStrike">
                <a:solidFill>
                  <a:srgbClr val="111111"/>
                </a:solidFill>
                <a:latin typeface="SimSun"/>
                <a:ea typeface="SimSun"/>
              </a:rPr>
              <a:t>数据来源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476280" y="5715000"/>
            <a:ext cx="2475360" cy="865800"/>
          </a:xfrm>
          <a:prstGeom prst="roundRect">
            <a:avLst>
              <a:gd name="adj" fmla="val 7692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"/>
          <p:cNvSpPr/>
          <p:nvPr/>
        </p:nvSpPr>
        <p:spPr>
          <a:xfrm>
            <a:off x="523800" y="5762520"/>
            <a:ext cx="238032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加速器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文档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542880" y="6238800"/>
            <a:ext cx="23421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090" spc="-1" strike="noStrike">
                <a:solidFill>
                  <a:srgbClr val="111111"/>
                </a:solidFill>
                <a:latin typeface="SimSun"/>
                <a:ea typeface="SimSun"/>
              </a:rPr>
              <a:t>手册 </a:t>
            </a:r>
            <a:r>
              <a:rPr b="0" i="1" lang="en-US" sz="109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0" i="1" lang="zh-CN" sz="1090" spc="-1" strike="noStrike">
                <a:solidFill>
                  <a:srgbClr val="111111"/>
                </a:solidFill>
                <a:latin typeface="SimSun"/>
                <a:ea typeface="SimSun"/>
              </a:rPr>
              <a:t>报告 </a:t>
            </a:r>
            <a:r>
              <a:rPr b="0" i="1" lang="en-US" sz="109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09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090" spc="-1" strike="noStrike">
                <a:solidFill>
                  <a:srgbClr val="111111"/>
                </a:solidFill>
                <a:latin typeface="SimSun"/>
                <a:ea typeface="SimSun"/>
              </a:rPr>
              <a:t>操作流程</a:t>
            </a:r>
            <a:endParaRPr b="0" lang="en-US" sz="1090" spc="-1" strike="noStrike"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476280" y="6657840"/>
            <a:ext cx="2475360" cy="875160"/>
          </a:xfrm>
          <a:prstGeom prst="roundRect">
            <a:avLst>
              <a:gd name="adj" fmla="val 760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"/>
          <p:cNvSpPr/>
          <p:nvPr/>
        </p:nvSpPr>
        <p:spPr>
          <a:xfrm>
            <a:off x="523800" y="6705720"/>
            <a:ext cx="238032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20" spc="-1" strike="noStrike">
                <a:solidFill>
                  <a:srgbClr val="111111"/>
                </a:solidFill>
                <a:latin typeface="SimSun"/>
                <a:ea typeface="SimSun"/>
              </a:rPr>
              <a:t>EPICS </a:t>
            </a:r>
            <a:r>
              <a:rPr b="1" lang="zh-CN" sz="1320" spc="-1" strike="noStrike">
                <a:solidFill>
                  <a:srgbClr val="111111"/>
                </a:solidFill>
                <a:latin typeface="SimSun"/>
                <a:ea typeface="SimSun"/>
              </a:rPr>
              <a:t>注册表 </a:t>
            </a:r>
            <a:r>
              <a:rPr b="1" lang="en-US" sz="132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3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320" spc="-1" strike="noStrike">
                <a:solidFill>
                  <a:srgbClr val="111111"/>
                </a:solidFill>
                <a:latin typeface="SimSun"/>
                <a:ea typeface="SimSun"/>
              </a:rPr>
              <a:t>IOC-PV </a:t>
            </a:r>
            <a:r>
              <a:rPr b="1" lang="zh-CN" sz="1320" spc="-1" strike="noStrike">
                <a:solidFill>
                  <a:srgbClr val="111111"/>
                </a:solidFill>
                <a:latin typeface="SimSun"/>
                <a:ea typeface="SimSun"/>
              </a:rPr>
              <a:t>元数据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542880" y="7191360"/>
            <a:ext cx="234216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090" spc="-1" strike="noStrike">
                <a:solidFill>
                  <a:srgbClr val="111111"/>
                </a:solidFill>
                <a:latin typeface="SimSun"/>
                <a:ea typeface="SimSun"/>
              </a:rPr>
              <a:t>PV / IOC / </a:t>
            </a:r>
            <a:r>
              <a:rPr b="0" i="1" lang="zh-CN" sz="1090" spc="-1" strike="noStrike">
                <a:solidFill>
                  <a:srgbClr val="111111"/>
                </a:solidFill>
                <a:latin typeface="SimSun"/>
                <a:ea typeface="SimSun"/>
              </a:rPr>
              <a:t>区域 </a:t>
            </a:r>
            <a:r>
              <a:rPr b="0" i="1" lang="en-US" sz="109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0" i="1" lang="zh-CN" sz="1090" spc="-1" strike="noStrike">
                <a:solidFill>
                  <a:srgbClr val="111111"/>
                </a:solidFill>
                <a:latin typeface="SimSun"/>
                <a:ea typeface="SimSun"/>
              </a:rPr>
              <a:t>子系统 </a:t>
            </a:r>
            <a:r>
              <a:rPr b="0" i="1" lang="en-US" sz="109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09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090" spc="-1" strike="noStrike">
                <a:solidFill>
                  <a:srgbClr val="111111"/>
                </a:solidFill>
                <a:latin typeface="SimSun"/>
                <a:ea typeface="SimSun"/>
              </a:rPr>
              <a:t>设备 </a:t>
            </a:r>
            <a:r>
              <a:rPr b="0" i="1" lang="en-US" sz="1090" spc="-1" strike="noStrike">
                <a:solidFill>
                  <a:srgbClr val="111111"/>
                </a:solidFill>
                <a:latin typeface="SimSun"/>
                <a:ea typeface="SimSun"/>
              </a:rPr>
              <a:t>/ </a:t>
            </a:r>
            <a:r>
              <a:rPr b="0" i="1" lang="zh-CN" sz="1090" spc="-1" strike="noStrike">
                <a:solidFill>
                  <a:srgbClr val="111111"/>
                </a:solidFill>
                <a:latin typeface="SimSun"/>
                <a:ea typeface="SimSun"/>
              </a:rPr>
              <a:t>信号</a:t>
            </a:r>
            <a:endParaRPr b="0" lang="en-US" sz="1090" spc="-1" strike="noStrike"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3552840" y="6086520"/>
            <a:ext cx="1513440" cy="875160"/>
          </a:xfrm>
          <a:prstGeom prst="roundRect">
            <a:avLst>
              <a:gd name="adj" fmla="val 760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"/>
          <p:cNvSpPr/>
          <p:nvPr/>
        </p:nvSpPr>
        <p:spPr>
          <a:xfrm>
            <a:off x="3600360" y="6191280"/>
            <a:ext cx="1418040" cy="64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索引器 </a:t>
            </a:r>
            <a:r>
              <a:rPr b="1" lang="en-US" sz="1350" spc="-1" strike="noStrike">
                <a:solidFill>
                  <a:srgbClr val="111111"/>
                </a:solidFill>
                <a:latin typeface="SimSun"/>
                <a:ea typeface="SimSun"/>
              </a:rPr>
              <a:t>/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规范化器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2952720" y="6148440"/>
            <a:ext cx="599040" cy="37512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"/>
          <p:cNvSpPr/>
          <p:nvPr/>
        </p:nvSpPr>
        <p:spPr>
          <a:xfrm flipV="1">
            <a:off x="2952720" y="6523200"/>
            <a:ext cx="599040" cy="57060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"/>
          <p:cNvSpPr/>
          <p:nvPr/>
        </p:nvSpPr>
        <p:spPr>
          <a:xfrm>
            <a:off x="5295960" y="5353200"/>
            <a:ext cx="3199320" cy="2151720"/>
          </a:xfrm>
          <a:prstGeom prst="roundRect">
            <a:avLst>
              <a:gd name="adj" fmla="val 5752"/>
            </a:avLst>
          </a:prstGeom>
          <a:noFill/>
          <a:ln w="11906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"/>
          <p:cNvSpPr/>
          <p:nvPr/>
        </p:nvSpPr>
        <p:spPr>
          <a:xfrm>
            <a:off x="5295960" y="5381640"/>
            <a:ext cx="319932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500" spc="-1" strike="noStrike">
                <a:solidFill>
                  <a:srgbClr val="111111"/>
                </a:solidFill>
                <a:latin typeface="SimSun"/>
                <a:ea typeface="SimSun"/>
              </a:rPr>
              <a:t>多源索引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5695920" y="5734080"/>
            <a:ext cx="2589840" cy="351360"/>
          </a:xfrm>
          <a:prstGeom prst="roundRect">
            <a:avLst>
              <a:gd name="adj" fmla="val 1891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"/>
          <p:cNvSpPr/>
          <p:nvPr/>
        </p:nvSpPr>
        <p:spPr>
          <a:xfrm>
            <a:off x="5743440" y="5753160"/>
            <a:ext cx="249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40" spc="-1" strike="noStrike">
                <a:solidFill>
                  <a:srgbClr val="111111"/>
                </a:solidFill>
                <a:latin typeface="SimSun"/>
                <a:ea typeface="SimSun"/>
              </a:rPr>
              <a:t>BM25 </a:t>
            </a:r>
            <a:r>
              <a:rPr b="1" lang="zh-CN" sz="1240" spc="-1" strike="noStrike">
                <a:solidFill>
                  <a:srgbClr val="111111"/>
                </a:solidFill>
                <a:latin typeface="SimSun"/>
                <a:ea typeface="SimSun"/>
              </a:rPr>
              <a:t>索引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5695920" y="6153120"/>
            <a:ext cx="2589840" cy="351360"/>
          </a:xfrm>
          <a:prstGeom prst="roundRect">
            <a:avLst>
              <a:gd name="adj" fmla="val 1891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"/>
          <p:cNvSpPr/>
          <p:nvPr/>
        </p:nvSpPr>
        <p:spPr>
          <a:xfrm>
            <a:off x="5743440" y="6172200"/>
            <a:ext cx="249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240" spc="-1" strike="noStrike">
                <a:solidFill>
                  <a:srgbClr val="111111"/>
                </a:solidFill>
                <a:latin typeface="SimSun"/>
                <a:ea typeface="SimSun"/>
              </a:rPr>
              <a:t>稠密向量库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5695920" y="6581880"/>
            <a:ext cx="2589840" cy="351360"/>
          </a:xfrm>
          <a:prstGeom prst="roundRect">
            <a:avLst>
              <a:gd name="adj" fmla="val 1891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"/>
          <p:cNvSpPr/>
          <p:nvPr/>
        </p:nvSpPr>
        <p:spPr>
          <a:xfrm>
            <a:off x="5743440" y="6600960"/>
            <a:ext cx="249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240" spc="-1" strike="noStrike">
                <a:solidFill>
                  <a:srgbClr val="111111"/>
                </a:solidFill>
                <a:latin typeface="SimSun"/>
                <a:ea typeface="SimSun"/>
              </a:rPr>
              <a:t>注册表存储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5695920" y="7000920"/>
            <a:ext cx="2589840" cy="351360"/>
          </a:xfrm>
          <a:prstGeom prst="roundRect">
            <a:avLst>
              <a:gd name="adj" fmla="val 18919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"/>
          <p:cNvSpPr/>
          <p:nvPr/>
        </p:nvSpPr>
        <p:spPr>
          <a:xfrm>
            <a:off x="5743440" y="7020000"/>
            <a:ext cx="2494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240" spc="-1" strike="noStrike">
                <a:solidFill>
                  <a:srgbClr val="111111"/>
                </a:solidFill>
                <a:latin typeface="SimSun"/>
                <a:ea typeface="SimSun"/>
              </a:rPr>
              <a:t>元数据存储</a:t>
            </a:r>
            <a:endParaRPr b="0" lang="en-US" sz="1240" spc="-1" strike="noStrike"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 flipV="1">
            <a:off x="5067360" y="5909400"/>
            <a:ext cx="627480" cy="61344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"/>
          <p:cNvSpPr/>
          <p:nvPr/>
        </p:nvSpPr>
        <p:spPr>
          <a:xfrm flipV="1">
            <a:off x="5067360" y="6328080"/>
            <a:ext cx="627480" cy="19404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"/>
          <p:cNvSpPr/>
          <p:nvPr/>
        </p:nvSpPr>
        <p:spPr>
          <a:xfrm>
            <a:off x="5067360" y="6524640"/>
            <a:ext cx="627480" cy="23220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"/>
          <p:cNvSpPr/>
          <p:nvPr/>
        </p:nvSpPr>
        <p:spPr>
          <a:xfrm>
            <a:off x="5067360" y="6524640"/>
            <a:ext cx="627480" cy="651240"/>
          </a:xfrm>
          <a:prstGeom prst="bentConnector3">
            <a:avLst>
              <a:gd name="adj1" fmla="val 50000"/>
            </a:avLst>
          </a:pr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"/>
          <p:cNvSpPr/>
          <p:nvPr/>
        </p:nvSpPr>
        <p:spPr>
          <a:xfrm>
            <a:off x="8772480" y="5353200"/>
            <a:ext cx="7761960" cy="2180160"/>
          </a:xfrm>
          <a:prstGeom prst="roundRect">
            <a:avLst>
              <a:gd name="adj" fmla="val 5677"/>
            </a:avLst>
          </a:prstGeom>
          <a:noFill/>
          <a:ln w="11906">
            <a:solidFill>
              <a:srgbClr val="22222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"/>
          <p:cNvSpPr/>
          <p:nvPr/>
        </p:nvSpPr>
        <p:spPr>
          <a:xfrm>
            <a:off x="8962920" y="5381640"/>
            <a:ext cx="2665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1500" spc="-1" strike="noStrike">
                <a:solidFill>
                  <a:srgbClr val="111111"/>
                </a:solidFill>
                <a:latin typeface="SimSun"/>
                <a:ea typeface="SimSun"/>
              </a:rPr>
              <a:t>训练与基准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8896320" y="5896080"/>
            <a:ext cx="2684880" cy="1170360"/>
          </a:xfrm>
          <a:prstGeom prst="roundRect">
            <a:avLst>
              <a:gd name="adj" fmla="val 5691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"/>
          <p:cNvSpPr/>
          <p:nvPr/>
        </p:nvSpPr>
        <p:spPr>
          <a:xfrm>
            <a:off x="8943840" y="6076800"/>
            <a:ext cx="2589840" cy="76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20" spc="-1" strike="noStrike">
                <a:solidFill>
                  <a:srgbClr val="111111"/>
                </a:solidFill>
                <a:latin typeface="SimSun"/>
                <a:ea typeface="SimSun"/>
              </a:rPr>
              <a:t>结构保持</a:t>
            </a:r>
            <a:endParaRPr b="0" lang="en-US" sz="132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20" spc="-1" strike="noStrike">
                <a:solidFill>
                  <a:srgbClr val="111111"/>
                </a:solidFill>
                <a:latin typeface="SimSun"/>
                <a:ea typeface="SimSun"/>
              </a:rPr>
              <a:t>反事实负样本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11715840" y="5905440"/>
            <a:ext cx="2189520" cy="1141920"/>
          </a:xfrm>
          <a:prstGeom prst="roundRect">
            <a:avLst>
              <a:gd name="adj" fmla="val 5833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"/>
          <p:cNvSpPr/>
          <p:nvPr/>
        </p:nvSpPr>
        <p:spPr>
          <a:xfrm>
            <a:off x="11763360" y="6086520"/>
            <a:ext cx="209448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风险标注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基准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11782440" y="6620040"/>
            <a:ext cx="205632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相关性 </a:t>
            </a:r>
            <a:r>
              <a:rPr b="0" i="1" lang="en-US" sz="1170" spc="-1" strike="noStrike">
                <a:solidFill>
                  <a:srgbClr val="111111"/>
                </a:solidFill>
                <a:latin typeface="SimSun"/>
                <a:ea typeface="SimSun"/>
              </a:rPr>
              <a:t>+ </a:t>
            </a:r>
            <a:r>
              <a:rPr b="0" i="1" lang="zh-CN" sz="1170" spc="-1" strike="noStrike">
                <a:solidFill>
                  <a:srgbClr val="111111"/>
                </a:solidFill>
                <a:latin typeface="SimSun"/>
                <a:ea typeface="SimSun"/>
              </a:rPr>
              <a:t>结构风险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14192280" y="5896080"/>
            <a:ext cx="2237400" cy="1161000"/>
          </a:xfrm>
          <a:prstGeom prst="roundRect">
            <a:avLst>
              <a:gd name="adj" fmla="val 5738"/>
            </a:avLst>
          </a:prstGeom>
          <a:solidFill>
            <a:srgbClr val="fbfbfb"/>
          </a:solidFill>
          <a:ln w="13335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"/>
          <p:cNvSpPr/>
          <p:nvPr/>
        </p:nvSpPr>
        <p:spPr>
          <a:xfrm>
            <a:off x="14239800" y="6019920"/>
            <a:ext cx="214200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结构 </a:t>
            </a:r>
            <a:r>
              <a:rPr b="1" lang="en-US" sz="1350" spc="-1" strike="noStrike">
                <a:solidFill>
                  <a:srgbClr val="111111"/>
                </a:solidFill>
                <a:latin typeface="SimSun"/>
                <a:ea typeface="SimSun"/>
              </a:rPr>
              <a:t>OOD</a:t>
            </a:r>
            <a:endParaRPr b="0" lang="en-US" sz="1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111111"/>
                </a:solidFill>
                <a:latin typeface="SimSun"/>
                <a:ea typeface="SimSun"/>
              </a:rPr>
              <a:t>划分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14258880" y="6591240"/>
            <a:ext cx="210384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zh-CN" sz="1130" spc="-1" strike="noStrike">
                <a:solidFill>
                  <a:srgbClr val="111111"/>
                </a:solidFill>
                <a:latin typeface="SimSun"/>
                <a:ea typeface="SimSun"/>
              </a:rPr>
              <a:t>泛化至未见</a:t>
            </a:r>
            <a:endParaRPr b="0" lang="en-US" sz="113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i="1" lang="zh-CN" sz="1130" spc="-1" strike="noStrike">
                <a:solidFill>
                  <a:srgbClr val="111111"/>
                </a:solidFill>
                <a:latin typeface="SimSun"/>
                <a:ea typeface="SimSun"/>
              </a:rPr>
              <a:t>结构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 flipV="1">
            <a:off x="11582280" y="6476400"/>
            <a:ext cx="132120" cy="3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"/>
          <p:cNvSpPr/>
          <p:nvPr/>
        </p:nvSpPr>
        <p:spPr>
          <a:xfrm>
            <a:off x="13906440" y="6477120"/>
            <a:ext cx="284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7145">
            <a:solidFill>
              <a:srgbClr val="111111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"/>
          <p:cNvSpPr/>
          <p:nvPr/>
        </p:nvSpPr>
        <p:spPr>
          <a:xfrm>
            <a:off x="7162920" y="5353200"/>
            <a:ext cx="27360" cy="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"/>
          <p:cNvSpPr/>
          <p:nvPr/>
        </p:nvSpPr>
        <p:spPr>
          <a:xfrm flipV="1">
            <a:off x="7223760" y="4218840"/>
            <a:ext cx="360" cy="1132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240">
            <a:solidFill>
              <a:srgbClr val="111111"/>
            </a:solidFill>
            <a:prstDash val="dash"/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"/>
          <p:cNvSpPr/>
          <p:nvPr/>
        </p:nvSpPr>
        <p:spPr>
          <a:xfrm>
            <a:off x="11268000" y="5353200"/>
            <a:ext cx="27360" cy="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"/>
          <p:cNvSpPr/>
          <p:nvPr/>
        </p:nvSpPr>
        <p:spPr>
          <a:xfrm flipV="1">
            <a:off x="11282400" y="3656160"/>
            <a:ext cx="13320" cy="1694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240">
            <a:solidFill>
              <a:srgbClr val="111111"/>
            </a:solidFill>
            <a:prstDash val="dash"/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"/>
          <p:cNvSpPr/>
          <p:nvPr/>
        </p:nvSpPr>
        <p:spPr>
          <a:xfrm>
            <a:off x="12897000" y="5353200"/>
            <a:ext cx="27360" cy="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"/>
          <p:cNvSpPr/>
          <p:nvPr/>
        </p:nvSpPr>
        <p:spPr>
          <a:xfrm flipV="1">
            <a:off x="12911040" y="3656160"/>
            <a:ext cx="8280" cy="1694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5240">
            <a:solidFill>
              <a:srgbClr val="111111"/>
            </a:solidFill>
            <a:prstDash val="dash"/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2026-09-08T08:02:20Z</dcterms:created>
  <dc:creator>Walnut Exporter</dc:creator>
  <dc:description/>
  <dc:language>zh-CN</dc:language>
  <cp:lastModifiedBy/>
  <dcterms:modified xsi:type="dcterms:W3CDTF">2026-09-08T16:11:28Z</dcterms:modified>
  <cp:revision>3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