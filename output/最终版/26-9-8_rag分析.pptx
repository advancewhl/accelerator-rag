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16897350" cy="8448675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zh-CN" sz="4400" spc="-1" strike="noStrike">
                <a:latin typeface="Arial"/>
              </a:rPr>
              <a:t>单击以移</a:t>
            </a:r>
            <a:r>
              <a:rPr b="0" lang="zh-CN" sz="4400" spc="-1" strike="noStrike">
                <a:latin typeface="Arial"/>
              </a:rPr>
              <a:t>动幻灯片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2000" spc="-1" strike="noStrike">
                <a:latin typeface="Arial"/>
              </a:rPr>
              <a:t>点击编辑备注格式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&lt;页眉&gt;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&lt;日期/时间&gt;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&lt;页脚&gt;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B35F0116-3174-414F-92C7-7EDBCC0F3BB7}" type="slidenum">
              <a:rPr b="0" lang="en-US" sz="1400" spc="-1" strike="noStrike">
                <a:latin typeface="Times New Roman"/>
              </a:rPr>
              <a:t>&lt;编号&gt;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5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Editable English reconstruction of the user-provided reference image. All frames, boxes, arrows, and labels are native PowerPoint objects. Font: Times New Roman.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60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6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Editable Chinese reconstruction of the user-provided reference image. All frames, boxes, arrows, and labels are native PowerPoint objects. Font: SimSun.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63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44560" y="336960"/>
            <a:ext cx="15207120" cy="141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844560" y="1976760"/>
            <a:ext cx="15207120" cy="48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44560" y="336960"/>
            <a:ext cx="15207120" cy="141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844560" y="1976760"/>
            <a:ext cx="15207120" cy="48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44560" y="336960"/>
            <a:ext cx="15207120" cy="141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844560" y="1976760"/>
            <a:ext cx="7421040" cy="48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8637120" y="1976760"/>
            <a:ext cx="7421040" cy="48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44560" y="336960"/>
            <a:ext cx="15207120" cy="141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844560" y="336960"/>
            <a:ext cx="15207120" cy="65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44560" y="336960"/>
            <a:ext cx="15207120" cy="141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844560" y="1976760"/>
            <a:ext cx="7421040" cy="233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8637120" y="1976760"/>
            <a:ext cx="7421040" cy="48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844560" y="4536360"/>
            <a:ext cx="7421040" cy="233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44560" y="336960"/>
            <a:ext cx="15207120" cy="141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844560" y="1976760"/>
            <a:ext cx="7421040" cy="48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8637120" y="1976760"/>
            <a:ext cx="7421040" cy="233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8637120" y="4536360"/>
            <a:ext cx="7421040" cy="233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44560" y="336960"/>
            <a:ext cx="15207120" cy="141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844560" y="1976760"/>
            <a:ext cx="7421040" cy="233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8637120" y="1976760"/>
            <a:ext cx="7421040" cy="233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844560" y="4536360"/>
            <a:ext cx="15207120" cy="233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44560" y="336960"/>
            <a:ext cx="15207120" cy="141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844560" y="1976760"/>
            <a:ext cx="15207120" cy="233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844560" y="4536360"/>
            <a:ext cx="15207120" cy="233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44560" y="336960"/>
            <a:ext cx="15207120" cy="141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44560" y="1976760"/>
            <a:ext cx="7421040" cy="233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637120" y="1976760"/>
            <a:ext cx="7421040" cy="233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844560" y="4536360"/>
            <a:ext cx="7421040" cy="233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8637120" y="4536360"/>
            <a:ext cx="7421040" cy="233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44560" y="336960"/>
            <a:ext cx="15207120" cy="141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844560" y="1976760"/>
            <a:ext cx="4896360" cy="233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5986080" y="1976760"/>
            <a:ext cx="4896360" cy="233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11127600" y="1976760"/>
            <a:ext cx="4896360" cy="233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844560" y="4536360"/>
            <a:ext cx="4896360" cy="233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5986080" y="4536360"/>
            <a:ext cx="4896360" cy="233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11127600" y="4536360"/>
            <a:ext cx="4896360" cy="233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44560" y="336960"/>
            <a:ext cx="15207120" cy="141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zh-CN" sz="4400" spc="-1" strike="noStrike">
                <a:latin typeface="Arial"/>
              </a:rPr>
              <a:t>单击以编</a:t>
            </a:r>
            <a:r>
              <a:rPr b="0" lang="zh-CN" sz="4400" spc="-1" strike="noStrike">
                <a:latin typeface="Arial"/>
              </a:rPr>
              <a:t>辑标题文</a:t>
            </a:r>
            <a:r>
              <a:rPr b="0" lang="zh-CN" sz="4400" spc="-1" strike="noStrike">
                <a:latin typeface="Arial"/>
              </a:rPr>
              <a:t>本格式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44560" y="1976760"/>
            <a:ext cx="15207120" cy="48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pc="-1" strike="noStrike">
                <a:latin typeface="Arial"/>
              </a:rPr>
              <a:t>点击以编辑提纲文本格式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800" spc="-1" strike="noStrike">
                <a:latin typeface="Arial"/>
              </a:rPr>
              <a:t>第二提纲级别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400" spc="-1" strike="noStrike">
                <a:latin typeface="Arial"/>
              </a:rPr>
              <a:t>第三提纲级别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latin typeface="Arial"/>
              </a:rPr>
              <a:t>第四提纲级别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latin typeface="Arial"/>
              </a:rPr>
              <a:t>第五提纲级别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latin typeface="Arial"/>
              </a:rPr>
              <a:t>第六提纲级别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latin typeface="Arial"/>
              </a:rPr>
              <a:t>第七提纲级别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/>
        </p:nvSpPr>
        <p:spPr>
          <a:xfrm>
            <a:off x="4000680" y="232200"/>
            <a:ext cx="889560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2930" spc="-1" strike="noStrike">
                <a:solidFill>
                  <a:srgbClr val="111111"/>
                </a:solidFill>
                <a:latin typeface="SimSun"/>
                <a:ea typeface="SimSun"/>
              </a:rPr>
              <a:t>RAG </a:t>
            </a:r>
            <a:r>
              <a:rPr b="1" lang="zh-CN" sz="2930" spc="-1" strike="noStrike">
                <a:solidFill>
                  <a:srgbClr val="111111"/>
                </a:solidFill>
                <a:latin typeface="SimSun"/>
                <a:ea typeface="SimSun"/>
              </a:rPr>
              <a:t>技术发展路线图（</a:t>
            </a:r>
            <a:r>
              <a:rPr b="1" lang="en-US" sz="2930" spc="-1" strike="noStrike">
                <a:solidFill>
                  <a:srgbClr val="111111"/>
                </a:solidFill>
                <a:latin typeface="SimSun"/>
                <a:ea typeface="SimSun"/>
              </a:rPr>
              <a:t>2020–2026</a:t>
            </a:r>
            <a:r>
              <a:rPr b="1" lang="zh-CN" sz="2930" spc="-1" strike="noStrike">
                <a:solidFill>
                  <a:srgbClr val="111111"/>
                </a:solidFill>
                <a:latin typeface="SimSun"/>
                <a:ea typeface="SimSun"/>
              </a:rPr>
              <a:t>）</a:t>
            </a:r>
            <a:endParaRPr b="0" lang="en-US" sz="2930" spc="-1" strike="noStrike"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4857840" y="746640"/>
            <a:ext cx="718128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zh-CN" sz="2020" spc="-1" strike="noStrike">
                <a:solidFill>
                  <a:srgbClr val="111111"/>
                </a:solidFill>
                <a:latin typeface="SimSun"/>
                <a:ea typeface="SimSun"/>
              </a:rPr>
              <a:t>从文档检索到 </a:t>
            </a:r>
            <a:r>
              <a:rPr b="0" lang="en-US" sz="2020" spc="-1" strike="noStrike">
                <a:solidFill>
                  <a:srgbClr val="111111"/>
                </a:solidFill>
                <a:latin typeface="SimSun"/>
                <a:ea typeface="SimSun"/>
              </a:rPr>
              <a:t>Agentic Knowledge System</a:t>
            </a:r>
            <a:endParaRPr b="0" lang="en-US" sz="2020" spc="-1" strike="noStrike"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142920" y="1356120"/>
            <a:ext cx="16610760" cy="62784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1906">
            <a:solidFill>
              <a:srgbClr val="11111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"/>
          <p:cNvSpPr/>
          <p:nvPr/>
        </p:nvSpPr>
        <p:spPr>
          <a:xfrm>
            <a:off x="4000680" y="1432440"/>
            <a:ext cx="8895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zh-CN" sz="1950" spc="-1" strike="noStrike">
                <a:solidFill>
                  <a:srgbClr val="111111"/>
                </a:solidFill>
                <a:latin typeface="SimSun"/>
                <a:ea typeface="SimSun"/>
              </a:rPr>
              <a:t>核心问题：</a:t>
            </a:r>
            <a:r>
              <a:rPr b="1" lang="en-US" sz="1950" spc="-1" strike="noStrike">
                <a:solidFill>
                  <a:srgbClr val="111111"/>
                </a:solidFill>
                <a:latin typeface="SimSun"/>
                <a:ea typeface="SimSun"/>
              </a:rPr>
              <a:t>LLM </a:t>
            </a:r>
            <a:r>
              <a:rPr b="1" lang="zh-CN" sz="1950" spc="-1" strike="noStrike">
                <a:solidFill>
                  <a:srgbClr val="111111"/>
                </a:solidFill>
                <a:latin typeface="SimSun"/>
                <a:ea typeface="SimSun"/>
              </a:rPr>
              <a:t>如何访问、组织、验证并利用外部知识？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48" name="Stage 1"/>
          <p:cNvSpPr/>
          <p:nvPr/>
        </p:nvSpPr>
        <p:spPr>
          <a:xfrm>
            <a:off x="133200" y="2365920"/>
            <a:ext cx="2609280" cy="4923720"/>
          </a:xfrm>
          <a:prstGeom prst="roundRect">
            <a:avLst>
              <a:gd name="adj" fmla="val 4745"/>
            </a:avLst>
          </a:prstGeom>
          <a:solidFill>
            <a:srgbClr val="ffffff"/>
          </a:solidFill>
          <a:ln w="10954">
            <a:solidFill>
              <a:srgbClr val="11111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Stage 2"/>
          <p:cNvSpPr/>
          <p:nvPr/>
        </p:nvSpPr>
        <p:spPr>
          <a:xfrm>
            <a:off x="2867040" y="2365920"/>
            <a:ext cx="2475720" cy="4923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954">
            <a:solidFill>
              <a:srgbClr val="11111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Stage 3"/>
          <p:cNvSpPr/>
          <p:nvPr/>
        </p:nvSpPr>
        <p:spPr>
          <a:xfrm>
            <a:off x="5467320" y="2365920"/>
            <a:ext cx="2770920" cy="4923720"/>
          </a:xfrm>
          <a:prstGeom prst="roundRect">
            <a:avLst>
              <a:gd name="adj" fmla="val 4467"/>
            </a:avLst>
          </a:prstGeom>
          <a:solidFill>
            <a:srgbClr val="ffffff"/>
          </a:solidFill>
          <a:ln w="10954">
            <a:solidFill>
              <a:srgbClr val="11111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Stage 4"/>
          <p:cNvSpPr/>
          <p:nvPr/>
        </p:nvSpPr>
        <p:spPr>
          <a:xfrm>
            <a:off x="8372520" y="2365920"/>
            <a:ext cx="3056760" cy="4923720"/>
          </a:xfrm>
          <a:prstGeom prst="roundRect">
            <a:avLst>
              <a:gd name="adj" fmla="val 4050"/>
            </a:avLst>
          </a:prstGeom>
          <a:solidFill>
            <a:srgbClr val="ffffff"/>
          </a:solidFill>
          <a:ln w="10954">
            <a:solidFill>
              <a:srgbClr val="11111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Stage 5"/>
          <p:cNvSpPr/>
          <p:nvPr/>
        </p:nvSpPr>
        <p:spPr>
          <a:xfrm>
            <a:off x="11582280" y="2365920"/>
            <a:ext cx="2437560" cy="4923720"/>
          </a:xfrm>
          <a:prstGeom prst="roundRect">
            <a:avLst>
              <a:gd name="adj" fmla="val 5078"/>
            </a:avLst>
          </a:prstGeom>
          <a:solidFill>
            <a:srgbClr val="ffffff"/>
          </a:solidFill>
          <a:ln w="10954">
            <a:solidFill>
              <a:srgbClr val="11111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Stage 6"/>
          <p:cNvSpPr/>
          <p:nvPr/>
        </p:nvSpPr>
        <p:spPr>
          <a:xfrm>
            <a:off x="14154120" y="2365920"/>
            <a:ext cx="2628360" cy="4923720"/>
          </a:xfrm>
          <a:prstGeom prst="roundRect">
            <a:avLst>
              <a:gd name="adj" fmla="val 4710"/>
            </a:avLst>
          </a:prstGeom>
          <a:solidFill>
            <a:srgbClr val="ffffff"/>
          </a:solidFill>
          <a:ln w="10954">
            <a:solidFill>
              <a:srgbClr val="11111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"/>
          <p:cNvSpPr/>
          <p:nvPr/>
        </p:nvSpPr>
        <p:spPr>
          <a:xfrm>
            <a:off x="1438200" y="1984680"/>
            <a:ext cx="360" cy="295200"/>
          </a:xfrm>
          <a:prstGeom prst="line">
            <a:avLst/>
          </a:prstGeom>
          <a:ln w="14288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"/>
          <p:cNvSpPr/>
          <p:nvPr/>
        </p:nvSpPr>
        <p:spPr>
          <a:xfrm>
            <a:off x="1390680" y="2280240"/>
            <a:ext cx="94680" cy="84960"/>
          </a:xfrm>
          <a:custGeom>
            <a:avLst/>
            <a:gdLst/>
            <a:ahLst/>
            <a:rect l="l" t="t" r="r" b="b"/>
            <a:pathLst>
              <a:path w="95250" h="85725">
                <a:moveTo>
                  <a:pt x="0" y="0"/>
                </a:moveTo>
                <a:lnTo>
                  <a:pt x="95250" y="0"/>
                </a:lnTo>
                <a:lnTo>
                  <a:pt x="47625" y="85725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"/>
          <p:cNvSpPr/>
          <p:nvPr/>
        </p:nvSpPr>
        <p:spPr>
          <a:xfrm>
            <a:off x="4105080" y="1984680"/>
            <a:ext cx="360" cy="295200"/>
          </a:xfrm>
          <a:prstGeom prst="line">
            <a:avLst/>
          </a:prstGeom>
          <a:ln w="14288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"/>
          <p:cNvSpPr/>
          <p:nvPr/>
        </p:nvSpPr>
        <p:spPr>
          <a:xfrm>
            <a:off x="4057560" y="2280240"/>
            <a:ext cx="94680" cy="84960"/>
          </a:xfrm>
          <a:custGeom>
            <a:avLst/>
            <a:gdLst/>
            <a:ahLst/>
            <a:rect l="l" t="t" r="r" b="b"/>
            <a:pathLst>
              <a:path w="95250" h="85725">
                <a:moveTo>
                  <a:pt x="0" y="0"/>
                </a:moveTo>
                <a:lnTo>
                  <a:pt x="95250" y="0"/>
                </a:lnTo>
                <a:lnTo>
                  <a:pt x="47625" y="85725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"/>
          <p:cNvSpPr/>
          <p:nvPr/>
        </p:nvSpPr>
        <p:spPr>
          <a:xfrm>
            <a:off x="6858000" y="1984680"/>
            <a:ext cx="360" cy="295200"/>
          </a:xfrm>
          <a:prstGeom prst="line">
            <a:avLst/>
          </a:prstGeom>
          <a:ln w="14288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"/>
          <p:cNvSpPr/>
          <p:nvPr/>
        </p:nvSpPr>
        <p:spPr>
          <a:xfrm>
            <a:off x="6810480" y="2280240"/>
            <a:ext cx="94680" cy="84960"/>
          </a:xfrm>
          <a:custGeom>
            <a:avLst/>
            <a:gdLst/>
            <a:ahLst/>
            <a:rect l="l" t="t" r="r" b="b"/>
            <a:pathLst>
              <a:path w="95250" h="85725">
                <a:moveTo>
                  <a:pt x="0" y="0"/>
                </a:moveTo>
                <a:lnTo>
                  <a:pt x="95250" y="0"/>
                </a:lnTo>
                <a:lnTo>
                  <a:pt x="47625" y="85725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"/>
          <p:cNvSpPr/>
          <p:nvPr/>
        </p:nvSpPr>
        <p:spPr>
          <a:xfrm>
            <a:off x="9905760" y="1984680"/>
            <a:ext cx="360" cy="295200"/>
          </a:xfrm>
          <a:prstGeom prst="line">
            <a:avLst/>
          </a:prstGeom>
          <a:ln w="14288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"/>
          <p:cNvSpPr/>
          <p:nvPr/>
        </p:nvSpPr>
        <p:spPr>
          <a:xfrm>
            <a:off x="9858240" y="2280240"/>
            <a:ext cx="94680" cy="84960"/>
          </a:xfrm>
          <a:custGeom>
            <a:avLst/>
            <a:gdLst/>
            <a:ahLst/>
            <a:rect l="l" t="t" r="r" b="b"/>
            <a:pathLst>
              <a:path w="95250" h="85725">
                <a:moveTo>
                  <a:pt x="0" y="0"/>
                </a:moveTo>
                <a:lnTo>
                  <a:pt x="95250" y="0"/>
                </a:lnTo>
                <a:lnTo>
                  <a:pt x="47625" y="85725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"/>
          <p:cNvSpPr/>
          <p:nvPr/>
        </p:nvSpPr>
        <p:spPr>
          <a:xfrm>
            <a:off x="12706200" y="1984680"/>
            <a:ext cx="360" cy="295200"/>
          </a:xfrm>
          <a:prstGeom prst="line">
            <a:avLst/>
          </a:prstGeom>
          <a:ln w="14288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"/>
          <p:cNvSpPr/>
          <p:nvPr/>
        </p:nvSpPr>
        <p:spPr>
          <a:xfrm>
            <a:off x="12658680" y="2280240"/>
            <a:ext cx="94680" cy="84960"/>
          </a:xfrm>
          <a:custGeom>
            <a:avLst/>
            <a:gdLst/>
            <a:ahLst/>
            <a:rect l="l" t="t" r="r" b="b"/>
            <a:pathLst>
              <a:path w="95250" h="85725">
                <a:moveTo>
                  <a:pt x="0" y="0"/>
                </a:moveTo>
                <a:lnTo>
                  <a:pt x="95250" y="0"/>
                </a:lnTo>
                <a:lnTo>
                  <a:pt x="47625" y="85725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"/>
          <p:cNvSpPr/>
          <p:nvPr/>
        </p:nvSpPr>
        <p:spPr>
          <a:xfrm>
            <a:off x="15468480" y="1984680"/>
            <a:ext cx="360" cy="295200"/>
          </a:xfrm>
          <a:prstGeom prst="line">
            <a:avLst/>
          </a:prstGeom>
          <a:ln w="14288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"/>
          <p:cNvSpPr/>
          <p:nvPr/>
        </p:nvSpPr>
        <p:spPr>
          <a:xfrm>
            <a:off x="15420960" y="2280240"/>
            <a:ext cx="94680" cy="84960"/>
          </a:xfrm>
          <a:custGeom>
            <a:avLst/>
            <a:gdLst/>
            <a:ahLst/>
            <a:rect l="l" t="t" r="r" b="b"/>
            <a:pathLst>
              <a:path w="95250" h="85725">
                <a:moveTo>
                  <a:pt x="0" y="0"/>
                </a:moveTo>
                <a:lnTo>
                  <a:pt x="95250" y="0"/>
                </a:lnTo>
                <a:lnTo>
                  <a:pt x="47625" y="85725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"/>
          <p:cNvSpPr/>
          <p:nvPr/>
        </p:nvSpPr>
        <p:spPr>
          <a:xfrm>
            <a:off x="200160" y="2451600"/>
            <a:ext cx="2475720" cy="513720"/>
          </a:xfrm>
          <a:prstGeom prst="roundRect">
            <a:avLst>
              <a:gd name="adj" fmla="val 14815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"/>
          <p:cNvSpPr/>
          <p:nvPr/>
        </p:nvSpPr>
        <p:spPr>
          <a:xfrm>
            <a:off x="219240" y="2460960"/>
            <a:ext cx="243756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80" spc="-1" strike="noStrike">
                <a:solidFill>
                  <a:srgbClr val="111111"/>
                </a:solidFill>
                <a:latin typeface="SimSun"/>
                <a:ea typeface="SimSun"/>
              </a:rPr>
              <a:t>1.  2020 </a:t>
            </a:r>
            <a:r>
              <a:rPr b="1" lang="zh-CN" sz="1580" spc="-1" strike="noStrike">
                <a:solidFill>
                  <a:srgbClr val="111111"/>
                </a:solidFill>
                <a:latin typeface="SimSun"/>
                <a:ea typeface="SimSun"/>
              </a:rPr>
              <a:t>起点：</a:t>
            </a:r>
            <a:r>
              <a:rPr b="1" lang="en-US" sz="1580" spc="-1" strike="noStrike">
                <a:solidFill>
                  <a:srgbClr val="111111"/>
                </a:solidFill>
                <a:latin typeface="SimSun"/>
                <a:ea typeface="SimSun"/>
              </a:rPr>
              <a:t>RAG</a:t>
            </a:r>
            <a:endParaRPr b="0" lang="en-US" sz="1580" spc="-1" strike="noStrike"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2933640" y="2441880"/>
            <a:ext cx="2342520" cy="656640"/>
          </a:xfrm>
          <a:prstGeom prst="roundRect">
            <a:avLst>
              <a:gd name="adj" fmla="val 11594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"/>
          <p:cNvSpPr/>
          <p:nvPr/>
        </p:nvSpPr>
        <p:spPr>
          <a:xfrm>
            <a:off x="2952720" y="2451600"/>
            <a:ext cx="230436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80" spc="-1" strike="noStrike">
                <a:solidFill>
                  <a:srgbClr val="111111"/>
                </a:solidFill>
                <a:latin typeface="SimSun"/>
                <a:ea typeface="SimSun"/>
              </a:rPr>
              <a:t>2.  2021–2022</a:t>
            </a:r>
            <a:endParaRPr b="0" lang="en-US" sz="158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580" spc="-1" strike="noStrike">
                <a:solidFill>
                  <a:srgbClr val="111111"/>
                </a:solidFill>
                <a:latin typeface="SimSun"/>
                <a:ea typeface="SimSun"/>
              </a:rPr>
              <a:t>Naive RAG</a:t>
            </a:r>
            <a:endParaRPr b="0" lang="en-US" sz="1580" spc="-1" strike="noStrike"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5533920" y="2441880"/>
            <a:ext cx="2637720" cy="656640"/>
          </a:xfrm>
          <a:prstGeom prst="roundRect">
            <a:avLst>
              <a:gd name="adj" fmla="val 11594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"/>
          <p:cNvSpPr/>
          <p:nvPr/>
        </p:nvSpPr>
        <p:spPr>
          <a:xfrm>
            <a:off x="5553000" y="2451600"/>
            <a:ext cx="259956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 fontScale="93000"/>
          </a:bodyPr>
          <a:p>
            <a:pPr algn="ctr">
              <a:lnSpc>
                <a:spcPct val="100000"/>
              </a:lnSpc>
              <a:buNone/>
            </a:pPr>
            <a:r>
              <a:rPr b="1" lang="en-US" sz="1580" spc="-1" strike="noStrike">
                <a:solidFill>
                  <a:srgbClr val="111111"/>
                </a:solidFill>
                <a:latin typeface="SimSun"/>
                <a:ea typeface="SimSun"/>
              </a:rPr>
              <a:t>3.  2023–2024</a:t>
            </a:r>
            <a:endParaRPr b="0" lang="en-US" sz="158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580" spc="-1" strike="noStrike">
                <a:solidFill>
                  <a:srgbClr val="111111"/>
                </a:solidFill>
                <a:latin typeface="SimSun"/>
                <a:ea typeface="SimSun"/>
              </a:rPr>
              <a:t>Advanced / Modular RAG</a:t>
            </a:r>
            <a:endParaRPr b="0" lang="en-US" sz="1580" spc="-1" strike="noStrike"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8439120" y="2451600"/>
            <a:ext cx="2923560" cy="513720"/>
          </a:xfrm>
          <a:prstGeom prst="roundRect">
            <a:avLst>
              <a:gd name="adj" fmla="val 14815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"/>
          <p:cNvSpPr/>
          <p:nvPr/>
        </p:nvSpPr>
        <p:spPr>
          <a:xfrm>
            <a:off x="8458200" y="2460960"/>
            <a:ext cx="28854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80" spc="-1" strike="noStrike">
                <a:solidFill>
                  <a:srgbClr val="111111"/>
                </a:solidFill>
                <a:latin typeface="SimSun"/>
                <a:ea typeface="SimSun"/>
              </a:rPr>
              <a:t>4.  2024 </a:t>
            </a:r>
            <a:r>
              <a:rPr b="1" lang="zh-CN" sz="1580" spc="-1" strike="noStrike">
                <a:solidFill>
                  <a:srgbClr val="111111"/>
                </a:solidFill>
                <a:latin typeface="SimSun"/>
                <a:ea typeface="SimSun"/>
              </a:rPr>
              <a:t>知识结构化</a:t>
            </a:r>
            <a:endParaRPr b="0" lang="en-US" sz="1580" spc="-1" strike="noStrike"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11649240" y="2441880"/>
            <a:ext cx="2304360" cy="656640"/>
          </a:xfrm>
          <a:prstGeom prst="roundRect">
            <a:avLst>
              <a:gd name="adj" fmla="val 11594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"/>
          <p:cNvSpPr/>
          <p:nvPr/>
        </p:nvSpPr>
        <p:spPr>
          <a:xfrm>
            <a:off x="11667960" y="2451600"/>
            <a:ext cx="226620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80" spc="-1" strike="noStrike">
                <a:solidFill>
                  <a:srgbClr val="111111"/>
                </a:solidFill>
                <a:latin typeface="SimSun"/>
                <a:ea typeface="SimSun"/>
              </a:rPr>
              <a:t>5.  2024–2025</a:t>
            </a:r>
            <a:endParaRPr b="0" lang="en-US" sz="158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zh-CN" sz="1580" spc="-1" strike="noStrike">
                <a:solidFill>
                  <a:srgbClr val="111111"/>
                </a:solidFill>
                <a:latin typeface="SimSun"/>
                <a:ea typeface="SimSun"/>
              </a:rPr>
              <a:t>检索决策与可靠性</a:t>
            </a:r>
            <a:endParaRPr b="0" lang="en-US" sz="1580" spc="-1" strike="noStrike"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14220720" y="2441880"/>
            <a:ext cx="2494800" cy="656640"/>
          </a:xfrm>
          <a:prstGeom prst="roundRect">
            <a:avLst>
              <a:gd name="adj" fmla="val 11594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"/>
          <p:cNvSpPr/>
          <p:nvPr/>
        </p:nvSpPr>
        <p:spPr>
          <a:xfrm>
            <a:off x="14239800" y="2451600"/>
            <a:ext cx="245664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80" spc="-1" strike="noStrike">
                <a:solidFill>
                  <a:srgbClr val="111111"/>
                </a:solidFill>
                <a:latin typeface="SimSun"/>
                <a:ea typeface="SimSun"/>
              </a:rPr>
              <a:t>6.  2025–2026</a:t>
            </a:r>
            <a:endParaRPr b="0" lang="en-US" sz="158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580" spc="-1" strike="noStrike">
                <a:solidFill>
                  <a:srgbClr val="111111"/>
                </a:solidFill>
                <a:latin typeface="SimSun"/>
                <a:ea typeface="SimSun"/>
              </a:rPr>
              <a:t>Agentic RAG</a:t>
            </a:r>
            <a:endParaRPr b="0" lang="en-US" sz="1580" spc="-1" strike="noStrike"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237960" y="4013640"/>
            <a:ext cx="561240" cy="59940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"/>
          <p:cNvSpPr/>
          <p:nvPr/>
        </p:nvSpPr>
        <p:spPr>
          <a:xfrm>
            <a:off x="990720" y="4013640"/>
            <a:ext cx="723240" cy="5994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"/>
          <p:cNvSpPr/>
          <p:nvPr/>
        </p:nvSpPr>
        <p:spPr>
          <a:xfrm>
            <a:off x="1914480" y="4013640"/>
            <a:ext cx="704160" cy="5994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"/>
          <p:cNvSpPr/>
          <p:nvPr/>
        </p:nvSpPr>
        <p:spPr>
          <a:xfrm>
            <a:off x="257040" y="4080240"/>
            <a:ext cx="523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3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Query</a:t>
            </a:r>
            <a:endParaRPr b="0" lang="en-US" sz="1130" spc="-1" strike="noStrike"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1009800" y="4080240"/>
            <a:ext cx="685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3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Retriever</a:t>
            </a:r>
            <a:endParaRPr b="0" lang="en-US" sz="1130" spc="-1" strike="noStrike"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1933560" y="4080240"/>
            <a:ext cx="666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3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Generator</a:t>
            </a:r>
            <a:endParaRPr b="0" lang="en-US" sz="1130" spc="-1" strike="noStrike"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800280" y="4313520"/>
            <a:ext cx="1897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383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"/>
          <p:cNvSpPr/>
          <p:nvPr/>
        </p:nvSpPr>
        <p:spPr>
          <a:xfrm>
            <a:off x="1714680" y="4313520"/>
            <a:ext cx="1994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383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"/>
          <p:cNvSpPr/>
          <p:nvPr/>
        </p:nvSpPr>
        <p:spPr>
          <a:xfrm>
            <a:off x="247320" y="5889960"/>
            <a:ext cx="2343240" cy="360"/>
          </a:xfrm>
          <a:prstGeom prst="line">
            <a:avLst/>
          </a:prstGeom>
          <a:ln w="9525">
            <a:solidFill>
              <a:srgbClr val="a5a5a5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"/>
          <p:cNvSpPr/>
          <p:nvPr/>
        </p:nvSpPr>
        <p:spPr>
          <a:xfrm>
            <a:off x="295200" y="6118560"/>
            <a:ext cx="228528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11111"/>
                </a:solidFill>
                <a:latin typeface="SimSun"/>
                <a:ea typeface="SimSun"/>
              </a:rPr>
              <a:t>•  </a:t>
            </a:r>
            <a:r>
              <a:rPr b="0" lang="zh-CN" sz="1200" spc="-1" strike="noStrike">
                <a:solidFill>
                  <a:srgbClr val="111111"/>
                </a:solidFill>
                <a:latin typeface="SimSun"/>
                <a:ea typeface="SimSun"/>
              </a:rPr>
              <a:t>外部知识增强生成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295200" y="6423480"/>
            <a:ext cx="228528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11111"/>
                </a:solidFill>
                <a:latin typeface="SimSun"/>
                <a:ea typeface="SimSun"/>
              </a:rPr>
              <a:t>•  </a:t>
            </a:r>
            <a:r>
              <a:rPr b="0" lang="zh-CN" sz="1200" spc="-1" strike="noStrike">
                <a:solidFill>
                  <a:srgbClr val="111111"/>
                </a:solidFill>
                <a:latin typeface="SimSun"/>
                <a:ea typeface="SimSun"/>
              </a:rPr>
              <a:t>参数化记忆 </a:t>
            </a:r>
            <a:r>
              <a:rPr b="0" lang="en-US" sz="1200" spc="-1" strike="noStrike">
                <a:solidFill>
                  <a:srgbClr val="111111"/>
                </a:solidFill>
                <a:latin typeface="SimSun"/>
                <a:ea typeface="SimSun"/>
              </a:rPr>
              <a:t>+ </a:t>
            </a:r>
            <a:r>
              <a:rPr b="0" lang="zh-CN" sz="1200" spc="-1" strike="noStrike">
                <a:solidFill>
                  <a:srgbClr val="111111"/>
                </a:solidFill>
                <a:latin typeface="SimSun"/>
                <a:ea typeface="SimSun"/>
              </a:rPr>
              <a:t>非参数化记忆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295200" y="6728400"/>
            <a:ext cx="228528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11111"/>
                </a:solidFill>
                <a:latin typeface="SimSun"/>
                <a:ea typeface="SimSun"/>
              </a:rPr>
              <a:t>•  </a:t>
            </a:r>
            <a:r>
              <a:rPr b="0" lang="zh-CN" sz="1200" spc="-1" strike="noStrike">
                <a:solidFill>
                  <a:srgbClr val="111111"/>
                </a:solidFill>
                <a:latin typeface="SimSun"/>
                <a:ea typeface="SimSun"/>
              </a:rPr>
              <a:t>代表：</a:t>
            </a:r>
            <a:r>
              <a:rPr b="0" lang="en-US" sz="1200" spc="-1" strike="noStrike">
                <a:solidFill>
                  <a:srgbClr val="111111"/>
                </a:solidFill>
                <a:latin typeface="SimSun"/>
                <a:ea typeface="SimSun"/>
              </a:rPr>
              <a:t>Lewis et al., 2020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3343320" y="3184920"/>
            <a:ext cx="1523160" cy="3326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049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"/>
          <p:cNvSpPr/>
          <p:nvPr/>
        </p:nvSpPr>
        <p:spPr>
          <a:xfrm>
            <a:off x="3371760" y="3204000"/>
            <a:ext cx="1466280" cy="29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zh-CN" sz="1280" spc="-1" strike="noStrike">
                <a:solidFill>
                  <a:srgbClr val="111111"/>
                </a:solidFill>
                <a:latin typeface="SimSun"/>
                <a:ea typeface="SimSun"/>
              </a:rPr>
              <a:t>文档解析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3343320" y="3623040"/>
            <a:ext cx="1523160" cy="3326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049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"/>
          <p:cNvSpPr/>
          <p:nvPr/>
        </p:nvSpPr>
        <p:spPr>
          <a:xfrm>
            <a:off x="3371760" y="3642120"/>
            <a:ext cx="1466280" cy="29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zh-CN" sz="1280" spc="-1" strike="noStrike">
                <a:solidFill>
                  <a:srgbClr val="111111"/>
                </a:solidFill>
                <a:latin typeface="SimSun"/>
                <a:ea typeface="SimSun"/>
              </a:rPr>
              <a:t>切块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4105440" y="3518280"/>
            <a:ext cx="360" cy="1040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0478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"/>
          <p:cNvSpPr/>
          <p:nvPr/>
        </p:nvSpPr>
        <p:spPr>
          <a:xfrm>
            <a:off x="3343320" y="4061160"/>
            <a:ext cx="1523160" cy="3326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049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"/>
          <p:cNvSpPr/>
          <p:nvPr/>
        </p:nvSpPr>
        <p:spPr>
          <a:xfrm>
            <a:off x="3371760" y="4080240"/>
            <a:ext cx="1466280" cy="29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80" spc="-1" strike="noStrike">
                <a:solidFill>
                  <a:srgbClr val="111111"/>
                </a:solidFill>
                <a:latin typeface="SimSun"/>
                <a:ea typeface="SimSun"/>
              </a:rPr>
              <a:t>Embedding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4105440" y="3956400"/>
            <a:ext cx="360" cy="1040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0478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"/>
          <p:cNvSpPr/>
          <p:nvPr/>
        </p:nvSpPr>
        <p:spPr>
          <a:xfrm>
            <a:off x="3343320" y="4499280"/>
            <a:ext cx="1523160" cy="3326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049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"/>
          <p:cNvSpPr/>
          <p:nvPr/>
        </p:nvSpPr>
        <p:spPr>
          <a:xfrm>
            <a:off x="3371760" y="4518360"/>
            <a:ext cx="1466280" cy="29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zh-CN" sz="1280" spc="-1" strike="noStrike">
                <a:solidFill>
                  <a:srgbClr val="111111"/>
                </a:solidFill>
                <a:latin typeface="SimSun"/>
                <a:ea typeface="SimSun"/>
              </a:rPr>
              <a:t>向量库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4105440" y="4394520"/>
            <a:ext cx="360" cy="1040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0478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"/>
          <p:cNvSpPr/>
          <p:nvPr/>
        </p:nvSpPr>
        <p:spPr>
          <a:xfrm>
            <a:off x="3343320" y="4937400"/>
            <a:ext cx="1523160" cy="3326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049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"/>
          <p:cNvSpPr/>
          <p:nvPr/>
        </p:nvSpPr>
        <p:spPr>
          <a:xfrm>
            <a:off x="3371760" y="4956480"/>
            <a:ext cx="1466280" cy="29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80" spc="-1" strike="noStrike">
                <a:solidFill>
                  <a:srgbClr val="111111"/>
                </a:solidFill>
                <a:latin typeface="SimSun"/>
                <a:ea typeface="SimSun"/>
              </a:rPr>
              <a:t>Top-K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4105440" y="4832640"/>
            <a:ext cx="360" cy="1040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0478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3343320" y="5375880"/>
            <a:ext cx="1523160" cy="3326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049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"/>
          <p:cNvSpPr/>
          <p:nvPr/>
        </p:nvSpPr>
        <p:spPr>
          <a:xfrm>
            <a:off x="3371760" y="5394600"/>
            <a:ext cx="1466280" cy="29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80" spc="-1" strike="noStrike">
                <a:solidFill>
                  <a:srgbClr val="111111"/>
                </a:solidFill>
                <a:latin typeface="SimSun"/>
                <a:ea typeface="SimSun"/>
              </a:rPr>
              <a:t>LLM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4105440" y="5270760"/>
            <a:ext cx="360" cy="1040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0478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"/>
          <p:cNvSpPr/>
          <p:nvPr/>
        </p:nvSpPr>
        <p:spPr>
          <a:xfrm>
            <a:off x="3000240" y="5889960"/>
            <a:ext cx="2209680" cy="360"/>
          </a:xfrm>
          <a:prstGeom prst="line">
            <a:avLst/>
          </a:prstGeom>
          <a:ln w="9525">
            <a:solidFill>
              <a:srgbClr val="a5a5a5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"/>
          <p:cNvSpPr/>
          <p:nvPr/>
        </p:nvSpPr>
        <p:spPr>
          <a:xfrm>
            <a:off x="3009960" y="6118560"/>
            <a:ext cx="218988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•  </a:t>
            </a:r>
            <a:r>
              <a:rPr b="0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工程化落地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3009960" y="6423480"/>
            <a:ext cx="218988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•  </a:t>
            </a:r>
            <a:r>
              <a:rPr b="0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快速接入私有知识库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3009960" y="6728400"/>
            <a:ext cx="218988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3000"/>
          </a:bodyPr>
          <a:p>
            <a:pPr>
              <a:lnSpc>
                <a:spcPct val="100000"/>
              </a:lnSpc>
              <a:buNone/>
            </a:pPr>
            <a:r>
              <a:rPr b="0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•  </a:t>
            </a:r>
            <a:r>
              <a:rPr b="0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问题：</a:t>
            </a:r>
            <a:r>
              <a:rPr b="0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Chunk </a:t>
            </a:r>
            <a:r>
              <a:rPr b="0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边界、固定 </a:t>
            </a:r>
            <a:r>
              <a:rPr b="0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Top-K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5991120" y="3184920"/>
            <a:ext cx="1770840" cy="3326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049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"/>
          <p:cNvSpPr/>
          <p:nvPr/>
        </p:nvSpPr>
        <p:spPr>
          <a:xfrm>
            <a:off x="6019920" y="3204000"/>
            <a:ext cx="1713960" cy="29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4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Query Rewrite</a:t>
            </a:r>
            <a:endParaRPr b="0" lang="en-US" sz="1240" spc="-1" strike="noStrike"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5991120" y="3623040"/>
            <a:ext cx="1770840" cy="3326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049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"/>
          <p:cNvSpPr/>
          <p:nvPr/>
        </p:nvSpPr>
        <p:spPr>
          <a:xfrm>
            <a:off x="6019920" y="3642120"/>
            <a:ext cx="1713960" cy="29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4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Hybrid Retrieval</a:t>
            </a:r>
            <a:endParaRPr b="0" lang="en-US" sz="1240" spc="-1" strike="noStrike"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6877080" y="3518280"/>
            <a:ext cx="360" cy="1040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0478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5991120" y="4061160"/>
            <a:ext cx="1770840" cy="3326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049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"/>
          <p:cNvSpPr/>
          <p:nvPr/>
        </p:nvSpPr>
        <p:spPr>
          <a:xfrm>
            <a:off x="6019920" y="4080240"/>
            <a:ext cx="1713960" cy="29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4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Metadata Filter</a:t>
            </a:r>
            <a:endParaRPr b="0" lang="en-US" sz="1240" spc="-1" strike="noStrike"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6877080" y="3956400"/>
            <a:ext cx="360" cy="1040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0478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"/>
          <p:cNvSpPr/>
          <p:nvPr/>
        </p:nvSpPr>
        <p:spPr>
          <a:xfrm>
            <a:off x="5991120" y="4499280"/>
            <a:ext cx="1770840" cy="3326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049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"/>
          <p:cNvSpPr/>
          <p:nvPr/>
        </p:nvSpPr>
        <p:spPr>
          <a:xfrm>
            <a:off x="6019920" y="4518360"/>
            <a:ext cx="1713960" cy="29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4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Reranker</a:t>
            </a:r>
            <a:endParaRPr b="0" lang="en-US" sz="1240" spc="-1" strike="noStrike"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6877080" y="4394520"/>
            <a:ext cx="360" cy="1040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0478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"/>
          <p:cNvSpPr/>
          <p:nvPr/>
        </p:nvSpPr>
        <p:spPr>
          <a:xfrm>
            <a:off x="5991120" y="4937400"/>
            <a:ext cx="1770840" cy="3326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049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"/>
          <p:cNvSpPr/>
          <p:nvPr/>
        </p:nvSpPr>
        <p:spPr>
          <a:xfrm>
            <a:off x="6019920" y="4956480"/>
            <a:ext cx="1713960" cy="29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4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Context Compression</a:t>
            </a:r>
            <a:endParaRPr b="0" lang="en-US" sz="1240" spc="-1" strike="noStrike"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6877080" y="4832640"/>
            <a:ext cx="360" cy="1040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0478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"/>
          <p:cNvSpPr/>
          <p:nvPr/>
        </p:nvSpPr>
        <p:spPr>
          <a:xfrm>
            <a:off x="5991120" y="5375880"/>
            <a:ext cx="1770840" cy="3326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049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"/>
          <p:cNvSpPr/>
          <p:nvPr/>
        </p:nvSpPr>
        <p:spPr>
          <a:xfrm>
            <a:off x="6019920" y="5394600"/>
            <a:ext cx="1713960" cy="29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4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Parent-Child / Fusion</a:t>
            </a:r>
            <a:endParaRPr b="0" lang="en-US" sz="1240" spc="-1" strike="noStrike"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6877080" y="5270760"/>
            <a:ext cx="360" cy="1040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0478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"/>
          <p:cNvSpPr/>
          <p:nvPr/>
        </p:nvSpPr>
        <p:spPr>
          <a:xfrm>
            <a:off x="5609880" y="5889960"/>
            <a:ext cx="2476800" cy="360"/>
          </a:xfrm>
          <a:prstGeom prst="line">
            <a:avLst/>
          </a:prstGeom>
          <a:ln w="9525">
            <a:solidFill>
              <a:srgbClr val="a5a5a5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"/>
          <p:cNvSpPr/>
          <p:nvPr/>
        </p:nvSpPr>
        <p:spPr>
          <a:xfrm>
            <a:off x="5629320" y="6118560"/>
            <a:ext cx="242820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•  </a:t>
            </a:r>
            <a:r>
              <a:rPr b="0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检索链路优化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629320" y="6432840"/>
            <a:ext cx="242820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•  </a:t>
            </a:r>
            <a:r>
              <a:rPr b="0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从黑盒 </a:t>
            </a:r>
            <a:r>
              <a:rPr b="0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Retriever </a:t>
            </a:r>
            <a:r>
              <a:rPr b="0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到模块组合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8477280" y="3327840"/>
            <a:ext cx="1399320" cy="241848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8573">
            <a:solidFill>
              <a:srgbClr val="a8a8a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"/>
          <p:cNvSpPr/>
          <p:nvPr/>
        </p:nvSpPr>
        <p:spPr>
          <a:xfrm>
            <a:off x="9944280" y="3327840"/>
            <a:ext cx="1389960" cy="2418480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8573">
            <a:solidFill>
              <a:srgbClr val="a8a8a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"/>
          <p:cNvSpPr/>
          <p:nvPr/>
        </p:nvSpPr>
        <p:spPr>
          <a:xfrm>
            <a:off x="8534520" y="3385080"/>
            <a:ext cx="128520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3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GraphRAG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8562960" y="4146840"/>
            <a:ext cx="1237680" cy="5137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8573">
            <a:solidFill>
              <a:srgbClr val="a8a8a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>
            <a:off x="8591400" y="4185000"/>
            <a:ext cx="118044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zh-CN" sz="1130" spc="-1" strike="noStrike">
                <a:solidFill>
                  <a:srgbClr val="111111"/>
                </a:solidFill>
                <a:latin typeface="SimSun"/>
                <a:ea typeface="SimSun"/>
              </a:rPr>
              <a:t>实体 </a:t>
            </a:r>
            <a:r>
              <a:rPr b="0" lang="en-US" sz="1130" spc="-1" strike="noStrike">
                <a:solidFill>
                  <a:srgbClr val="111111"/>
                </a:solidFill>
                <a:latin typeface="SimSun"/>
                <a:ea typeface="SimSun"/>
              </a:rPr>
              <a:t>- </a:t>
            </a:r>
            <a:r>
              <a:rPr b="0" lang="zh-CN" sz="1130" spc="-1" strike="noStrike">
                <a:solidFill>
                  <a:srgbClr val="111111"/>
                </a:solidFill>
                <a:latin typeface="SimSun"/>
                <a:ea typeface="SimSun"/>
              </a:rPr>
              <a:t>关系 </a:t>
            </a:r>
            <a:r>
              <a:rPr b="0" lang="en-US" sz="1130" spc="-1" strike="noStrike">
                <a:solidFill>
                  <a:srgbClr val="111111"/>
                </a:solidFill>
                <a:latin typeface="SimSun"/>
                <a:ea typeface="SimSun"/>
              </a:rPr>
              <a:t>- </a:t>
            </a:r>
            <a:r>
              <a:rPr b="0" lang="zh-CN" sz="1130" spc="-1" strike="noStrike">
                <a:solidFill>
                  <a:srgbClr val="111111"/>
                </a:solidFill>
                <a:latin typeface="SimSun"/>
                <a:ea typeface="SimSun"/>
              </a:rPr>
              <a:t>社区</a:t>
            </a:r>
            <a:endParaRPr b="0" lang="en-US" sz="1130" spc="-1" strike="noStrike"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8562960" y="4985280"/>
            <a:ext cx="1237680" cy="61848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8573">
            <a:solidFill>
              <a:srgbClr val="a8a8a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"/>
          <p:cNvSpPr/>
          <p:nvPr/>
        </p:nvSpPr>
        <p:spPr>
          <a:xfrm>
            <a:off x="8591400" y="5013720"/>
            <a:ext cx="1180440" cy="5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7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Local / Global</a:t>
            </a:r>
            <a:endParaRPr b="0" lang="en-US" sz="117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17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Search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9182160" y="4661280"/>
            <a:ext cx="360" cy="323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383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"/>
          <p:cNvSpPr/>
          <p:nvPr/>
        </p:nvSpPr>
        <p:spPr>
          <a:xfrm>
            <a:off x="9982080" y="3366000"/>
            <a:ext cx="1313640" cy="5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4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Hierarchical RAG /</a:t>
            </a:r>
            <a:endParaRPr b="0" lang="en-US" sz="124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24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RAPTOR</a:t>
            </a:r>
            <a:endParaRPr b="0" lang="en-US" sz="1240" spc="-1" strike="noStrike"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10020240" y="4137480"/>
            <a:ext cx="1237680" cy="67572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8573">
            <a:solidFill>
              <a:srgbClr val="a8a8a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"/>
          <p:cNvSpPr/>
          <p:nvPr/>
        </p:nvSpPr>
        <p:spPr>
          <a:xfrm>
            <a:off x="10049040" y="4175640"/>
            <a:ext cx="118044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9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Chunk–Cluster–</a:t>
            </a:r>
            <a:endParaRPr b="0" lang="en-US" sz="109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09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Summary</a:t>
            </a:r>
            <a:endParaRPr b="0" lang="en-US" sz="1090" spc="-1" strike="noStrike"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10020240" y="5099400"/>
            <a:ext cx="1237680" cy="5137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8573">
            <a:solidFill>
              <a:srgbClr val="a8a8a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"/>
          <p:cNvSpPr/>
          <p:nvPr/>
        </p:nvSpPr>
        <p:spPr>
          <a:xfrm>
            <a:off x="10049040" y="5137560"/>
            <a:ext cx="118044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多层级检索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10639440" y="4813560"/>
            <a:ext cx="360" cy="285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383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"/>
          <p:cNvSpPr/>
          <p:nvPr/>
        </p:nvSpPr>
        <p:spPr>
          <a:xfrm>
            <a:off x="8496000" y="5889960"/>
            <a:ext cx="2800440" cy="360"/>
          </a:xfrm>
          <a:prstGeom prst="line">
            <a:avLst/>
          </a:prstGeom>
          <a:ln w="9525">
            <a:solidFill>
              <a:srgbClr val="a5a5a5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"/>
          <p:cNvSpPr/>
          <p:nvPr/>
        </p:nvSpPr>
        <p:spPr>
          <a:xfrm>
            <a:off x="8486640" y="6385320"/>
            <a:ext cx="282816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zh-CN" sz="1200" spc="-1" strike="noStrike">
                <a:solidFill>
                  <a:srgbClr val="111111"/>
                </a:solidFill>
                <a:latin typeface="SimSun"/>
                <a:ea typeface="SimSun"/>
              </a:rPr>
              <a:t>从文本相似度到结构化知识理解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12011040" y="3423240"/>
            <a:ext cx="1637640" cy="5137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049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"/>
          <p:cNvSpPr/>
          <p:nvPr/>
        </p:nvSpPr>
        <p:spPr>
          <a:xfrm>
            <a:off x="12039480" y="3441960"/>
            <a:ext cx="1580400" cy="47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Adaptive RAG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12011040" y="4213800"/>
            <a:ext cx="1637640" cy="5137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049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"/>
          <p:cNvSpPr/>
          <p:nvPr/>
        </p:nvSpPr>
        <p:spPr>
          <a:xfrm>
            <a:off x="12039480" y="4232880"/>
            <a:ext cx="1580400" cy="47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Self-RAG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12830040" y="3937320"/>
            <a:ext cx="360" cy="275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0478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"/>
          <p:cNvSpPr/>
          <p:nvPr/>
        </p:nvSpPr>
        <p:spPr>
          <a:xfrm>
            <a:off x="12011040" y="5004360"/>
            <a:ext cx="1637640" cy="5137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049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"/>
          <p:cNvSpPr/>
          <p:nvPr/>
        </p:nvSpPr>
        <p:spPr>
          <a:xfrm>
            <a:off x="12039480" y="5023440"/>
            <a:ext cx="1580400" cy="47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CRAG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12830040" y="4727880"/>
            <a:ext cx="360" cy="275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0478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"/>
          <p:cNvSpPr/>
          <p:nvPr/>
        </p:nvSpPr>
        <p:spPr>
          <a:xfrm>
            <a:off x="11706120" y="5889960"/>
            <a:ext cx="2190600" cy="360"/>
          </a:xfrm>
          <a:prstGeom prst="line">
            <a:avLst/>
          </a:prstGeom>
          <a:ln w="9525">
            <a:solidFill>
              <a:srgbClr val="a5a5a5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"/>
          <p:cNvSpPr/>
          <p:nvPr/>
        </p:nvSpPr>
        <p:spPr>
          <a:xfrm>
            <a:off x="11715840" y="6118560"/>
            <a:ext cx="218052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•  </a:t>
            </a:r>
            <a:r>
              <a:rPr b="0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何时检索、查什么、查多少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11715840" y="6423480"/>
            <a:ext cx="218052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•  </a:t>
            </a:r>
            <a:r>
              <a:rPr b="0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自反思 </a:t>
            </a:r>
            <a:r>
              <a:rPr b="0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/ </a:t>
            </a:r>
            <a:r>
              <a:rPr b="0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纠错 </a:t>
            </a:r>
            <a:r>
              <a:rPr b="0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/ </a:t>
            </a:r>
            <a:r>
              <a:rPr b="0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验证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11715840" y="6728400"/>
            <a:ext cx="218052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3000"/>
          </a:bodyPr>
          <a:p>
            <a:pPr>
              <a:lnSpc>
                <a:spcPct val="100000"/>
              </a:lnSpc>
              <a:buNone/>
            </a:pPr>
            <a:r>
              <a:rPr b="0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•  </a:t>
            </a:r>
            <a:r>
              <a:rPr b="0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从 </a:t>
            </a:r>
            <a:r>
              <a:rPr b="0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Accuracy </a:t>
            </a:r>
            <a:r>
              <a:rPr b="0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到 </a:t>
            </a:r>
            <a:r>
              <a:rPr b="0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Reliability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14287680" y="4099320"/>
            <a:ext cx="904320" cy="627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"/>
          <p:cNvSpPr/>
          <p:nvPr/>
        </p:nvSpPr>
        <p:spPr>
          <a:xfrm>
            <a:off x="14325480" y="4156560"/>
            <a:ext cx="828000" cy="5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Planning /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Routing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15535440" y="3327840"/>
            <a:ext cx="1113840" cy="48492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"/>
          <p:cNvSpPr/>
          <p:nvPr/>
        </p:nvSpPr>
        <p:spPr>
          <a:xfrm>
            <a:off x="15554160" y="3346920"/>
            <a:ext cx="1075680" cy="44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Tool Use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15535440" y="3908880"/>
            <a:ext cx="1113840" cy="48492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"/>
          <p:cNvSpPr/>
          <p:nvPr/>
        </p:nvSpPr>
        <p:spPr>
          <a:xfrm>
            <a:off x="15554160" y="3927960"/>
            <a:ext cx="1075680" cy="44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Memory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15535440" y="4489920"/>
            <a:ext cx="1113840" cy="48492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"/>
          <p:cNvSpPr/>
          <p:nvPr/>
        </p:nvSpPr>
        <p:spPr>
          <a:xfrm>
            <a:off x="15554160" y="4509000"/>
            <a:ext cx="1075680" cy="44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Multimodal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15535440" y="5070960"/>
            <a:ext cx="1113840" cy="48492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"/>
          <p:cNvSpPr/>
          <p:nvPr/>
        </p:nvSpPr>
        <p:spPr>
          <a:xfrm>
            <a:off x="15554160" y="5090040"/>
            <a:ext cx="1075680" cy="44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Online Data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 flipV="1">
            <a:off x="15192360" y="3570120"/>
            <a:ext cx="342360" cy="842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383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"/>
          <p:cNvSpPr/>
          <p:nvPr/>
        </p:nvSpPr>
        <p:spPr>
          <a:xfrm flipV="1">
            <a:off x="15192360" y="4151160"/>
            <a:ext cx="342360" cy="261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383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"/>
          <p:cNvSpPr/>
          <p:nvPr/>
        </p:nvSpPr>
        <p:spPr>
          <a:xfrm>
            <a:off x="15192360" y="4413600"/>
            <a:ext cx="342360" cy="318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383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"/>
          <p:cNvSpPr/>
          <p:nvPr/>
        </p:nvSpPr>
        <p:spPr>
          <a:xfrm>
            <a:off x="15192360" y="4413600"/>
            <a:ext cx="342360" cy="899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383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"/>
          <p:cNvSpPr/>
          <p:nvPr/>
        </p:nvSpPr>
        <p:spPr>
          <a:xfrm>
            <a:off x="14268240" y="5889960"/>
            <a:ext cx="2381400" cy="360"/>
          </a:xfrm>
          <a:prstGeom prst="line">
            <a:avLst/>
          </a:prstGeom>
          <a:ln w="9525">
            <a:solidFill>
              <a:srgbClr val="a5a5a5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"/>
          <p:cNvSpPr/>
          <p:nvPr/>
        </p:nvSpPr>
        <p:spPr>
          <a:xfrm>
            <a:off x="14287680" y="6118560"/>
            <a:ext cx="238068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130" spc="-1" strike="noStrike">
                <a:solidFill>
                  <a:srgbClr val="111111"/>
                </a:solidFill>
                <a:latin typeface="SimSun"/>
                <a:ea typeface="SimSun"/>
              </a:rPr>
              <a:t>•  </a:t>
            </a:r>
            <a:r>
              <a:rPr b="0" lang="zh-CN" sz="1130" spc="-1" strike="noStrike">
                <a:solidFill>
                  <a:srgbClr val="111111"/>
                </a:solidFill>
                <a:latin typeface="SimSun"/>
                <a:ea typeface="SimSun"/>
              </a:rPr>
              <a:t>检索与推理交替进行</a:t>
            </a:r>
            <a:endParaRPr b="0" lang="en-US" sz="1130" spc="-1" strike="noStrike"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14287680" y="6423480"/>
            <a:ext cx="238068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130" spc="-1" strike="noStrike">
                <a:solidFill>
                  <a:srgbClr val="111111"/>
                </a:solidFill>
                <a:latin typeface="SimSun"/>
                <a:ea typeface="SimSun"/>
              </a:rPr>
              <a:t>•  </a:t>
            </a:r>
            <a:r>
              <a:rPr b="0" lang="zh-CN" sz="1130" spc="-1" strike="noStrike">
                <a:solidFill>
                  <a:srgbClr val="111111"/>
                </a:solidFill>
                <a:latin typeface="SimSun"/>
                <a:ea typeface="SimSun"/>
              </a:rPr>
              <a:t>面向任务的动态知识访问</a:t>
            </a:r>
            <a:endParaRPr b="0" lang="en-US" sz="1130" spc="-1" strike="noStrike"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14287680" y="6728400"/>
            <a:ext cx="238068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4000"/>
          </a:bodyPr>
          <a:p>
            <a:pPr>
              <a:lnSpc>
                <a:spcPct val="100000"/>
              </a:lnSpc>
              <a:buNone/>
            </a:pPr>
            <a:r>
              <a:rPr b="0" lang="en-US" sz="1130" spc="-1" strike="noStrike">
                <a:solidFill>
                  <a:srgbClr val="111111"/>
                </a:solidFill>
                <a:latin typeface="SimSun"/>
                <a:ea typeface="SimSun"/>
              </a:rPr>
              <a:t>•  </a:t>
            </a:r>
            <a:r>
              <a:rPr b="0" lang="en-US" sz="1130" spc="-1" strike="noStrike">
                <a:solidFill>
                  <a:srgbClr val="111111"/>
                </a:solidFill>
                <a:latin typeface="SimSun"/>
                <a:ea typeface="SimSun"/>
              </a:rPr>
              <a:t>RAG </a:t>
            </a:r>
            <a:r>
              <a:rPr b="0" lang="zh-CN" sz="1130" spc="-1" strike="noStrike">
                <a:solidFill>
                  <a:srgbClr val="111111"/>
                </a:solidFill>
                <a:latin typeface="SimSun"/>
                <a:ea typeface="SimSun"/>
              </a:rPr>
              <a:t>成为 </a:t>
            </a:r>
            <a:r>
              <a:rPr b="0" lang="en-US" sz="1130" spc="-1" strike="noStrike">
                <a:solidFill>
                  <a:srgbClr val="111111"/>
                </a:solidFill>
                <a:latin typeface="SimSun"/>
                <a:ea typeface="SimSun"/>
              </a:rPr>
              <a:t>Agent </a:t>
            </a:r>
            <a:r>
              <a:rPr b="0" lang="zh-CN" sz="1130" spc="-1" strike="noStrike">
                <a:solidFill>
                  <a:srgbClr val="111111"/>
                </a:solidFill>
                <a:latin typeface="SimSun"/>
                <a:ea typeface="SimSun"/>
              </a:rPr>
              <a:t>的知识基础设施</a:t>
            </a:r>
            <a:endParaRPr b="0" lang="en-US" sz="1130" spc="-1" strike="noStrike"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2695680" y="4404240"/>
            <a:ext cx="294480" cy="313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1714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"/>
          <p:cNvSpPr/>
          <p:nvPr/>
        </p:nvSpPr>
        <p:spPr>
          <a:xfrm>
            <a:off x="5267160" y="4404240"/>
            <a:ext cx="294480" cy="313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1714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"/>
          <p:cNvSpPr/>
          <p:nvPr/>
        </p:nvSpPr>
        <p:spPr>
          <a:xfrm>
            <a:off x="8143920" y="4404240"/>
            <a:ext cx="294480" cy="313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1714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"/>
          <p:cNvSpPr/>
          <p:nvPr/>
        </p:nvSpPr>
        <p:spPr>
          <a:xfrm>
            <a:off x="11420640" y="4404240"/>
            <a:ext cx="294480" cy="313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1714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"/>
          <p:cNvSpPr/>
          <p:nvPr/>
        </p:nvSpPr>
        <p:spPr>
          <a:xfrm>
            <a:off x="14040000" y="4404240"/>
            <a:ext cx="294480" cy="313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1714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"/>
          <p:cNvSpPr/>
          <p:nvPr/>
        </p:nvSpPr>
        <p:spPr>
          <a:xfrm>
            <a:off x="142920" y="7614000"/>
            <a:ext cx="16610760" cy="637560"/>
          </a:xfrm>
          <a:prstGeom prst="roundRect">
            <a:avLst>
              <a:gd name="adj" fmla="val 20896"/>
            </a:avLst>
          </a:prstGeom>
          <a:solidFill>
            <a:srgbClr val="ffffff"/>
          </a:solidFill>
          <a:ln w="11906">
            <a:solidFill>
              <a:srgbClr val="11111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"/>
          <p:cNvSpPr/>
          <p:nvPr/>
        </p:nvSpPr>
        <p:spPr>
          <a:xfrm>
            <a:off x="2571840" y="7709400"/>
            <a:ext cx="117532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zh-CN" sz="1650" spc="-1" strike="noStrike">
                <a:solidFill>
                  <a:srgbClr val="111111"/>
                </a:solidFill>
                <a:latin typeface="SimSun"/>
                <a:ea typeface="SimSun"/>
              </a:rPr>
              <a:t>结论：</a:t>
            </a:r>
            <a:r>
              <a:rPr b="1" lang="en-US" sz="1650" spc="-1" strike="noStrike">
                <a:solidFill>
                  <a:srgbClr val="111111"/>
                </a:solidFill>
                <a:latin typeface="SimSun"/>
                <a:ea typeface="SimSun"/>
              </a:rPr>
              <a:t>RAG </a:t>
            </a:r>
            <a:r>
              <a:rPr b="1" lang="zh-CN" sz="1650" spc="-1" strike="noStrike">
                <a:solidFill>
                  <a:srgbClr val="111111"/>
                </a:solidFill>
                <a:latin typeface="SimSun"/>
                <a:ea typeface="SimSun"/>
              </a:rPr>
              <a:t>不是单线替代，而是检索能力、知识组织、流程控制、知识模态与可靠性五个维度的并行升级。</a:t>
            </a:r>
            <a:endParaRPr b="0" lang="en-US" sz="16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"/>
          <p:cNvSpPr/>
          <p:nvPr/>
        </p:nvSpPr>
        <p:spPr>
          <a:xfrm>
            <a:off x="900000" y="360000"/>
            <a:ext cx="14586840" cy="335304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905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"/>
          <p:cNvSpPr/>
          <p:nvPr/>
        </p:nvSpPr>
        <p:spPr>
          <a:xfrm>
            <a:off x="5717520" y="438120"/>
            <a:ext cx="495180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zh-CN" sz="25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资料来源（重点确认）</a:t>
            </a:r>
            <a:endParaRPr b="0" lang="en-US" sz="2550" spc="-1" strike="noStrike"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1016640" y="932400"/>
            <a:ext cx="1856520" cy="2659680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"/>
          <p:cNvSpPr/>
          <p:nvPr/>
        </p:nvSpPr>
        <p:spPr>
          <a:xfrm>
            <a:off x="1747800" y="1062360"/>
            <a:ext cx="393840" cy="467280"/>
          </a:xfrm>
          <a:custGeom>
            <a:avLst/>
            <a:gdLst/>
            <a:ahLst/>
            <a:rect l="l" t="t" r="r" b="b"/>
            <a:pathLst>
              <a:path w="419100" h="514350">
                <a:moveTo>
                  <a:pt x="19050" y="9525"/>
                </a:moveTo>
                <a:lnTo>
                  <a:pt x="276225" y="9525"/>
                </a:lnTo>
                <a:lnTo>
                  <a:pt x="400050" y="133350"/>
                </a:lnTo>
                <a:lnTo>
                  <a:pt x="400050" y="495300"/>
                </a:lnTo>
                <a:lnTo>
                  <a:pt x="19050" y="49530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"/>
          <p:cNvSpPr/>
          <p:nvPr/>
        </p:nvSpPr>
        <p:spPr>
          <a:xfrm>
            <a:off x="1747800" y="1062360"/>
            <a:ext cx="393840" cy="467280"/>
          </a:xfrm>
          <a:custGeom>
            <a:avLst/>
            <a:gdLst/>
            <a:ahLst/>
            <a:rect l="l" t="t" r="r" b="b"/>
            <a:pathLst>
              <a:path w="419100" h="514350">
                <a:moveTo>
                  <a:pt x="276225" y="9525"/>
                </a:moveTo>
                <a:lnTo>
                  <a:pt x="276225" y="133350"/>
                </a:lnTo>
                <a:lnTo>
                  <a:pt x="400050" y="133350"/>
                </a:lnTo>
              </a:path>
            </a:pathLst>
          </a:custGeom>
          <a:noFill/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"/>
          <p:cNvSpPr/>
          <p:nvPr/>
        </p:nvSpPr>
        <p:spPr>
          <a:xfrm>
            <a:off x="1846080" y="1278360"/>
            <a:ext cx="197280" cy="360"/>
          </a:xfrm>
          <a:prstGeom prst="line">
            <a:avLst/>
          </a:prstGeom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"/>
          <p:cNvSpPr/>
          <p:nvPr/>
        </p:nvSpPr>
        <p:spPr>
          <a:xfrm>
            <a:off x="1846080" y="1347840"/>
            <a:ext cx="197280" cy="360"/>
          </a:xfrm>
          <a:prstGeom prst="line">
            <a:avLst/>
          </a:prstGeom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"/>
          <p:cNvSpPr/>
          <p:nvPr/>
        </p:nvSpPr>
        <p:spPr>
          <a:xfrm>
            <a:off x="1846080" y="1417320"/>
            <a:ext cx="197280" cy="360"/>
          </a:xfrm>
          <a:prstGeom prst="line">
            <a:avLst/>
          </a:prstGeom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"/>
          <p:cNvSpPr/>
          <p:nvPr/>
        </p:nvSpPr>
        <p:spPr>
          <a:xfrm>
            <a:off x="1088280" y="1616760"/>
            <a:ext cx="17128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zh-CN" sz="16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设计报告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1195560" y="2067120"/>
            <a:ext cx="1498680" cy="360"/>
          </a:xfrm>
          <a:prstGeom prst="line">
            <a:avLst/>
          </a:prstGeom>
          <a:ln w="7620">
            <a:solidFill>
              <a:srgbClr val="a9a9a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"/>
          <p:cNvSpPr/>
          <p:nvPr/>
        </p:nvSpPr>
        <p:spPr>
          <a:xfrm>
            <a:off x="1240920" y="2171520"/>
            <a:ext cx="140760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系统目标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1240920" y="2422440"/>
            <a:ext cx="140760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设备组成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1240920" y="2674080"/>
            <a:ext cx="140760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信号链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1240920" y="2925360"/>
            <a:ext cx="140760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控制架构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1124280" y="3202920"/>
            <a:ext cx="1640880" cy="302400"/>
          </a:xfrm>
          <a:prstGeom prst="roundRect">
            <a:avLst>
              <a:gd name="adj" fmla="val 17143"/>
            </a:avLst>
          </a:prstGeom>
          <a:solidFill>
            <a:srgbClr val="e6e7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"/>
          <p:cNvSpPr/>
          <p:nvPr/>
        </p:nvSpPr>
        <p:spPr>
          <a:xfrm>
            <a:off x="1159920" y="3220200"/>
            <a:ext cx="156924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优先级：高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2972160" y="932400"/>
            <a:ext cx="1829520" cy="265968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"/>
          <p:cNvSpPr/>
          <p:nvPr/>
        </p:nvSpPr>
        <p:spPr>
          <a:xfrm>
            <a:off x="3690000" y="1062360"/>
            <a:ext cx="393840" cy="467280"/>
          </a:xfrm>
          <a:custGeom>
            <a:avLst/>
            <a:gdLst/>
            <a:ahLst/>
            <a:rect l="l" t="t" r="r" b="b"/>
            <a:pathLst>
              <a:path w="419100" h="514350">
                <a:moveTo>
                  <a:pt x="19050" y="9525"/>
                </a:moveTo>
                <a:lnTo>
                  <a:pt x="276225" y="9525"/>
                </a:lnTo>
                <a:lnTo>
                  <a:pt x="400050" y="133350"/>
                </a:lnTo>
                <a:lnTo>
                  <a:pt x="400050" y="495300"/>
                </a:lnTo>
                <a:lnTo>
                  <a:pt x="19050" y="49530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"/>
          <p:cNvSpPr/>
          <p:nvPr/>
        </p:nvSpPr>
        <p:spPr>
          <a:xfrm>
            <a:off x="3690000" y="1062360"/>
            <a:ext cx="393840" cy="467280"/>
          </a:xfrm>
          <a:custGeom>
            <a:avLst/>
            <a:gdLst/>
            <a:ahLst/>
            <a:rect l="l" t="t" r="r" b="b"/>
            <a:pathLst>
              <a:path w="419100" h="514350">
                <a:moveTo>
                  <a:pt x="276225" y="9525"/>
                </a:moveTo>
                <a:lnTo>
                  <a:pt x="276225" y="133350"/>
                </a:lnTo>
                <a:lnTo>
                  <a:pt x="400050" y="133350"/>
                </a:lnTo>
              </a:path>
            </a:pathLst>
          </a:custGeom>
          <a:noFill/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"/>
          <p:cNvSpPr/>
          <p:nvPr/>
        </p:nvSpPr>
        <p:spPr>
          <a:xfrm>
            <a:off x="3788640" y="1278360"/>
            <a:ext cx="197280" cy="360"/>
          </a:xfrm>
          <a:prstGeom prst="line">
            <a:avLst/>
          </a:prstGeom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"/>
          <p:cNvSpPr/>
          <p:nvPr/>
        </p:nvSpPr>
        <p:spPr>
          <a:xfrm>
            <a:off x="3788640" y="1347840"/>
            <a:ext cx="197280" cy="360"/>
          </a:xfrm>
          <a:prstGeom prst="line">
            <a:avLst/>
          </a:prstGeom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"/>
          <p:cNvSpPr/>
          <p:nvPr/>
        </p:nvSpPr>
        <p:spPr>
          <a:xfrm>
            <a:off x="3788640" y="1417320"/>
            <a:ext cx="197280" cy="360"/>
          </a:xfrm>
          <a:prstGeom prst="line">
            <a:avLst/>
          </a:prstGeom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"/>
          <p:cNvSpPr/>
          <p:nvPr/>
        </p:nvSpPr>
        <p:spPr>
          <a:xfrm>
            <a:off x="3044160" y="1616760"/>
            <a:ext cx="16858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zh-CN" sz="16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操作手册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3151440" y="2067120"/>
            <a:ext cx="1471320" cy="360"/>
          </a:xfrm>
          <a:prstGeom prst="line">
            <a:avLst/>
          </a:prstGeom>
          <a:ln w="7620">
            <a:solidFill>
              <a:srgbClr val="a9a9a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"/>
          <p:cNvSpPr/>
          <p:nvPr/>
        </p:nvSpPr>
        <p:spPr>
          <a:xfrm>
            <a:off x="3196440" y="2171520"/>
            <a:ext cx="138132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操作步骤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3196440" y="2422440"/>
            <a:ext cx="138132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前置条件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3196440" y="2674080"/>
            <a:ext cx="138132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参数意义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3196440" y="2925360"/>
            <a:ext cx="138132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注意事项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3079800" y="3202920"/>
            <a:ext cx="1614600" cy="302400"/>
          </a:xfrm>
          <a:prstGeom prst="roundRect">
            <a:avLst>
              <a:gd name="adj" fmla="val 17143"/>
            </a:avLst>
          </a:prstGeom>
          <a:solidFill>
            <a:srgbClr val="e6e7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"/>
          <p:cNvSpPr/>
          <p:nvPr/>
        </p:nvSpPr>
        <p:spPr>
          <a:xfrm>
            <a:off x="3115800" y="3220200"/>
            <a:ext cx="154260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优先级：高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4892400" y="932400"/>
            <a:ext cx="2062440" cy="2659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"/>
          <p:cNvSpPr/>
          <p:nvPr/>
        </p:nvSpPr>
        <p:spPr>
          <a:xfrm>
            <a:off x="5726520" y="1062360"/>
            <a:ext cx="393840" cy="467280"/>
          </a:xfrm>
          <a:custGeom>
            <a:avLst/>
            <a:gdLst/>
            <a:ahLst/>
            <a:rect l="l" t="t" r="r" b="b"/>
            <a:pathLst>
              <a:path w="419100" h="514350">
                <a:moveTo>
                  <a:pt x="19050" y="9525"/>
                </a:moveTo>
                <a:lnTo>
                  <a:pt x="276225" y="9525"/>
                </a:lnTo>
                <a:lnTo>
                  <a:pt x="400050" y="133350"/>
                </a:lnTo>
                <a:lnTo>
                  <a:pt x="400050" y="495300"/>
                </a:lnTo>
                <a:lnTo>
                  <a:pt x="19050" y="49530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"/>
          <p:cNvSpPr/>
          <p:nvPr/>
        </p:nvSpPr>
        <p:spPr>
          <a:xfrm>
            <a:off x="5726520" y="1062360"/>
            <a:ext cx="393840" cy="467280"/>
          </a:xfrm>
          <a:custGeom>
            <a:avLst/>
            <a:gdLst/>
            <a:ahLst/>
            <a:rect l="l" t="t" r="r" b="b"/>
            <a:pathLst>
              <a:path w="419100" h="514350">
                <a:moveTo>
                  <a:pt x="276225" y="9525"/>
                </a:moveTo>
                <a:lnTo>
                  <a:pt x="276225" y="133350"/>
                </a:lnTo>
                <a:lnTo>
                  <a:pt x="400050" y="133350"/>
                </a:lnTo>
              </a:path>
            </a:pathLst>
          </a:custGeom>
          <a:noFill/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"/>
          <p:cNvSpPr/>
          <p:nvPr/>
        </p:nvSpPr>
        <p:spPr>
          <a:xfrm>
            <a:off x="5825160" y="1278360"/>
            <a:ext cx="197280" cy="360"/>
          </a:xfrm>
          <a:prstGeom prst="line">
            <a:avLst/>
          </a:prstGeom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"/>
          <p:cNvSpPr/>
          <p:nvPr/>
        </p:nvSpPr>
        <p:spPr>
          <a:xfrm>
            <a:off x="5825160" y="1347840"/>
            <a:ext cx="197280" cy="360"/>
          </a:xfrm>
          <a:prstGeom prst="line">
            <a:avLst/>
          </a:prstGeom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"/>
          <p:cNvSpPr/>
          <p:nvPr/>
        </p:nvSpPr>
        <p:spPr>
          <a:xfrm>
            <a:off x="5825160" y="1417320"/>
            <a:ext cx="197280" cy="360"/>
          </a:xfrm>
          <a:prstGeom prst="line">
            <a:avLst/>
          </a:prstGeom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"/>
          <p:cNvSpPr/>
          <p:nvPr/>
        </p:nvSpPr>
        <p:spPr>
          <a:xfrm>
            <a:off x="4964040" y="1616760"/>
            <a:ext cx="191916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PV </a:t>
            </a:r>
            <a:r>
              <a:rPr b="1" lang="zh-CN" sz="16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命名规范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5071320" y="2067120"/>
            <a:ext cx="1704600" cy="360"/>
          </a:xfrm>
          <a:prstGeom prst="line">
            <a:avLst/>
          </a:prstGeom>
          <a:ln w="7620">
            <a:solidFill>
              <a:srgbClr val="a9a9a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"/>
          <p:cNvSpPr/>
          <p:nvPr/>
        </p:nvSpPr>
        <p:spPr>
          <a:xfrm>
            <a:off x="5116320" y="2171520"/>
            <a:ext cx="161460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命名规则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5116320" y="2422440"/>
            <a:ext cx="161460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缩写说明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5116320" y="2674080"/>
            <a:ext cx="161460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区域与设备编码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4999680" y="3202920"/>
            <a:ext cx="1847520" cy="302400"/>
          </a:xfrm>
          <a:prstGeom prst="roundRect">
            <a:avLst>
              <a:gd name="adj" fmla="val 17143"/>
            </a:avLst>
          </a:prstGeom>
          <a:solidFill>
            <a:srgbClr val="e6e7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"/>
          <p:cNvSpPr/>
          <p:nvPr/>
        </p:nvSpPr>
        <p:spPr>
          <a:xfrm>
            <a:off x="5035680" y="3220200"/>
            <a:ext cx="177588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优先级：高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7045560" y="932400"/>
            <a:ext cx="2143440" cy="2659680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"/>
          <p:cNvSpPr/>
          <p:nvPr/>
        </p:nvSpPr>
        <p:spPr>
          <a:xfrm>
            <a:off x="7920000" y="1062360"/>
            <a:ext cx="393840" cy="467280"/>
          </a:xfrm>
          <a:custGeom>
            <a:avLst/>
            <a:gdLst/>
            <a:ahLst/>
            <a:rect l="l" t="t" r="r" b="b"/>
            <a:pathLst>
              <a:path w="419100" h="514350">
                <a:moveTo>
                  <a:pt x="19050" y="9525"/>
                </a:moveTo>
                <a:lnTo>
                  <a:pt x="276225" y="9525"/>
                </a:lnTo>
                <a:lnTo>
                  <a:pt x="400050" y="133350"/>
                </a:lnTo>
                <a:lnTo>
                  <a:pt x="400050" y="495300"/>
                </a:lnTo>
                <a:lnTo>
                  <a:pt x="19050" y="49530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"/>
          <p:cNvSpPr/>
          <p:nvPr/>
        </p:nvSpPr>
        <p:spPr>
          <a:xfrm>
            <a:off x="7920000" y="1062360"/>
            <a:ext cx="393840" cy="467280"/>
          </a:xfrm>
          <a:custGeom>
            <a:avLst/>
            <a:gdLst/>
            <a:ahLst/>
            <a:rect l="l" t="t" r="r" b="b"/>
            <a:pathLst>
              <a:path w="419100" h="514350">
                <a:moveTo>
                  <a:pt x="276225" y="9525"/>
                </a:moveTo>
                <a:lnTo>
                  <a:pt x="276225" y="133350"/>
                </a:lnTo>
                <a:lnTo>
                  <a:pt x="400050" y="133350"/>
                </a:lnTo>
              </a:path>
            </a:pathLst>
          </a:custGeom>
          <a:noFill/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"/>
          <p:cNvSpPr/>
          <p:nvPr/>
        </p:nvSpPr>
        <p:spPr>
          <a:xfrm>
            <a:off x="8018640" y="1278360"/>
            <a:ext cx="197280" cy="360"/>
          </a:xfrm>
          <a:prstGeom prst="line">
            <a:avLst/>
          </a:prstGeom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"/>
          <p:cNvSpPr/>
          <p:nvPr/>
        </p:nvSpPr>
        <p:spPr>
          <a:xfrm>
            <a:off x="8018640" y="1347840"/>
            <a:ext cx="197280" cy="360"/>
          </a:xfrm>
          <a:prstGeom prst="line">
            <a:avLst/>
          </a:prstGeom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"/>
          <p:cNvSpPr/>
          <p:nvPr/>
        </p:nvSpPr>
        <p:spPr>
          <a:xfrm>
            <a:off x="8018640" y="1417320"/>
            <a:ext cx="197280" cy="360"/>
          </a:xfrm>
          <a:prstGeom prst="line">
            <a:avLst/>
          </a:prstGeom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"/>
          <p:cNvSpPr/>
          <p:nvPr/>
        </p:nvSpPr>
        <p:spPr>
          <a:xfrm>
            <a:off x="7117200" y="1616760"/>
            <a:ext cx="199980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 fontScale="95000"/>
          </a:bodyPr>
          <a:p>
            <a:pPr algn="ctr">
              <a:lnSpc>
                <a:spcPct val="100000"/>
              </a:lnSpc>
              <a:buNone/>
            </a:pPr>
            <a:r>
              <a:rPr b="1" lang="en-US" sz="16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IOC/EPICS</a:t>
            </a:r>
            <a:endParaRPr b="0" lang="en-US" sz="16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zh-CN" sz="16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配置说明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7224480" y="2067120"/>
            <a:ext cx="1785240" cy="360"/>
          </a:xfrm>
          <a:prstGeom prst="line">
            <a:avLst/>
          </a:prstGeom>
          <a:ln w="7620">
            <a:solidFill>
              <a:srgbClr val="a9a9a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"/>
          <p:cNvSpPr/>
          <p:nvPr/>
        </p:nvSpPr>
        <p:spPr>
          <a:xfrm>
            <a:off x="7269480" y="2171520"/>
            <a:ext cx="169524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0000"/>
          </a:bodyPr>
          <a:p>
            <a:pPr>
              <a:lnSpc>
                <a:spcPct val="100000"/>
              </a:lnSpc>
              <a:buNone/>
            </a:pPr>
            <a:r>
              <a:rPr b="0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IOC/Record/PV </a:t>
            </a:r>
            <a:r>
              <a:rPr b="0" lang="zh-CN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关系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7269480" y="2422440"/>
            <a:ext cx="169524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服务器信息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7269480" y="2674080"/>
            <a:ext cx="169524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配置与连接说明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7152840" y="3202920"/>
            <a:ext cx="1928520" cy="302400"/>
          </a:xfrm>
          <a:prstGeom prst="roundRect">
            <a:avLst>
              <a:gd name="adj" fmla="val 17143"/>
            </a:avLst>
          </a:prstGeom>
          <a:solidFill>
            <a:srgbClr val="e6e7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"/>
          <p:cNvSpPr/>
          <p:nvPr/>
        </p:nvSpPr>
        <p:spPr>
          <a:xfrm>
            <a:off x="7188840" y="3220200"/>
            <a:ext cx="185652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优先级：高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9279360" y="932400"/>
            <a:ext cx="2026800" cy="265968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"/>
          <p:cNvSpPr/>
          <p:nvPr/>
        </p:nvSpPr>
        <p:spPr>
          <a:xfrm>
            <a:off x="10095480" y="1062360"/>
            <a:ext cx="393840" cy="467280"/>
          </a:xfrm>
          <a:custGeom>
            <a:avLst/>
            <a:gdLst/>
            <a:ahLst/>
            <a:rect l="l" t="t" r="r" b="b"/>
            <a:pathLst>
              <a:path w="419100" h="514350">
                <a:moveTo>
                  <a:pt x="19050" y="9525"/>
                </a:moveTo>
                <a:lnTo>
                  <a:pt x="276225" y="9525"/>
                </a:lnTo>
                <a:lnTo>
                  <a:pt x="400050" y="133350"/>
                </a:lnTo>
                <a:lnTo>
                  <a:pt x="400050" y="495300"/>
                </a:lnTo>
                <a:lnTo>
                  <a:pt x="19050" y="49530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"/>
          <p:cNvSpPr/>
          <p:nvPr/>
        </p:nvSpPr>
        <p:spPr>
          <a:xfrm>
            <a:off x="10095480" y="1062360"/>
            <a:ext cx="393840" cy="467280"/>
          </a:xfrm>
          <a:custGeom>
            <a:avLst/>
            <a:gdLst/>
            <a:ahLst/>
            <a:rect l="l" t="t" r="r" b="b"/>
            <a:pathLst>
              <a:path w="419100" h="514350">
                <a:moveTo>
                  <a:pt x="276225" y="9525"/>
                </a:moveTo>
                <a:lnTo>
                  <a:pt x="276225" y="133350"/>
                </a:lnTo>
                <a:lnTo>
                  <a:pt x="400050" y="133350"/>
                </a:lnTo>
              </a:path>
            </a:pathLst>
          </a:custGeom>
          <a:noFill/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"/>
          <p:cNvSpPr/>
          <p:nvPr/>
        </p:nvSpPr>
        <p:spPr>
          <a:xfrm>
            <a:off x="10194120" y="1278360"/>
            <a:ext cx="197280" cy="360"/>
          </a:xfrm>
          <a:prstGeom prst="line">
            <a:avLst/>
          </a:prstGeom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"/>
          <p:cNvSpPr/>
          <p:nvPr/>
        </p:nvSpPr>
        <p:spPr>
          <a:xfrm>
            <a:off x="10194120" y="1347840"/>
            <a:ext cx="197280" cy="360"/>
          </a:xfrm>
          <a:prstGeom prst="line">
            <a:avLst/>
          </a:prstGeom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"/>
          <p:cNvSpPr/>
          <p:nvPr/>
        </p:nvSpPr>
        <p:spPr>
          <a:xfrm>
            <a:off x="10194120" y="1417320"/>
            <a:ext cx="197280" cy="360"/>
          </a:xfrm>
          <a:prstGeom prst="line">
            <a:avLst/>
          </a:prstGeom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"/>
          <p:cNvSpPr/>
          <p:nvPr/>
        </p:nvSpPr>
        <p:spPr>
          <a:xfrm>
            <a:off x="9351000" y="1616760"/>
            <a:ext cx="188316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 fontScale="97000"/>
          </a:bodyPr>
          <a:p>
            <a:pPr algn="ctr">
              <a:lnSpc>
                <a:spcPct val="100000"/>
              </a:lnSpc>
              <a:buNone/>
            </a:pPr>
            <a:r>
              <a:rPr b="1" lang="zh-CN" sz="16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设备接口</a:t>
            </a:r>
            <a:r>
              <a:rPr b="1" lang="en-US" sz="16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/</a:t>
            </a:r>
            <a:r>
              <a:rPr b="1" lang="zh-CN" sz="16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信号说明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9458280" y="2067120"/>
            <a:ext cx="1668960" cy="360"/>
          </a:xfrm>
          <a:prstGeom prst="line">
            <a:avLst/>
          </a:prstGeom>
          <a:ln w="7620">
            <a:solidFill>
              <a:srgbClr val="a9a9a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"/>
          <p:cNvSpPr/>
          <p:nvPr/>
        </p:nvSpPr>
        <p:spPr>
          <a:xfrm>
            <a:off x="9503640" y="2171520"/>
            <a:ext cx="157824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设备与信号定义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9503640" y="2422440"/>
            <a:ext cx="157824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单位与读写方向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9503640" y="2674080"/>
            <a:ext cx="157824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device-signal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9503640" y="2925360"/>
            <a:ext cx="157824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qualifier </a:t>
            </a:r>
            <a:r>
              <a:rPr b="0" lang="zh-CN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含义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9387000" y="3202920"/>
            <a:ext cx="1811520" cy="302400"/>
          </a:xfrm>
          <a:prstGeom prst="roundRect">
            <a:avLst>
              <a:gd name="adj" fmla="val 17143"/>
            </a:avLst>
          </a:prstGeom>
          <a:solidFill>
            <a:srgbClr val="e6e7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"/>
          <p:cNvSpPr/>
          <p:nvPr/>
        </p:nvSpPr>
        <p:spPr>
          <a:xfrm>
            <a:off x="9422640" y="3220200"/>
            <a:ext cx="173988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优先级：高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11405520" y="932400"/>
            <a:ext cx="1972800" cy="2659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3335">
            <a:solidFill>
              <a:srgbClr val="11111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"/>
          <p:cNvSpPr/>
          <p:nvPr/>
        </p:nvSpPr>
        <p:spPr>
          <a:xfrm>
            <a:off x="12195000" y="1062360"/>
            <a:ext cx="394200" cy="467280"/>
          </a:xfrm>
          <a:custGeom>
            <a:avLst/>
            <a:gdLst/>
            <a:ahLst/>
            <a:rect l="l" t="t" r="r" b="b"/>
            <a:pathLst>
              <a:path w="419100" h="514350">
                <a:moveTo>
                  <a:pt x="19050" y="9525"/>
                </a:moveTo>
                <a:lnTo>
                  <a:pt x="276225" y="9525"/>
                </a:lnTo>
                <a:lnTo>
                  <a:pt x="400050" y="133350"/>
                </a:lnTo>
                <a:lnTo>
                  <a:pt x="400050" y="495300"/>
                </a:lnTo>
                <a:lnTo>
                  <a:pt x="19050" y="49530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"/>
          <p:cNvSpPr/>
          <p:nvPr/>
        </p:nvSpPr>
        <p:spPr>
          <a:xfrm>
            <a:off x="12195000" y="1062360"/>
            <a:ext cx="394200" cy="467280"/>
          </a:xfrm>
          <a:custGeom>
            <a:avLst/>
            <a:gdLst/>
            <a:ahLst/>
            <a:rect l="l" t="t" r="r" b="b"/>
            <a:pathLst>
              <a:path w="419100" h="514350">
                <a:moveTo>
                  <a:pt x="276225" y="9525"/>
                </a:moveTo>
                <a:lnTo>
                  <a:pt x="276225" y="133350"/>
                </a:lnTo>
                <a:lnTo>
                  <a:pt x="400050" y="133350"/>
                </a:lnTo>
              </a:path>
            </a:pathLst>
          </a:custGeom>
          <a:noFill/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"/>
          <p:cNvSpPr/>
          <p:nvPr/>
        </p:nvSpPr>
        <p:spPr>
          <a:xfrm>
            <a:off x="12293280" y="1278360"/>
            <a:ext cx="197640" cy="360"/>
          </a:xfrm>
          <a:prstGeom prst="line">
            <a:avLst/>
          </a:prstGeom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"/>
          <p:cNvSpPr/>
          <p:nvPr/>
        </p:nvSpPr>
        <p:spPr>
          <a:xfrm>
            <a:off x="12293280" y="1347840"/>
            <a:ext cx="197640" cy="360"/>
          </a:xfrm>
          <a:prstGeom prst="line">
            <a:avLst/>
          </a:prstGeom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"/>
          <p:cNvSpPr/>
          <p:nvPr/>
        </p:nvSpPr>
        <p:spPr>
          <a:xfrm>
            <a:off x="12293280" y="1417320"/>
            <a:ext cx="197640" cy="360"/>
          </a:xfrm>
          <a:prstGeom prst="line">
            <a:avLst/>
          </a:prstGeom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"/>
          <p:cNvSpPr/>
          <p:nvPr/>
        </p:nvSpPr>
        <p:spPr>
          <a:xfrm>
            <a:off x="11477160" y="1616760"/>
            <a:ext cx="18298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zh-CN" sz="16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调试说明与 </a:t>
            </a:r>
            <a:r>
              <a:rPr b="1" lang="en-US" sz="16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FAQ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11584800" y="2067120"/>
            <a:ext cx="1614600" cy="360"/>
          </a:xfrm>
          <a:prstGeom prst="line">
            <a:avLst/>
          </a:prstGeom>
          <a:ln w="7620">
            <a:solidFill>
              <a:srgbClr val="a9a9a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"/>
          <p:cNvSpPr/>
          <p:nvPr/>
        </p:nvSpPr>
        <p:spPr>
          <a:xfrm>
            <a:off x="11629800" y="2171520"/>
            <a:ext cx="152460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常见问题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11629800" y="2422440"/>
            <a:ext cx="152460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真实表达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11629800" y="2674080"/>
            <a:ext cx="152460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常见混淆场景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11513160" y="3202920"/>
            <a:ext cx="1757880" cy="302400"/>
          </a:xfrm>
          <a:prstGeom prst="roundRect">
            <a:avLst>
              <a:gd name="adj" fmla="val 17143"/>
            </a:avLst>
          </a:prstGeom>
          <a:solidFill>
            <a:srgbClr val="e6e7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"/>
          <p:cNvSpPr/>
          <p:nvPr/>
        </p:nvSpPr>
        <p:spPr>
          <a:xfrm>
            <a:off x="11549160" y="3220200"/>
            <a:ext cx="168588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优先级：中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13477680" y="932400"/>
            <a:ext cx="1928520" cy="26596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3335">
            <a:solidFill>
              <a:srgbClr val="11111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"/>
          <p:cNvSpPr/>
          <p:nvPr/>
        </p:nvSpPr>
        <p:spPr>
          <a:xfrm>
            <a:off x="14244840" y="1062360"/>
            <a:ext cx="393840" cy="467280"/>
          </a:xfrm>
          <a:custGeom>
            <a:avLst/>
            <a:gdLst/>
            <a:ahLst/>
            <a:rect l="l" t="t" r="r" b="b"/>
            <a:pathLst>
              <a:path w="419100" h="514350">
                <a:moveTo>
                  <a:pt x="19050" y="9525"/>
                </a:moveTo>
                <a:lnTo>
                  <a:pt x="276225" y="9525"/>
                </a:lnTo>
                <a:lnTo>
                  <a:pt x="400050" y="133350"/>
                </a:lnTo>
                <a:lnTo>
                  <a:pt x="400050" y="495300"/>
                </a:lnTo>
                <a:lnTo>
                  <a:pt x="19050" y="49530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"/>
          <p:cNvSpPr/>
          <p:nvPr/>
        </p:nvSpPr>
        <p:spPr>
          <a:xfrm>
            <a:off x="14244840" y="1062360"/>
            <a:ext cx="393840" cy="467280"/>
          </a:xfrm>
          <a:custGeom>
            <a:avLst/>
            <a:gdLst/>
            <a:ahLst/>
            <a:rect l="l" t="t" r="r" b="b"/>
            <a:pathLst>
              <a:path w="419100" h="514350">
                <a:moveTo>
                  <a:pt x="276225" y="9525"/>
                </a:moveTo>
                <a:lnTo>
                  <a:pt x="276225" y="133350"/>
                </a:lnTo>
                <a:lnTo>
                  <a:pt x="400050" y="133350"/>
                </a:lnTo>
              </a:path>
            </a:pathLst>
          </a:custGeom>
          <a:noFill/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"/>
          <p:cNvSpPr/>
          <p:nvPr/>
        </p:nvSpPr>
        <p:spPr>
          <a:xfrm>
            <a:off x="14343480" y="1278360"/>
            <a:ext cx="197280" cy="360"/>
          </a:xfrm>
          <a:prstGeom prst="line">
            <a:avLst/>
          </a:prstGeom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"/>
          <p:cNvSpPr/>
          <p:nvPr/>
        </p:nvSpPr>
        <p:spPr>
          <a:xfrm>
            <a:off x="14343480" y="1347840"/>
            <a:ext cx="197280" cy="360"/>
          </a:xfrm>
          <a:prstGeom prst="line">
            <a:avLst/>
          </a:prstGeom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"/>
          <p:cNvSpPr/>
          <p:nvPr/>
        </p:nvSpPr>
        <p:spPr>
          <a:xfrm>
            <a:off x="14343480" y="1417320"/>
            <a:ext cx="197280" cy="360"/>
          </a:xfrm>
          <a:prstGeom prst="line">
            <a:avLst/>
          </a:prstGeom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"/>
          <p:cNvSpPr/>
          <p:nvPr/>
        </p:nvSpPr>
        <p:spPr>
          <a:xfrm>
            <a:off x="13549680" y="1616760"/>
            <a:ext cx="178452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 fontScale="95000"/>
          </a:bodyPr>
          <a:p>
            <a:pPr algn="ctr">
              <a:lnSpc>
                <a:spcPct val="100000"/>
              </a:lnSpc>
              <a:buNone/>
            </a:pPr>
            <a:r>
              <a:rPr b="1" lang="zh-CN" sz="16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维护或故障资料</a:t>
            </a:r>
            <a:endParaRPr b="0" lang="en-US" sz="16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zh-CN" sz="16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（可选）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13657320" y="2067120"/>
            <a:ext cx="1569960" cy="360"/>
          </a:xfrm>
          <a:prstGeom prst="line">
            <a:avLst/>
          </a:prstGeom>
          <a:ln w="7620">
            <a:solidFill>
              <a:srgbClr val="a9a9a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"/>
          <p:cNvSpPr/>
          <p:nvPr/>
        </p:nvSpPr>
        <p:spPr>
          <a:xfrm>
            <a:off x="13702320" y="2171520"/>
            <a:ext cx="147960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处置过程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13702320" y="2422440"/>
            <a:ext cx="147960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历史案例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13585680" y="3202920"/>
            <a:ext cx="1712880" cy="302400"/>
          </a:xfrm>
          <a:prstGeom prst="roundRect">
            <a:avLst>
              <a:gd name="adj" fmla="val 17143"/>
            </a:avLst>
          </a:prstGeom>
          <a:solidFill>
            <a:srgbClr val="e6e7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8" name=""/>
          <p:cNvSpPr/>
          <p:nvPr/>
        </p:nvSpPr>
        <p:spPr>
          <a:xfrm>
            <a:off x="13621320" y="3220200"/>
            <a:ext cx="164088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优先级：低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8166960" y="3714120"/>
            <a:ext cx="25920" cy="2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0" name=""/>
          <p:cNvSpPr/>
          <p:nvPr/>
        </p:nvSpPr>
        <p:spPr>
          <a:xfrm>
            <a:off x="926640" y="4060800"/>
            <a:ext cx="14524200" cy="2651040"/>
          </a:xfrm>
          <a:prstGeom prst="roundRect">
            <a:avLst>
              <a:gd name="adj" fmla="val 2614"/>
            </a:avLst>
          </a:prstGeom>
          <a:solidFill>
            <a:srgbClr val="f4f5f5"/>
          </a:solidFill>
          <a:ln w="10954">
            <a:solidFill>
              <a:srgbClr val="8585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"/>
          <p:cNvSpPr/>
          <p:nvPr/>
        </p:nvSpPr>
        <p:spPr>
          <a:xfrm flipH="1">
            <a:off x="8188920" y="3714120"/>
            <a:ext cx="3600" cy="345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"/>
          <p:cNvSpPr/>
          <p:nvPr/>
        </p:nvSpPr>
        <p:spPr>
          <a:xfrm>
            <a:off x="5986440" y="4138560"/>
            <a:ext cx="441360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zh-CN" sz="20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数据处理与构建流程</a:t>
            </a:r>
            <a:endParaRPr b="0" lang="en-US" sz="2020" spc="-1" strike="noStrike"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1142280" y="4528800"/>
            <a:ext cx="3192840" cy="203580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0478">
            <a:solidFill>
              <a:srgbClr val="74747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"/>
          <p:cNvSpPr/>
          <p:nvPr/>
        </p:nvSpPr>
        <p:spPr>
          <a:xfrm>
            <a:off x="1456200" y="4658760"/>
            <a:ext cx="354600" cy="420480"/>
          </a:xfrm>
          <a:custGeom>
            <a:avLst/>
            <a:gdLst/>
            <a:ahLst/>
            <a:rect l="l" t="t" r="r" b="b"/>
            <a:pathLst>
              <a:path w="419100" h="514350">
                <a:moveTo>
                  <a:pt x="19050" y="9525"/>
                </a:moveTo>
                <a:lnTo>
                  <a:pt x="276225" y="9525"/>
                </a:lnTo>
                <a:lnTo>
                  <a:pt x="400050" y="133350"/>
                </a:lnTo>
                <a:lnTo>
                  <a:pt x="400050" y="495300"/>
                </a:lnTo>
                <a:lnTo>
                  <a:pt x="19050" y="49530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5" name=""/>
          <p:cNvSpPr/>
          <p:nvPr/>
        </p:nvSpPr>
        <p:spPr>
          <a:xfrm>
            <a:off x="1456200" y="4658760"/>
            <a:ext cx="354600" cy="420480"/>
          </a:xfrm>
          <a:custGeom>
            <a:avLst/>
            <a:gdLst/>
            <a:ahLst/>
            <a:rect l="l" t="t" r="r" b="b"/>
            <a:pathLst>
              <a:path w="419100" h="514350">
                <a:moveTo>
                  <a:pt x="276225" y="9525"/>
                </a:moveTo>
                <a:lnTo>
                  <a:pt x="276225" y="133350"/>
                </a:lnTo>
                <a:lnTo>
                  <a:pt x="400050" y="133350"/>
                </a:lnTo>
              </a:path>
            </a:pathLst>
          </a:custGeom>
          <a:noFill/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"/>
          <p:cNvSpPr/>
          <p:nvPr/>
        </p:nvSpPr>
        <p:spPr>
          <a:xfrm>
            <a:off x="1544760" y="4853520"/>
            <a:ext cx="177480" cy="360"/>
          </a:xfrm>
          <a:prstGeom prst="line">
            <a:avLst/>
          </a:prstGeom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"/>
          <p:cNvSpPr/>
          <p:nvPr/>
        </p:nvSpPr>
        <p:spPr>
          <a:xfrm>
            <a:off x="1544760" y="4915800"/>
            <a:ext cx="177480" cy="360"/>
          </a:xfrm>
          <a:prstGeom prst="line">
            <a:avLst/>
          </a:prstGeom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"/>
          <p:cNvSpPr/>
          <p:nvPr/>
        </p:nvSpPr>
        <p:spPr>
          <a:xfrm>
            <a:off x="1544760" y="4978440"/>
            <a:ext cx="177480" cy="360"/>
          </a:xfrm>
          <a:prstGeom prst="line">
            <a:avLst/>
          </a:prstGeom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9" name=""/>
          <p:cNvSpPr/>
          <p:nvPr/>
        </p:nvSpPr>
        <p:spPr>
          <a:xfrm>
            <a:off x="1994040" y="4598280"/>
            <a:ext cx="2188440" cy="57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L0 </a:t>
            </a:r>
            <a:r>
              <a:rPr b="1" lang="zh-CN" sz="150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原始资料层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zh-CN" sz="150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（只读保存）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>
            <a:off x="1303560" y="5221800"/>
            <a:ext cx="2870640" cy="360"/>
          </a:xfrm>
          <a:prstGeom prst="line">
            <a:avLst/>
          </a:prstGeom>
          <a:ln w="7144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"/>
          <p:cNvSpPr/>
          <p:nvPr/>
        </p:nvSpPr>
        <p:spPr>
          <a:xfrm>
            <a:off x="1348200" y="5274000"/>
            <a:ext cx="278064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原文档与 </a:t>
            </a:r>
            <a:r>
              <a:rPr b="0" lang="en-US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Registry </a:t>
            </a:r>
            <a:r>
              <a:rPr b="0" lang="zh-CN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导出</a:t>
            </a:r>
            <a:endParaRPr b="0" lang="en-US" sz="1320" spc="-1" strike="noStrike"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1348200" y="5508000"/>
            <a:ext cx="278064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来源、版本、日期、责任人</a:t>
            </a:r>
            <a:endParaRPr b="0" lang="en-US" sz="1320" spc="-1" strike="noStrike"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1348200" y="5742000"/>
            <a:ext cx="278064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敏感级别</a:t>
            </a:r>
            <a:endParaRPr b="0" lang="en-US" sz="1320" spc="-1" strike="noStrike"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1258920" y="6192720"/>
            <a:ext cx="2959560" cy="302400"/>
          </a:xfrm>
          <a:prstGeom prst="roundRect">
            <a:avLst>
              <a:gd name="adj" fmla="val 17143"/>
            </a:avLst>
          </a:prstGeom>
          <a:solidFill>
            <a:srgbClr val="e5e6e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5" name=""/>
          <p:cNvSpPr/>
          <p:nvPr/>
        </p:nvSpPr>
        <p:spPr>
          <a:xfrm>
            <a:off x="1294560" y="6201360"/>
            <a:ext cx="288828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验收目标：能够回到原文复核</a:t>
            </a:r>
            <a:endParaRPr b="0" lang="en-US" sz="1320" spc="-1" strike="noStrike"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4820400" y="4528800"/>
            <a:ext cx="3121560" cy="203580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0478">
            <a:solidFill>
              <a:srgbClr val="74747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7" name=""/>
          <p:cNvSpPr/>
          <p:nvPr/>
        </p:nvSpPr>
        <p:spPr>
          <a:xfrm>
            <a:off x="5125320" y="4658760"/>
            <a:ext cx="456840" cy="467280"/>
          </a:xfrm>
          <a:prstGeom prst="can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"/>
          <p:cNvSpPr/>
          <p:nvPr/>
        </p:nvSpPr>
        <p:spPr>
          <a:xfrm>
            <a:off x="5672520" y="4598280"/>
            <a:ext cx="2116440" cy="57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L1 </a:t>
            </a:r>
            <a:r>
              <a:rPr b="1" lang="zh-CN" sz="150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规范化实体层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zh-CN" sz="150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（结构化处理）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4981680" y="5221800"/>
            <a:ext cx="2799360" cy="360"/>
          </a:xfrm>
          <a:prstGeom prst="line">
            <a:avLst/>
          </a:prstGeom>
          <a:ln w="7144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0" name=""/>
          <p:cNvSpPr/>
          <p:nvPr/>
        </p:nvSpPr>
        <p:spPr>
          <a:xfrm>
            <a:off x="5026680" y="5274000"/>
            <a:ext cx="270864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56000"/>
          </a:bodyPr>
          <a:p>
            <a:pPr>
              <a:lnSpc>
                <a:spcPct val="100000"/>
              </a:lnSpc>
              <a:buNone/>
            </a:pPr>
            <a:r>
              <a:rPr b="0" lang="en-US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en-US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PV</a:t>
            </a:r>
            <a:r>
              <a:rPr b="0" lang="zh-CN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、</a:t>
            </a:r>
            <a:r>
              <a:rPr b="0" lang="en-US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IOC</a:t>
            </a:r>
            <a:r>
              <a:rPr b="0" lang="zh-CN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、区域、子系统、</a:t>
            </a:r>
            <a:endParaRPr b="0" lang="en-US" sz="13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zh-CN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设备、信号统一解析</a:t>
            </a:r>
            <a:endParaRPr b="0" lang="en-US" sz="1320" spc="-1" strike="noStrike"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5026680" y="5508000"/>
            <a:ext cx="270864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原始值与规范值</a:t>
            </a:r>
            <a:endParaRPr b="0" lang="en-US" sz="1320" spc="-1" strike="noStrike"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5026680" y="5742000"/>
            <a:ext cx="270864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解析规则版本</a:t>
            </a:r>
            <a:endParaRPr b="0" lang="en-US" sz="1320" spc="-1" strike="noStrike"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4937040" y="6192720"/>
            <a:ext cx="2888280" cy="302400"/>
          </a:xfrm>
          <a:prstGeom prst="roundRect">
            <a:avLst>
              <a:gd name="adj" fmla="val 17143"/>
            </a:avLst>
          </a:prstGeom>
          <a:solidFill>
            <a:srgbClr val="e5e6e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4" name=""/>
          <p:cNvSpPr/>
          <p:nvPr/>
        </p:nvSpPr>
        <p:spPr>
          <a:xfrm>
            <a:off x="4973040" y="6201360"/>
            <a:ext cx="281628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验收目标：实体可稳定连接</a:t>
            </a:r>
            <a:endParaRPr b="0" lang="en-US" sz="1320" spc="-1" strike="noStrike"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8444880" y="4528800"/>
            <a:ext cx="3121560" cy="203580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0478">
            <a:solidFill>
              <a:srgbClr val="74747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"/>
          <p:cNvSpPr/>
          <p:nvPr/>
        </p:nvSpPr>
        <p:spPr>
          <a:xfrm>
            <a:off x="8732160" y="4641480"/>
            <a:ext cx="374400" cy="443880"/>
          </a:xfrm>
          <a:custGeom>
            <a:avLst/>
            <a:gdLst/>
            <a:ahLst/>
            <a:rect l="l" t="t" r="r" b="b"/>
            <a:pathLst>
              <a:path w="419100" h="514350">
                <a:moveTo>
                  <a:pt x="19050" y="9525"/>
                </a:moveTo>
                <a:lnTo>
                  <a:pt x="276225" y="9525"/>
                </a:lnTo>
                <a:lnTo>
                  <a:pt x="400050" y="133350"/>
                </a:lnTo>
                <a:lnTo>
                  <a:pt x="400050" y="495300"/>
                </a:lnTo>
                <a:lnTo>
                  <a:pt x="19050" y="49530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7" name=""/>
          <p:cNvSpPr/>
          <p:nvPr/>
        </p:nvSpPr>
        <p:spPr>
          <a:xfrm>
            <a:off x="8732160" y="4641480"/>
            <a:ext cx="374400" cy="443880"/>
          </a:xfrm>
          <a:custGeom>
            <a:avLst/>
            <a:gdLst/>
            <a:ahLst/>
            <a:rect l="l" t="t" r="r" b="b"/>
            <a:pathLst>
              <a:path w="419100" h="514350">
                <a:moveTo>
                  <a:pt x="276225" y="9525"/>
                </a:moveTo>
                <a:lnTo>
                  <a:pt x="276225" y="133350"/>
                </a:lnTo>
                <a:lnTo>
                  <a:pt x="400050" y="133350"/>
                </a:lnTo>
              </a:path>
            </a:pathLst>
          </a:custGeom>
          <a:noFill/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"/>
          <p:cNvSpPr/>
          <p:nvPr/>
        </p:nvSpPr>
        <p:spPr>
          <a:xfrm>
            <a:off x="8825760" y="4847040"/>
            <a:ext cx="187560" cy="360"/>
          </a:xfrm>
          <a:prstGeom prst="line">
            <a:avLst/>
          </a:prstGeom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"/>
          <p:cNvSpPr/>
          <p:nvPr/>
        </p:nvSpPr>
        <p:spPr>
          <a:xfrm>
            <a:off x="8825760" y="4912920"/>
            <a:ext cx="187560" cy="360"/>
          </a:xfrm>
          <a:prstGeom prst="line">
            <a:avLst/>
          </a:prstGeom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"/>
          <p:cNvSpPr/>
          <p:nvPr/>
        </p:nvSpPr>
        <p:spPr>
          <a:xfrm>
            <a:off x="8825760" y="4978800"/>
            <a:ext cx="187560" cy="360"/>
          </a:xfrm>
          <a:prstGeom prst="line">
            <a:avLst/>
          </a:prstGeom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"/>
          <p:cNvSpPr/>
          <p:nvPr/>
        </p:nvSpPr>
        <p:spPr>
          <a:xfrm>
            <a:off x="8974080" y="4884120"/>
            <a:ext cx="205920" cy="19872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"/>
          <p:cNvSpPr/>
          <p:nvPr/>
        </p:nvSpPr>
        <p:spPr>
          <a:xfrm>
            <a:off x="9135720" y="5048640"/>
            <a:ext cx="125280" cy="120960"/>
          </a:xfrm>
          <a:prstGeom prst="line">
            <a:avLst/>
          </a:prstGeom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3" name=""/>
          <p:cNvSpPr/>
          <p:nvPr/>
        </p:nvSpPr>
        <p:spPr>
          <a:xfrm>
            <a:off x="9297360" y="4598280"/>
            <a:ext cx="2116440" cy="57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L2 </a:t>
            </a:r>
            <a:r>
              <a:rPr b="1" lang="zh-CN" sz="150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文档证据层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zh-CN" sz="150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（可检索证据单元）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8606160" y="5221800"/>
            <a:ext cx="2799360" cy="360"/>
          </a:xfrm>
          <a:prstGeom prst="line">
            <a:avLst/>
          </a:prstGeom>
          <a:ln w="7144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"/>
          <p:cNvSpPr/>
          <p:nvPr/>
        </p:nvSpPr>
        <p:spPr>
          <a:xfrm>
            <a:off x="8651520" y="5274000"/>
            <a:ext cx="270828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1000"/>
          </a:bodyPr>
          <a:p>
            <a:pPr>
              <a:lnSpc>
                <a:spcPct val="100000"/>
              </a:lnSpc>
              <a:buNone/>
            </a:pPr>
            <a:r>
              <a:rPr b="0" lang="en-US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文档切块（按标题</a:t>
            </a:r>
            <a:r>
              <a:rPr b="0" lang="en-US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/</a:t>
            </a:r>
            <a:r>
              <a:rPr b="0" lang="zh-CN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表格</a:t>
            </a:r>
            <a:r>
              <a:rPr b="0" lang="en-US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/</a:t>
            </a:r>
            <a:r>
              <a:rPr b="0" lang="zh-CN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步骤）</a:t>
            </a:r>
            <a:endParaRPr b="0" lang="en-US" sz="1320" spc="-1" strike="noStrike"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8651520" y="5508000"/>
            <a:ext cx="270828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页码、章节路径、表格标题</a:t>
            </a:r>
            <a:endParaRPr b="0" lang="en-US" sz="1320" spc="-1" strike="noStrike"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8651520" y="5742000"/>
            <a:ext cx="270828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56000"/>
          </a:bodyPr>
          <a:p>
            <a:pPr>
              <a:lnSpc>
                <a:spcPct val="100000"/>
              </a:lnSpc>
              <a:buNone/>
            </a:pPr>
            <a:r>
              <a:rPr b="0" lang="en-US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关联实体（</a:t>
            </a:r>
            <a:r>
              <a:rPr b="0" lang="en-US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area/subsystem/</a:t>
            </a:r>
            <a:endParaRPr b="0" lang="en-US" sz="13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device/signal/PV</a:t>
            </a:r>
            <a:r>
              <a:rPr b="0" lang="zh-CN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）</a:t>
            </a:r>
            <a:endParaRPr b="0" lang="en-US" sz="1320" spc="-1" strike="noStrike"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8561520" y="6192720"/>
            <a:ext cx="2888280" cy="302400"/>
          </a:xfrm>
          <a:prstGeom prst="roundRect">
            <a:avLst>
              <a:gd name="adj" fmla="val 17143"/>
            </a:avLst>
          </a:prstGeom>
          <a:solidFill>
            <a:srgbClr val="e5e6e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9" name=""/>
          <p:cNvSpPr/>
          <p:nvPr/>
        </p:nvSpPr>
        <p:spPr>
          <a:xfrm>
            <a:off x="8597520" y="6201360"/>
            <a:ext cx="281628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验收目标：答案可追溯</a:t>
            </a:r>
            <a:endParaRPr b="0" lang="en-US" sz="1320" spc="-1" strike="noStrike"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12060360" y="4528800"/>
            <a:ext cx="3184200" cy="203580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0478">
            <a:solidFill>
              <a:srgbClr val="74747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1" name=""/>
          <p:cNvSpPr/>
          <p:nvPr/>
        </p:nvSpPr>
        <p:spPr>
          <a:xfrm>
            <a:off x="12392280" y="4693320"/>
            <a:ext cx="385200" cy="43272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"/>
          <p:cNvSpPr/>
          <p:nvPr/>
        </p:nvSpPr>
        <p:spPr>
          <a:xfrm>
            <a:off x="12490920" y="4641480"/>
            <a:ext cx="187920" cy="103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"/>
          <p:cNvSpPr/>
          <p:nvPr/>
        </p:nvSpPr>
        <p:spPr>
          <a:xfrm>
            <a:off x="12455280" y="4840560"/>
            <a:ext cx="97920" cy="77400"/>
          </a:xfrm>
          <a:custGeom>
            <a:avLst/>
            <a:gdLst/>
            <a:ahLst/>
            <a:rect l="l" t="t" r="r" b="b"/>
            <a:pathLst>
              <a:path w="104775" h="85725">
                <a:moveTo>
                  <a:pt x="0" y="38100"/>
                </a:moveTo>
                <a:lnTo>
                  <a:pt x="38100" y="76200"/>
                </a:lnTo>
                <a:lnTo>
                  <a:pt x="104775" y="0"/>
                </a:lnTo>
              </a:path>
            </a:pathLst>
          </a:custGeom>
          <a:noFill/>
          <a:ln w="23813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4" name=""/>
          <p:cNvSpPr/>
          <p:nvPr/>
        </p:nvSpPr>
        <p:spPr>
          <a:xfrm>
            <a:off x="12589560" y="4866480"/>
            <a:ext cx="125640" cy="360"/>
          </a:xfrm>
          <a:prstGeom prst="line">
            <a:avLst/>
          </a:prstGeom>
          <a:ln w="23813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5" name=""/>
          <p:cNvSpPr/>
          <p:nvPr/>
        </p:nvSpPr>
        <p:spPr>
          <a:xfrm>
            <a:off x="12455280" y="4970520"/>
            <a:ext cx="97920" cy="77400"/>
          </a:xfrm>
          <a:custGeom>
            <a:avLst/>
            <a:gdLst/>
            <a:ahLst/>
            <a:rect l="l" t="t" r="r" b="b"/>
            <a:pathLst>
              <a:path w="104775" h="85725">
                <a:moveTo>
                  <a:pt x="0" y="38100"/>
                </a:moveTo>
                <a:lnTo>
                  <a:pt x="38100" y="76200"/>
                </a:lnTo>
                <a:lnTo>
                  <a:pt x="104775" y="0"/>
                </a:lnTo>
              </a:path>
            </a:pathLst>
          </a:custGeom>
          <a:noFill/>
          <a:ln w="23813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6" name=""/>
          <p:cNvSpPr/>
          <p:nvPr/>
        </p:nvSpPr>
        <p:spPr>
          <a:xfrm>
            <a:off x="12589560" y="4996440"/>
            <a:ext cx="125640" cy="360"/>
          </a:xfrm>
          <a:prstGeom prst="line">
            <a:avLst/>
          </a:prstGeom>
          <a:ln w="23813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7" name=""/>
          <p:cNvSpPr/>
          <p:nvPr/>
        </p:nvSpPr>
        <p:spPr>
          <a:xfrm>
            <a:off x="12912480" y="4598280"/>
            <a:ext cx="2179440" cy="57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L3 </a:t>
            </a:r>
            <a:r>
              <a:rPr b="1" lang="zh-CN" sz="150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监督评测层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zh-CN" sz="150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（</a:t>
            </a:r>
            <a:r>
              <a:rPr b="1" lang="en-US" sz="150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Benchmark </a:t>
            </a:r>
            <a:r>
              <a:rPr b="1" lang="zh-CN" sz="150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标注）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12221640" y="5221800"/>
            <a:ext cx="2862000" cy="360"/>
          </a:xfrm>
          <a:prstGeom prst="line">
            <a:avLst/>
          </a:prstGeom>
          <a:ln w="7144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9" name=""/>
          <p:cNvSpPr/>
          <p:nvPr/>
        </p:nvSpPr>
        <p:spPr>
          <a:xfrm>
            <a:off x="12266640" y="5274000"/>
            <a:ext cx="277164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问题、标准答案</a:t>
            </a:r>
            <a:endParaRPr b="0" lang="en-US" sz="1320" spc="-1" strike="noStrike">
              <a:latin typeface="Arial"/>
            </a:endParaRPr>
          </a:p>
        </p:txBody>
      </p:sp>
      <p:sp>
        <p:nvSpPr>
          <p:cNvPr id="330" name=""/>
          <p:cNvSpPr/>
          <p:nvPr/>
        </p:nvSpPr>
        <p:spPr>
          <a:xfrm>
            <a:off x="12266640" y="5508000"/>
            <a:ext cx="277164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危险近邻与风险类型</a:t>
            </a:r>
            <a:endParaRPr b="0" lang="en-US" sz="1320" spc="-1" strike="noStrike"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12266640" y="5742000"/>
            <a:ext cx="277164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1000"/>
          </a:bodyPr>
          <a:p>
            <a:pPr>
              <a:lnSpc>
                <a:spcPct val="100000"/>
              </a:lnSpc>
              <a:buNone/>
            </a:pPr>
            <a:r>
              <a:rPr b="0" lang="en-US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en-US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split </a:t>
            </a:r>
            <a:r>
              <a:rPr b="0" lang="zh-CN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划分（随机</a:t>
            </a:r>
            <a:r>
              <a:rPr b="0" lang="en-US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/</a:t>
            </a:r>
            <a:r>
              <a:rPr b="0" lang="zh-CN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结构 </a:t>
            </a:r>
            <a:r>
              <a:rPr b="0" lang="en-US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OOD/</a:t>
            </a:r>
            <a:r>
              <a:rPr b="0" lang="zh-CN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时间）</a:t>
            </a:r>
            <a:endParaRPr b="0" lang="en-US" sz="1320" spc="-1" strike="noStrike"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12266640" y="5976000"/>
            <a:ext cx="277164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审核状态与数据快照</a:t>
            </a:r>
            <a:endParaRPr b="0" lang="en-US" sz="1320" spc="-1" strike="noStrike"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12177000" y="6192720"/>
            <a:ext cx="2950920" cy="302400"/>
          </a:xfrm>
          <a:prstGeom prst="roundRect">
            <a:avLst>
              <a:gd name="adj" fmla="val 17143"/>
            </a:avLst>
          </a:prstGeom>
          <a:solidFill>
            <a:srgbClr val="e5e6e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4" name=""/>
          <p:cNvSpPr/>
          <p:nvPr/>
        </p:nvSpPr>
        <p:spPr>
          <a:xfrm>
            <a:off x="12213000" y="6201360"/>
            <a:ext cx="287928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2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验收目标：训练与测试可复现</a:t>
            </a:r>
            <a:endParaRPr b="0" lang="en-US" sz="1320" spc="-1" strike="noStrike"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>
            <a:off x="4335840" y="5547240"/>
            <a:ext cx="4838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336" name=""/>
          <p:cNvSpPr/>
          <p:nvPr/>
        </p:nvSpPr>
        <p:spPr>
          <a:xfrm>
            <a:off x="7942320" y="5547240"/>
            <a:ext cx="5018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"/>
          <p:cNvSpPr/>
          <p:nvPr/>
        </p:nvSpPr>
        <p:spPr>
          <a:xfrm>
            <a:off x="11567160" y="5547240"/>
            <a:ext cx="4924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338" name=""/>
          <p:cNvSpPr/>
          <p:nvPr/>
        </p:nvSpPr>
        <p:spPr>
          <a:xfrm>
            <a:off x="3205440" y="6972480"/>
            <a:ext cx="4601520" cy="11779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859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9" name=""/>
          <p:cNvSpPr/>
          <p:nvPr/>
        </p:nvSpPr>
        <p:spPr>
          <a:xfrm>
            <a:off x="8570160" y="6972480"/>
            <a:ext cx="4610880" cy="11779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859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0" name=""/>
          <p:cNvSpPr/>
          <p:nvPr/>
        </p:nvSpPr>
        <p:spPr>
          <a:xfrm>
            <a:off x="5672520" y="6799320"/>
            <a:ext cx="26280" cy="2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1" name=""/>
          <p:cNvSpPr/>
          <p:nvPr/>
        </p:nvSpPr>
        <p:spPr>
          <a:xfrm>
            <a:off x="10660680" y="6799320"/>
            <a:ext cx="26280" cy="2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2" name=""/>
          <p:cNvSpPr/>
          <p:nvPr/>
        </p:nvSpPr>
        <p:spPr>
          <a:xfrm>
            <a:off x="13505040" y="6573960"/>
            <a:ext cx="25920" cy="2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3" name=""/>
          <p:cNvSpPr/>
          <p:nvPr/>
        </p:nvSpPr>
        <p:spPr>
          <a:xfrm>
            <a:off x="5690520" y="6798960"/>
            <a:ext cx="7832160" cy="360"/>
          </a:xfrm>
          <a:prstGeom prst="line">
            <a:avLst/>
          </a:prstGeom>
          <a:ln w="1714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4" name=""/>
          <p:cNvSpPr/>
          <p:nvPr/>
        </p:nvSpPr>
        <p:spPr>
          <a:xfrm>
            <a:off x="13522680" y="6573960"/>
            <a:ext cx="360" cy="225000"/>
          </a:xfrm>
          <a:prstGeom prst="line">
            <a:avLst/>
          </a:prstGeom>
          <a:ln w="1714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5" name=""/>
          <p:cNvSpPr/>
          <p:nvPr/>
        </p:nvSpPr>
        <p:spPr>
          <a:xfrm flipH="1">
            <a:off x="5505840" y="6825240"/>
            <a:ext cx="178920" cy="146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346" name=""/>
          <p:cNvSpPr/>
          <p:nvPr/>
        </p:nvSpPr>
        <p:spPr>
          <a:xfrm>
            <a:off x="10674360" y="6825240"/>
            <a:ext cx="200880" cy="146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347" name=""/>
          <p:cNvSpPr/>
          <p:nvPr/>
        </p:nvSpPr>
        <p:spPr>
          <a:xfrm>
            <a:off x="3456720" y="7501320"/>
            <a:ext cx="115920" cy="259200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8" name=""/>
          <p:cNvSpPr/>
          <p:nvPr/>
        </p:nvSpPr>
        <p:spPr>
          <a:xfrm>
            <a:off x="3636000" y="7362720"/>
            <a:ext cx="115920" cy="397800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"/>
          <p:cNvSpPr/>
          <p:nvPr/>
        </p:nvSpPr>
        <p:spPr>
          <a:xfrm>
            <a:off x="3815640" y="7241040"/>
            <a:ext cx="115920" cy="519480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0" name=""/>
          <p:cNvSpPr/>
          <p:nvPr/>
        </p:nvSpPr>
        <p:spPr>
          <a:xfrm>
            <a:off x="4345200" y="7015680"/>
            <a:ext cx="27802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Benchmark </a:t>
            </a:r>
            <a:r>
              <a:rPr b="1" lang="zh-CN" sz="150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构建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51" name=""/>
          <p:cNvSpPr/>
          <p:nvPr/>
        </p:nvSpPr>
        <p:spPr>
          <a:xfrm>
            <a:off x="4353840" y="7293240"/>
            <a:ext cx="313920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17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17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多类型问题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352" name=""/>
          <p:cNvSpPr/>
          <p:nvPr/>
        </p:nvSpPr>
        <p:spPr>
          <a:xfrm>
            <a:off x="4353840" y="7484040"/>
            <a:ext cx="313920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17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17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标注正确证据、正确控制对象、危险近邻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353" name=""/>
          <p:cNvSpPr/>
          <p:nvPr/>
        </p:nvSpPr>
        <p:spPr>
          <a:xfrm>
            <a:off x="4353840" y="7674480"/>
            <a:ext cx="313920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17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17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结构 </a:t>
            </a:r>
            <a:r>
              <a:rPr b="0" lang="en-US" sz="117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OOD </a:t>
            </a:r>
            <a:r>
              <a:rPr b="0" lang="zh-CN" sz="117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划分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>
            <a:off x="4353840" y="7865280"/>
            <a:ext cx="313920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17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17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指标体系（不能只看回答准确率）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8992080" y="7171920"/>
            <a:ext cx="411840" cy="398160"/>
          </a:xfrm>
          <a:prstGeom prst="gear6">
            <a:avLst>
              <a:gd name="adj1" fmla="val 15000"/>
              <a:gd name="adj2" fmla="val 3526"/>
            </a:avLst>
          </a:prstGeom>
          <a:solidFill>
            <a:srgbClr val="ffffff"/>
          </a:solidFill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6" name=""/>
          <p:cNvSpPr/>
          <p:nvPr/>
        </p:nvSpPr>
        <p:spPr>
          <a:xfrm>
            <a:off x="9126720" y="7302240"/>
            <a:ext cx="142920" cy="13788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7" name=""/>
          <p:cNvSpPr/>
          <p:nvPr/>
        </p:nvSpPr>
        <p:spPr>
          <a:xfrm>
            <a:off x="8750160" y="7458120"/>
            <a:ext cx="411840" cy="397800"/>
          </a:xfrm>
          <a:prstGeom prst="gear6">
            <a:avLst>
              <a:gd name="adj1" fmla="val 15000"/>
              <a:gd name="adj2" fmla="val 3526"/>
            </a:avLst>
          </a:prstGeom>
          <a:solidFill>
            <a:srgbClr val="ffffff"/>
          </a:solidFill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8" name=""/>
          <p:cNvSpPr/>
          <p:nvPr/>
        </p:nvSpPr>
        <p:spPr>
          <a:xfrm>
            <a:off x="8884440" y="7588080"/>
            <a:ext cx="142560" cy="13788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9" name=""/>
          <p:cNvSpPr/>
          <p:nvPr/>
        </p:nvSpPr>
        <p:spPr>
          <a:xfrm>
            <a:off x="9691920" y="7015680"/>
            <a:ext cx="26910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1" lang="zh-CN" sz="150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模型与实验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>
            <a:off x="9700920" y="7293240"/>
            <a:ext cx="318420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0000"/>
          </a:bodyPr>
          <a:p>
            <a:pPr>
              <a:lnSpc>
                <a:spcPct val="100000"/>
              </a:lnSpc>
              <a:buNone/>
            </a:pPr>
            <a:r>
              <a:rPr b="0" lang="en-US" sz="113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13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检索方法（</a:t>
            </a:r>
            <a:r>
              <a:rPr b="0" lang="en-US" sz="113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BM25 / Dense / Registry / Metadata </a:t>
            </a:r>
            <a:r>
              <a:rPr b="0" lang="zh-CN" sz="113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等）</a:t>
            </a:r>
            <a:endParaRPr b="0" lang="en-US" sz="1130" spc="-1" strike="noStrike"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>
            <a:off x="9700920" y="7484040"/>
            <a:ext cx="318420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0000"/>
          </a:bodyPr>
          <a:p>
            <a:pPr>
              <a:lnSpc>
                <a:spcPct val="100000"/>
              </a:lnSpc>
              <a:buNone/>
            </a:pPr>
            <a:r>
              <a:rPr b="0" lang="en-US" sz="113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13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学习式专家路由（由 </a:t>
            </a:r>
            <a:r>
              <a:rPr b="0" lang="en-US" sz="113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Oracle Gap </a:t>
            </a:r>
            <a:r>
              <a:rPr b="0" lang="zh-CN" sz="113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决定是否保留）</a:t>
            </a:r>
            <a:endParaRPr b="0" lang="en-US" sz="1130" spc="-1" strike="noStrike"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>
            <a:off x="9700920" y="7674480"/>
            <a:ext cx="318420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13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13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消融实验与基线对比</a:t>
            </a:r>
            <a:endParaRPr b="0" lang="en-US" sz="1130" spc="-1" strike="noStrike"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9700920" y="7865280"/>
            <a:ext cx="318420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113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•  </a:t>
            </a:r>
            <a:r>
              <a:rPr b="0" lang="zh-CN" sz="113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结构泛化与风险控制评测</a:t>
            </a:r>
            <a:endParaRPr b="0" lang="en-US" sz="113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Online frame"/>
          <p:cNvSpPr/>
          <p:nvPr/>
        </p:nvSpPr>
        <p:spPr>
          <a:xfrm>
            <a:off x="130680" y="152640"/>
            <a:ext cx="16609320" cy="3836520"/>
          </a:xfrm>
          <a:prstGeom prst="roundRect">
            <a:avLst>
              <a:gd name="adj" fmla="val 4218"/>
            </a:avLst>
          </a:prstGeom>
          <a:noFill/>
          <a:ln w="12859">
            <a:solidFill>
              <a:srgbClr val="22222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5" name=""/>
          <p:cNvSpPr/>
          <p:nvPr/>
        </p:nvSpPr>
        <p:spPr>
          <a:xfrm>
            <a:off x="340200" y="295560"/>
            <a:ext cx="6665400" cy="36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Online Inference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66" name="Offline frame"/>
          <p:cNvSpPr/>
          <p:nvPr/>
        </p:nvSpPr>
        <p:spPr>
          <a:xfrm>
            <a:off x="130680" y="4248360"/>
            <a:ext cx="16609320" cy="3131640"/>
          </a:xfrm>
          <a:prstGeom prst="roundRect">
            <a:avLst>
              <a:gd name="adj" fmla="val 5167"/>
            </a:avLst>
          </a:prstGeom>
          <a:noFill/>
          <a:ln w="12859">
            <a:solidFill>
              <a:srgbClr val="22222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7" name=""/>
          <p:cNvSpPr/>
          <p:nvPr/>
        </p:nvSpPr>
        <p:spPr>
          <a:xfrm>
            <a:off x="340200" y="4362840"/>
            <a:ext cx="7236720" cy="40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Offline Data &amp; Training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68" name=""/>
          <p:cNvSpPr/>
          <p:nvPr/>
        </p:nvSpPr>
        <p:spPr>
          <a:xfrm>
            <a:off x="311760" y="1467360"/>
            <a:ext cx="1445760" cy="1617120"/>
          </a:xfrm>
          <a:prstGeom prst="roundRect">
            <a:avLst>
              <a:gd name="adj" fmla="val 4605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9" name=""/>
          <p:cNvSpPr/>
          <p:nvPr/>
        </p:nvSpPr>
        <p:spPr>
          <a:xfrm>
            <a:off x="359280" y="1695960"/>
            <a:ext cx="135036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3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User Query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>
            <a:off x="378360" y="2134080"/>
            <a:ext cx="1312200" cy="75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28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q</a:t>
            </a:r>
            <a:endParaRPr b="0" lang="en-US" sz="128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28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(natural</a:t>
            </a:r>
            <a:endParaRPr b="0" lang="en-US" sz="128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28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language)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>
            <a:off x="1921320" y="1467360"/>
            <a:ext cx="1588680" cy="1617120"/>
          </a:xfrm>
          <a:prstGeom prst="roundRect">
            <a:avLst>
              <a:gd name="adj" fmla="val 4192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2" name=""/>
          <p:cNvSpPr/>
          <p:nvPr/>
        </p:nvSpPr>
        <p:spPr>
          <a:xfrm>
            <a:off x="1968840" y="1648080"/>
            <a:ext cx="149328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Entity &amp;</a:t>
            </a:r>
            <a:endParaRPr b="0" lang="en-US" sz="1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Lexical Parsing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1987920" y="2295720"/>
            <a:ext cx="1455120" cy="5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entities, keywords,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control context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74" name=""/>
          <p:cNvSpPr/>
          <p:nvPr/>
        </p:nvSpPr>
        <p:spPr>
          <a:xfrm>
            <a:off x="3664440" y="1467360"/>
            <a:ext cx="1493280" cy="1617120"/>
          </a:xfrm>
          <a:prstGeom prst="roundRect">
            <a:avLst>
              <a:gd name="adj" fmla="val 4459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5" name=""/>
          <p:cNvSpPr/>
          <p:nvPr/>
        </p:nvSpPr>
        <p:spPr>
          <a:xfrm>
            <a:off x="3711960" y="1724400"/>
            <a:ext cx="139788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3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Pre-Router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376" name=""/>
          <p:cNvSpPr/>
          <p:nvPr/>
        </p:nvSpPr>
        <p:spPr>
          <a:xfrm>
            <a:off x="3731040" y="2134080"/>
            <a:ext cx="1360080" cy="7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28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channel budget +</a:t>
            </a:r>
            <a:endParaRPr b="0" lang="en-US" sz="128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28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initial weights</a:t>
            </a:r>
            <a:endParaRPr b="0" lang="en-US" sz="128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28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w = f(q)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377" name=""/>
          <p:cNvSpPr/>
          <p:nvPr/>
        </p:nvSpPr>
        <p:spPr>
          <a:xfrm>
            <a:off x="1759320" y="2276640"/>
            <a:ext cx="1598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378" name=""/>
          <p:cNvSpPr/>
          <p:nvPr/>
        </p:nvSpPr>
        <p:spPr>
          <a:xfrm>
            <a:off x="3512160" y="2276640"/>
            <a:ext cx="1501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379" name=""/>
          <p:cNvSpPr/>
          <p:nvPr/>
        </p:nvSpPr>
        <p:spPr>
          <a:xfrm>
            <a:off x="5387760" y="581400"/>
            <a:ext cx="3341160" cy="3293640"/>
          </a:xfrm>
          <a:prstGeom prst="roundRect">
            <a:avLst>
              <a:gd name="adj" fmla="val 3757"/>
            </a:avLst>
          </a:prstGeom>
          <a:noFill/>
          <a:ln w="11906">
            <a:solidFill>
              <a:srgbClr val="22222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0" name=""/>
          <p:cNvSpPr/>
          <p:nvPr/>
        </p:nvSpPr>
        <p:spPr>
          <a:xfrm>
            <a:off x="5493240" y="609840"/>
            <a:ext cx="3341160" cy="2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8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Retriever Experts</a:t>
            </a:r>
            <a:endParaRPr b="0" lang="en-US" sz="1580" spc="-1" strike="noStrike">
              <a:latin typeface="Arial"/>
            </a:endParaRPr>
          </a:p>
        </p:txBody>
      </p:sp>
      <p:sp>
        <p:nvSpPr>
          <p:cNvPr id="381" name=""/>
          <p:cNvSpPr/>
          <p:nvPr/>
        </p:nvSpPr>
        <p:spPr>
          <a:xfrm>
            <a:off x="5855040" y="924120"/>
            <a:ext cx="2712600" cy="617040"/>
          </a:xfrm>
          <a:prstGeom prst="roundRect">
            <a:avLst>
              <a:gd name="adj" fmla="val 10769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2" name=""/>
          <p:cNvSpPr/>
          <p:nvPr/>
        </p:nvSpPr>
        <p:spPr>
          <a:xfrm>
            <a:off x="5902920" y="943200"/>
            <a:ext cx="2617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3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BM25 Expert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>
            <a:off x="5922000" y="1181520"/>
            <a:ext cx="2579040" cy="3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exact terms / abbreviations /</a:t>
            </a:r>
            <a:endParaRPr b="0" lang="en-US" sz="117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PV fragments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5855040" y="1629000"/>
            <a:ext cx="2712600" cy="617040"/>
          </a:xfrm>
          <a:prstGeom prst="roundRect">
            <a:avLst>
              <a:gd name="adj" fmla="val 10769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5" name=""/>
          <p:cNvSpPr/>
          <p:nvPr/>
        </p:nvSpPr>
        <p:spPr>
          <a:xfrm>
            <a:off x="5902920" y="1648080"/>
            <a:ext cx="2617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3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Dense Expert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386" name=""/>
          <p:cNvSpPr/>
          <p:nvPr/>
        </p:nvSpPr>
        <p:spPr>
          <a:xfrm>
            <a:off x="5922000" y="1886400"/>
            <a:ext cx="2579040" cy="3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semantic concepts /</a:t>
            </a:r>
            <a:endParaRPr b="0" lang="en-US" sz="117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paraphrases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387" name=""/>
          <p:cNvSpPr/>
          <p:nvPr/>
        </p:nvSpPr>
        <p:spPr>
          <a:xfrm>
            <a:off x="5855040" y="2343600"/>
            <a:ext cx="2712600" cy="645480"/>
          </a:xfrm>
          <a:prstGeom prst="roundRect">
            <a:avLst>
              <a:gd name="adj" fmla="val 10294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8" name=""/>
          <p:cNvSpPr/>
          <p:nvPr/>
        </p:nvSpPr>
        <p:spPr>
          <a:xfrm>
            <a:off x="5902920" y="2362680"/>
            <a:ext cx="2617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PV / Registry Expert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389" name=""/>
          <p:cNvSpPr/>
          <p:nvPr/>
        </p:nvSpPr>
        <p:spPr>
          <a:xfrm>
            <a:off x="5922000" y="2619720"/>
            <a:ext cx="25790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identifier grounding /</a:t>
            </a:r>
            <a:endParaRPr b="0" lang="en-US" sz="117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validity lookup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390" name=""/>
          <p:cNvSpPr/>
          <p:nvPr/>
        </p:nvSpPr>
        <p:spPr>
          <a:xfrm>
            <a:off x="5855040" y="3076920"/>
            <a:ext cx="2712600" cy="664560"/>
          </a:xfrm>
          <a:prstGeom prst="roundRect">
            <a:avLst>
              <a:gd name="adj" fmla="val 10000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1" name=""/>
          <p:cNvSpPr/>
          <p:nvPr/>
        </p:nvSpPr>
        <p:spPr>
          <a:xfrm>
            <a:off x="5902920" y="3096000"/>
            <a:ext cx="2617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3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Metadata Expert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392" name=""/>
          <p:cNvSpPr/>
          <p:nvPr/>
        </p:nvSpPr>
        <p:spPr>
          <a:xfrm>
            <a:off x="5922000" y="3353040"/>
            <a:ext cx="2579040" cy="35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subsystem / doc type /</a:t>
            </a:r>
            <a:endParaRPr b="0" lang="en-US" sz="117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version filtering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393" name=""/>
          <p:cNvSpPr/>
          <p:nvPr/>
        </p:nvSpPr>
        <p:spPr>
          <a:xfrm flipV="1">
            <a:off x="5159880" y="1231560"/>
            <a:ext cx="693000" cy="104076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394" name=""/>
          <p:cNvSpPr/>
          <p:nvPr/>
        </p:nvSpPr>
        <p:spPr>
          <a:xfrm flipV="1">
            <a:off x="5159880" y="1936440"/>
            <a:ext cx="693000" cy="33588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395" name=""/>
          <p:cNvSpPr/>
          <p:nvPr/>
        </p:nvSpPr>
        <p:spPr>
          <a:xfrm>
            <a:off x="5159880" y="2276640"/>
            <a:ext cx="693000" cy="38844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396" name=""/>
          <p:cNvSpPr/>
          <p:nvPr/>
        </p:nvSpPr>
        <p:spPr>
          <a:xfrm>
            <a:off x="5159880" y="2276640"/>
            <a:ext cx="693000" cy="113148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397" name=""/>
          <p:cNvSpPr/>
          <p:nvPr/>
        </p:nvSpPr>
        <p:spPr>
          <a:xfrm>
            <a:off x="8998560" y="1467360"/>
            <a:ext cx="1397880" cy="1617120"/>
          </a:xfrm>
          <a:prstGeom prst="roundRect">
            <a:avLst>
              <a:gd name="adj" fmla="val 4762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8" name=""/>
          <p:cNvSpPr/>
          <p:nvPr/>
        </p:nvSpPr>
        <p:spPr>
          <a:xfrm>
            <a:off x="9046080" y="1752840"/>
            <a:ext cx="1302840" cy="56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Candidate</a:t>
            </a:r>
            <a:endParaRPr b="0" lang="en-US" sz="1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Normalization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399" name=""/>
          <p:cNvSpPr/>
          <p:nvPr/>
        </p:nvSpPr>
        <p:spPr>
          <a:xfrm>
            <a:off x="9065160" y="2362680"/>
            <a:ext cx="126468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unify evidence units</a:t>
            </a:r>
            <a:endParaRPr b="0" lang="en-US" sz="117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across metadata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400" name=""/>
          <p:cNvSpPr/>
          <p:nvPr/>
        </p:nvSpPr>
        <p:spPr>
          <a:xfrm>
            <a:off x="8836560" y="2229120"/>
            <a:ext cx="159840" cy="45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401" name=""/>
          <p:cNvSpPr/>
          <p:nvPr/>
        </p:nvSpPr>
        <p:spPr>
          <a:xfrm>
            <a:off x="10531800" y="1419480"/>
            <a:ext cx="1502640" cy="1760040"/>
          </a:xfrm>
          <a:prstGeom prst="roundRect">
            <a:avLst>
              <a:gd name="adj" fmla="val 4430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2" name=""/>
          <p:cNvSpPr/>
          <p:nvPr/>
        </p:nvSpPr>
        <p:spPr>
          <a:xfrm>
            <a:off x="10579680" y="1553040"/>
            <a:ext cx="1407600" cy="54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Control-object</a:t>
            </a:r>
            <a:endParaRPr b="0" lang="en-US" sz="1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Risk Scorer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403" name=""/>
          <p:cNvSpPr/>
          <p:nvPr/>
        </p:nvSpPr>
        <p:spPr>
          <a:xfrm>
            <a:off x="10598760" y="2105280"/>
            <a:ext cx="13694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Sᵣ(c | q)</a:t>
            </a:r>
            <a:endParaRPr b="0" lang="en-US" sz="117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area · subsystem</a:t>
            </a:r>
            <a:endParaRPr b="0" lang="en-US" sz="117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device · signal</a:t>
            </a:r>
            <a:endParaRPr b="0" lang="en-US" sz="117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qualifier · validity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404" name=""/>
          <p:cNvSpPr/>
          <p:nvPr/>
        </p:nvSpPr>
        <p:spPr>
          <a:xfrm>
            <a:off x="10398600" y="2276640"/>
            <a:ext cx="131040" cy="21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405" name=""/>
          <p:cNvSpPr/>
          <p:nvPr/>
        </p:nvSpPr>
        <p:spPr>
          <a:xfrm>
            <a:off x="12179880" y="1419480"/>
            <a:ext cx="1455120" cy="1760040"/>
          </a:xfrm>
          <a:prstGeom prst="roundRect">
            <a:avLst>
              <a:gd name="adj" fmla="val 4575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6" name=""/>
          <p:cNvSpPr/>
          <p:nvPr/>
        </p:nvSpPr>
        <p:spPr>
          <a:xfrm>
            <a:off x="12227400" y="1581480"/>
            <a:ext cx="13600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2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Risk-aware</a:t>
            </a:r>
            <a:endParaRPr b="0" lang="en-US" sz="132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32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Fusion / Reranker</a:t>
            </a:r>
            <a:endParaRPr b="0" lang="en-US" sz="1320" spc="-1" strike="noStrike">
              <a:latin typeface="Arial"/>
            </a:endParaRPr>
          </a:p>
        </p:txBody>
      </p:sp>
      <p:sp>
        <p:nvSpPr>
          <p:cNvPr id="407" name=""/>
          <p:cNvSpPr/>
          <p:nvPr/>
        </p:nvSpPr>
        <p:spPr>
          <a:xfrm>
            <a:off x="12246480" y="2162520"/>
            <a:ext cx="132192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relevance +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structure risk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S(c | q, r)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08" name=""/>
          <p:cNvSpPr/>
          <p:nvPr/>
        </p:nvSpPr>
        <p:spPr>
          <a:xfrm>
            <a:off x="12036960" y="2300760"/>
            <a:ext cx="1407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409" name=""/>
          <p:cNvSpPr/>
          <p:nvPr/>
        </p:nvSpPr>
        <p:spPr>
          <a:xfrm>
            <a:off x="13761000" y="1419480"/>
            <a:ext cx="1521720" cy="1760040"/>
          </a:xfrm>
          <a:prstGeom prst="roundRect">
            <a:avLst>
              <a:gd name="adj" fmla="val 4375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0" name=""/>
          <p:cNvSpPr/>
          <p:nvPr/>
        </p:nvSpPr>
        <p:spPr>
          <a:xfrm>
            <a:off x="13808520" y="1609920"/>
            <a:ext cx="1426680" cy="5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Confidence /</a:t>
            </a:r>
            <a:endParaRPr b="0" lang="en-US" sz="1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Abstention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411" name=""/>
          <p:cNvSpPr/>
          <p:nvPr/>
        </p:nvSpPr>
        <p:spPr>
          <a:xfrm>
            <a:off x="13827600" y="2162520"/>
            <a:ext cx="138852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answer / ask for</a:t>
            </a:r>
            <a:endParaRPr b="0" lang="en-US" sz="117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clarification / refuse</a:t>
            </a:r>
            <a:endParaRPr b="0" lang="en-US" sz="117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p(a | q, c)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412" name=""/>
          <p:cNvSpPr/>
          <p:nvPr/>
        </p:nvSpPr>
        <p:spPr>
          <a:xfrm>
            <a:off x="13637160" y="2300760"/>
            <a:ext cx="121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413" name=""/>
          <p:cNvSpPr/>
          <p:nvPr/>
        </p:nvSpPr>
        <p:spPr>
          <a:xfrm>
            <a:off x="15399360" y="1419480"/>
            <a:ext cx="1188360" cy="1760040"/>
          </a:xfrm>
          <a:prstGeom prst="roundRect">
            <a:avLst>
              <a:gd name="adj" fmla="val 5600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4" name=""/>
          <p:cNvSpPr/>
          <p:nvPr/>
        </p:nvSpPr>
        <p:spPr>
          <a:xfrm>
            <a:off x="15446880" y="1762560"/>
            <a:ext cx="1093320" cy="58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Generated</a:t>
            </a:r>
            <a:endParaRPr b="0" lang="en-US" sz="1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Answer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415" name=""/>
          <p:cNvSpPr/>
          <p:nvPr/>
        </p:nvSpPr>
        <p:spPr>
          <a:xfrm>
            <a:off x="15465960" y="2419560"/>
            <a:ext cx="105516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a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416" name=""/>
          <p:cNvSpPr/>
          <p:nvPr/>
        </p:nvSpPr>
        <p:spPr>
          <a:xfrm>
            <a:off x="15284880" y="2300760"/>
            <a:ext cx="1123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417" name=""/>
          <p:cNvSpPr/>
          <p:nvPr/>
        </p:nvSpPr>
        <p:spPr>
          <a:xfrm>
            <a:off x="311760" y="4886640"/>
            <a:ext cx="2979000" cy="2312280"/>
          </a:xfrm>
          <a:prstGeom prst="roundRect">
            <a:avLst>
              <a:gd name="adj" fmla="val 5350"/>
            </a:avLst>
          </a:prstGeom>
          <a:noFill/>
          <a:ln w="11906">
            <a:solidFill>
              <a:srgbClr val="22222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8" name=""/>
          <p:cNvSpPr/>
          <p:nvPr/>
        </p:nvSpPr>
        <p:spPr>
          <a:xfrm>
            <a:off x="502200" y="4915080"/>
            <a:ext cx="1807560" cy="2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Data Sources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19" name=""/>
          <p:cNvSpPr/>
          <p:nvPr/>
        </p:nvSpPr>
        <p:spPr>
          <a:xfrm>
            <a:off x="464040" y="5239080"/>
            <a:ext cx="2474280" cy="864720"/>
          </a:xfrm>
          <a:prstGeom prst="roundRect">
            <a:avLst>
              <a:gd name="adj" fmla="val 7692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0" name=""/>
          <p:cNvSpPr/>
          <p:nvPr/>
        </p:nvSpPr>
        <p:spPr>
          <a:xfrm>
            <a:off x="511560" y="5286600"/>
            <a:ext cx="237924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Accelerator</a:t>
            </a:r>
            <a:endParaRPr b="0" lang="en-US" sz="1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Documentation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421" name=""/>
          <p:cNvSpPr/>
          <p:nvPr/>
        </p:nvSpPr>
        <p:spPr>
          <a:xfrm>
            <a:off x="530640" y="5762880"/>
            <a:ext cx="23410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09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manuals / reports /</a:t>
            </a:r>
            <a:endParaRPr b="0" lang="en-US" sz="109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09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procedures</a:t>
            </a:r>
            <a:endParaRPr b="0" lang="en-US" sz="1090" spc="-1" strike="noStrike">
              <a:latin typeface="Arial"/>
            </a:endParaRPr>
          </a:p>
        </p:txBody>
      </p:sp>
      <p:sp>
        <p:nvSpPr>
          <p:cNvPr id="422" name=""/>
          <p:cNvSpPr/>
          <p:nvPr/>
        </p:nvSpPr>
        <p:spPr>
          <a:xfrm>
            <a:off x="464040" y="6181920"/>
            <a:ext cx="2474280" cy="874080"/>
          </a:xfrm>
          <a:prstGeom prst="roundRect">
            <a:avLst>
              <a:gd name="adj" fmla="val 7609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3" name=""/>
          <p:cNvSpPr/>
          <p:nvPr/>
        </p:nvSpPr>
        <p:spPr>
          <a:xfrm>
            <a:off x="511560" y="6229800"/>
            <a:ext cx="237924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2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EPICS Registry /</a:t>
            </a:r>
            <a:endParaRPr b="0" lang="en-US" sz="132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32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IOC-PV Metadata</a:t>
            </a:r>
            <a:endParaRPr b="0" lang="en-US" sz="1320" spc="-1" strike="noStrike"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>
            <a:off x="530640" y="6715440"/>
            <a:ext cx="234108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09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PV / IOC / area / subsystem /</a:t>
            </a:r>
            <a:endParaRPr b="0" lang="en-US" sz="109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09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device / signal</a:t>
            </a:r>
            <a:endParaRPr b="0" lang="en-US" sz="1090" spc="-1" strike="noStrike">
              <a:latin typeface="Arial"/>
            </a:endParaRPr>
          </a:p>
        </p:txBody>
      </p:sp>
      <p:sp>
        <p:nvSpPr>
          <p:cNvPr id="425" name=""/>
          <p:cNvSpPr/>
          <p:nvPr/>
        </p:nvSpPr>
        <p:spPr>
          <a:xfrm>
            <a:off x="3540600" y="5610600"/>
            <a:ext cx="1512360" cy="874080"/>
          </a:xfrm>
          <a:prstGeom prst="roundRect">
            <a:avLst>
              <a:gd name="adj" fmla="val 7609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6" name=""/>
          <p:cNvSpPr/>
          <p:nvPr/>
        </p:nvSpPr>
        <p:spPr>
          <a:xfrm>
            <a:off x="3588120" y="5715360"/>
            <a:ext cx="141696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Indexer /</a:t>
            </a:r>
            <a:endParaRPr b="0" lang="en-US" sz="1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Normalizer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427" name=""/>
          <p:cNvSpPr/>
          <p:nvPr/>
        </p:nvSpPr>
        <p:spPr>
          <a:xfrm>
            <a:off x="2940480" y="5672520"/>
            <a:ext cx="597960" cy="37404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428" name=""/>
          <p:cNvSpPr/>
          <p:nvPr/>
        </p:nvSpPr>
        <p:spPr>
          <a:xfrm flipV="1">
            <a:off x="2940480" y="6046560"/>
            <a:ext cx="597960" cy="56952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429" name=""/>
          <p:cNvSpPr/>
          <p:nvPr/>
        </p:nvSpPr>
        <p:spPr>
          <a:xfrm>
            <a:off x="5283720" y="4877280"/>
            <a:ext cx="3198240" cy="2150640"/>
          </a:xfrm>
          <a:prstGeom prst="roundRect">
            <a:avLst>
              <a:gd name="adj" fmla="val 5752"/>
            </a:avLst>
          </a:prstGeom>
          <a:noFill/>
          <a:ln w="11906">
            <a:solidFill>
              <a:srgbClr val="22222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0" name=""/>
          <p:cNvSpPr/>
          <p:nvPr/>
        </p:nvSpPr>
        <p:spPr>
          <a:xfrm>
            <a:off x="5283720" y="4905720"/>
            <a:ext cx="3198240" cy="2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Multi-source Indexes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31" name=""/>
          <p:cNvSpPr/>
          <p:nvPr/>
        </p:nvSpPr>
        <p:spPr>
          <a:xfrm>
            <a:off x="5683680" y="5258160"/>
            <a:ext cx="2588760" cy="350280"/>
          </a:xfrm>
          <a:prstGeom prst="roundRect">
            <a:avLst>
              <a:gd name="adj" fmla="val 18919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2" name=""/>
          <p:cNvSpPr/>
          <p:nvPr/>
        </p:nvSpPr>
        <p:spPr>
          <a:xfrm>
            <a:off x="5731200" y="5277240"/>
            <a:ext cx="249336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4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BM25 Index</a:t>
            </a:r>
            <a:endParaRPr b="0" lang="en-US" sz="1240" spc="-1" strike="noStrike">
              <a:latin typeface="Arial"/>
            </a:endParaRPr>
          </a:p>
        </p:txBody>
      </p:sp>
      <p:sp>
        <p:nvSpPr>
          <p:cNvPr id="433" name=""/>
          <p:cNvSpPr/>
          <p:nvPr/>
        </p:nvSpPr>
        <p:spPr>
          <a:xfrm>
            <a:off x="5683680" y="5677200"/>
            <a:ext cx="2588760" cy="350280"/>
          </a:xfrm>
          <a:prstGeom prst="roundRect">
            <a:avLst>
              <a:gd name="adj" fmla="val 18919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4" name=""/>
          <p:cNvSpPr/>
          <p:nvPr/>
        </p:nvSpPr>
        <p:spPr>
          <a:xfrm>
            <a:off x="5731200" y="5696280"/>
            <a:ext cx="249336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4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Dense Vector Store</a:t>
            </a:r>
            <a:endParaRPr b="0" lang="en-US" sz="1240" spc="-1" strike="noStrike">
              <a:latin typeface="Arial"/>
            </a:endParaRPr>
          </a:p>
        </p:txBody>
      </p:sp>
      <p:sp>
        <p:nvSpPr>
          <p:cNvPr id="435" name=""/>
          <p:cNvSpPr/>
          <p:nvPr/>
        </p:nvSpPr>
        <p:spPr>
          <a:xfrm>
            <a:off x="5683680" y="6105960"/>
            <a:ext cx="2588760" cy="350280"/>
          </a:xfrm>
          <a:prstGeom prst="roundRect">
            <a:avLst>
              <a:gd name="adj" fmla="val 18919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6" name=""/>
          <p:cNvSpPr/>
          <p:nvPr/>
        </p:nvSpPr>
        <p:spPr>
          <a:xfrm>
            <a:off x="5731200" y="6125040"/>
            <a:ext cx="249336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4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Registry Store</a:t>
            </a:r>
            <a:endParaRPr b="0" lang="en-US" sz="1240" spc="-1" strike="noStrike">
              <a:latin typeface="Arial"/>
            </a:endParaRPr>
          </a:p>
        </p:txBody>
      </p:sp>
      <p:sp>
        <p:nvSpPr>
          <p:cNvPr id="437" name=""/>
          <p:cNvSpPr/>
          <p:nvPr/>
        </p:nvSpPr>
        <p:spPr>
          <a:xfrm>
            <a:off x="5683680" y="6525000"/>
            <a:ext cx="2588760" cy="350280"/>
          </a:xfrm>
          <a:prstGeom prst="roundRect">
            <a:avLst>
              <a:gd name="adj" fmla="val 18919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8" name=""/>
          <p:cNvSpPr/>
          <p:nvPr/>
        </p:nvSpPr>
        <p:spPr>
          <a:xfrm>
            <a:off x="5731200" y="6544080"/>
            <a:ext cx="249336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4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Metadata Store</a:t>
            </a:r>
            <a:endParaRPr b="0" lang="en-US" sz="1240" spc="-1" strike="noStrike">
              <a:latin typeface="Arial"/>
            </a:endParaRPr>
          </a:p>
        </p:txBody>
      </p:sp>
      <p:sp>
        <p:nvSpPr>
          <p:cNvPr id="439" name=""/>
          <p:cNvSpPr/>
          <p:nvPr/>
        </p:nvSpPr>
        <p:spPr>
          <a:xfrm flipV="1">
            <a:off x="5055120" y="5432040"/>
            <a:ext cx="626400" cy="61236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440" name=""/>
          <p:cNvSpPr/>
          <p:nvPr/>
        </p:nvSpPr>
        <p:spPr>
          <a:xfrm flipV="1">
            <a:off x="5055120" y="5851440"/>
            <a:ext cx="626400" cy="19296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441" name=""/>
          <p:cNvSpPr/>
          <p:nvPr/>
        </p:nvSpPr>
        <p:spPr>
          <a:xfrm>
            <a:off x="5055120" y="6048720"/>
            <a:ext cx="626400" cy="23112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442" name=""/>
          <p:cNvSpPr/>
          <p:nvPr/>
        </p:nvSpPr>
        <p:spPr>
          <a:xfrm>
            <a:off x="5055120" y="6048720"/>
            <a:ext cx="626400" cy="65016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443" name=""/>
          <p:cNvSpPr/>
          <p:nvPr/>
        </p:nvSpPr>
        <p:spPr>
          <a:xfrm>
            <a:off x="8760240" y="4877280"/>
            <a:ext cx="7760880" cy="2179080"/>
          </a:xfrm>
          <a:prstGeom prst="roundRect">
            <a:avLst>
              <a:gd name="adj" fmla="val 5677"/>
            </a:avLst>
          </a:prstGeom>
          <a:noFill/>
          <a:ln w="11906">
            <a:solidFill>
              <a:srgbClr val="22222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4" name=""/>
          <p:cNvSpPr/>
          <p:nvPr/>
        </p:nvSpPr>
        <p:spPr>
          <a:xfrm>
            <a:off x="8950680" y="4905720"/>
            <a:ext cx="2664720" cy="2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Training &amp; Benchmark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45" name=""/>
          <p:cNvSpPr/>
          <p:nvPr/>
        </p:nvSpPr>
        <p:spPr>
          <a:xfrm>
            <a:off x="8884080" y="5420160"/>
            <a:ext cx="2683800" cy="1169280"/>
          </a:xfrm>
          <a:prstGeom prst="roundRect">
            <a:avLst>
              <a:gd name="adj" fmla="val 5691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6" name=""/>
          <p:cNvSpPr/>
          <p:nvPr/>
        </p:nvSpPr>
        <p:spPr>
          <a:xfrm>
            <a:off x="8931600" y="5600880"/>
            <a:ext cx="258876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2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Structure-preserving</a:t>
            </a:r>
            <a:endParaRPr b="0" lang="en-US" sz="132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32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Counterfactual Negatives</a:t>
            </a:r>
            <a:endParaRPr b="0" lang="en-US" sz="1320" spc="-1" strike="noStrike">
              <a:latin typeface="Arial"/>
            </a:endParaRPr>
          </a:p>
        </p:txBody>
      </p:sp>
      <p:sp>
        <p:nvSpPr>
          <p:cNvPr id="447" name=""/>
          <p:cNvSpPr/>
          <p:nvPr/>
        </p:nvSpPr>
        <p:spPr>
          <a:xfrm>
            <a:off x="11703600" y="5429520"/>
            <a:ext cx="2188440" cy="1140840"/>
          </a:xfrm>
          <a:prstGeom prst="roundRect">
            <a:avLst>
              <a:gd name="adj" fmla="val 5833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8" name=""/>
          <p:cNvSpPr/>
          <p:nvPr/>
        </p:nvSpPr>
        <p:spPr>
          <a:xfrm>
            <a:off x="11751120" y="5610600"/>
            <a:ext cx="2093400" cy="51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Risk-labeled</a:t>
            </a:r>
            <a:endParaRPr b="0" lang="en-US" sz="1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Benchmark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449" name=""/>
          <p:cNvSpPr/>
          <p:nvPr/>
        </p:nvSpPr>
        <p:spPr>
          <a:xfrm>
            <a:off x="11770200" y="6144120"/>
            <a:ext cx="205524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relevance + structure risk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450" name=""/>
          <p:cNvSpPr/>
          <p:nvPr/>
        </p:nvSpPr>
        <p:spPr>
          <a:xfrm>
            <a:off x="14180040" y="5420160"/>
            <a:ext cx="2236320" cy="1159920"/>
          </a:xfrm>
          <a:prstGeom prst="roundRect">
            <a:avLst>
              <a:gd name="adj" fmla="val 5738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1" name=""/>
          <p:cNvSpPr/>
          <p:nvPr/>
        </p:nvSpPr>
        <p:spPr>
          <a:xfrm>
            <a:off x="14227560" y="5544000"/>
            <a:ext cx="2140920" cy="55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Structure-OOD</a:t>
            </a:r>
            <a:endParaRPr b="0" lang="en-US" sz="1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Splits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452" name=""/>
          <p:cNvSpPr/>
          <p:nvPr/>
        </p:nvSpPr>
        <p:spPr>
          <a:xfrm>
            <a:off x="14246640" y="6115320"/>
            <a:ext cx="2102760" cy="35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13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generalize beyond</a:t>
            </a:r>
            <a:endParaRPr b="0" lang="en-US" sz="113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13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seen layouts</a:t>
            </a:r>
            <a:endParaRPr b="0" lang="en-US" sz="1130" spc="-1" strike="noStrike">
              <a:latin typeface="Arial"/>
            </a:endParaRPr>
          </a:p>
        </p:txBody>
      </p:sp>
      <p:sp>
        <p:nvSpPr>
          <p:cNvPr id="453" name=""/>
          <p:cNvSpPr/>
          <p:nvPr/>
        </p:nvSpPr>
        <p:spPr>
          <a:xfrm flipV="1">
            <a:off x="11570040" y="5999040"/>
            <a:ext cx="131040" cy="2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454" name=""/>
          <p:cNvSpPr/>
          <p:nvPr/>
        </p:nvSpPr>
        <p:spPr>
          <a:xfrm>
            <a:off x="13894200" y="6001200"/>
            <a:ext cx="283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455" name=""/>
          <p:cNvSpPr/>
          <p:nvPr/>
        </p:nvSpPr>
        <p:spPr>
          <a:xfrm>
            <a:off x="7150680" y="4877280"/>
            <a:ext cx="26280" cy="2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6" name=""/>
          <p:cNvSpPr/>
          <p:nvPr/>
        </p:nvSpPr>
        <p:spPr>
          <a:xfrm flipV="1">
            <a:off x="7258680" y="3742200"/>
            <a:ext cx="360" cy="1159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5240">
            <a:solidFill>
              <a:srgbClr val="111111"/>
            </a:solidFill>
            <a:prstDash val="dash"/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457" name=""/>
          <p:cNvSpPr/>
          <p:nvPr/>
        </p:nvSpPr>
        <p:spPr>
          <a:xfrm>
            <a:off x="11255760" y="4877280"/>
            <a:ext cx="26280" cy="2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8" name=""/>
          <p:cNvSpPr/>
          <p:nvPr/>
        </p:nvSpPr>
        <p:spPr>
          <a:xfrm flipH="1" flipV="1">
            <a:off x="11358720" y="3179520"/>
            <a:ext cx="360" cy="1694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5240">
            <a:solidFill>
              <a:srgbClr val="111111"/>
            </a:solidFill>
            <a:prstDash val="dash"/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459" name=""/>
          <p:cNvSpPr/>
          <p:nvPr/>
        </p:nvSpPr>
        <p:spPr>
          <a:xfrm>
            <a:off x="12884760" y="4877280"/>
            <a:ext cx="26280" cy="2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0" name=""/>
          <p:cNvSpPr/>
          <p:nvPr/>
        </p:nvSpPr>
        <p:spPr>
          <a:xfrm flipH="1" flipV="1">
            <a:off x="12906000" y="3179520"/>
            <a:ext cx="3600" cy="169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5240">
            <a:solidFill>
              <a:srgbClr val="111111"/>
            </a:solidFill>
            <a:prstDash val="dash"/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在线框架"/>
          <p:cNvSpPr/>
          <p:nvPr/>
        </p:nvSpPr>
        <p:spPr>
          <a:xfrm>
            <a:off x="142920" y="628560"/>
            <a:ext cx="16609320" cy="3836520"/>
          </a:xfrm>
          <a:prstGeom prst="roundRect">
            <a:avLst>
              <a:gd name="adj" fmla="val 4218"/>
            </a:avLst>
          </a:prstGeom>
          <a:noFill/>
          <a:ln w="12859">
            <a:solidFill>
              <a:srgbClr val="22222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2" name=""/>
          <p:cNvSpPr/>
          <p:nvPr/>
        </p:nvSpPr>
        <p:spPr>
          <a:xfrm>
            <a:off x="352440" y="771480"/>
            <a:ext cx="6665400" cy="36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zh-CN" sz="2400" spc="-1" strike="noStrike">
                <a:solidFill>
                  <a:srgbClr val="111111"/>
                </a:solidFill>
                <a:latin typeface="SimSun"/>
                <a:ea typeface="SimSun"/>
              </a:rPr>
              <a:t>在线推理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63" name="离线框架"/>
          <p:cNvSpPr/>
          <p:nvPr/>
        </p:nvSpPr>
        <p:spPr>
          <a:xfrm>
            <a:off x="142920" y="4724280"/>
            <a:ext cx="16609320" cy="3131640"/>
          </a:xfrm>
          <a:prstGeom prst="roundRect">
            <a:avLst>
              <a:gd name="adj" fmla="val 5167"/>
            </a:avLst>
          </a:prstGeom>
          <a:noFill/>
          <a:ln w="12859">
            <a:solidFill>
              <a:srgbClr val="22222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4" name=""/>
          <p:cNvSpPr/>
          <p:nvPr/>
        </p:nvSpPr>
        <p:spPr>
          <a:xfrm>
            <a:off x="352440" y="4838760"/>
            <a:ext cx="7236720" cy="40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zh-CN" sz="2400" spc="-1" strike="noStrike">
                <a:solidFill>
                  <a:srgbClr val="111111"/>
                </a:solidFill>
                <a:latin typeface="SimSun"/>
                <a:ea typeface="SimSun"/>
              </a:rPr>
              <a:t>离线数据与训练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65" name=""/>
          <p:cNvSpPr/>
          <p:nvPr/>
        </p:nvSpPr>
        <p:spPr>
          <a:xfrm>
            <a:off x="324000" y="1943280"/>
            <a:ext cx="1445760" cy="1617120"/>
          </a:xfrm>
          <a:prstGeom prst="roundRect">
            <a:avLst>
              <a:gd name="adj" fmla="val 4605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6" name=""/>
          <p:cNvSpPr/>
          <p:nvPr/>
        </p:nvSpPr>
        <p:spPr>
          <a:xfrm>
            <a:off x="371520" y="2171880"/>
            <a:ext cx="135036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430" spc="-1" strike="noStrike">
                <a:solidFill>
                  <a:srgbClr val="111111"/>
                </a:solidFill>
                <a:latin typeface="SimSun"/>
                <a:ea typeface="SimSun"/>
              </a:rPr>
              <a:t>用户查询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467" name=""/>
          <p:cNvSpPr/>
          <p:nvPr/>
        </p:nvSpPr>
        <p:spPr>
          <a:xfrm>
            <a:off x="390600" y="2610000"/>
            <a:ext cx="1312200" cy="75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280" spc="-1" strike="noStrike">
                <a:solidFill>
                  <a:srgbClr val="111111"/>
                </a:solidFill>
                <a:latin typeface="SimSun"/>
                <a:ea typeface="SimSun"/>
              </a:rPr>
              <a:t>q</a:t>
            </a:r>
            <a:endParaRPr b="0" lang="en-US" sz="128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zh-CN" sz="1280" spc="-1" strike="noStrike">
                <a:solidFill>
                  <a:srgbClr val="111111"/>
                </a:solidFill>
                <a:latin typeface="SimSun"/>
                <a:ea typeface="SimSun"/>
              </a:rPr>
              <a:t>（自然语言）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468" name=""/>
          <p:cNvSpPr/>
          <p:nvPr/>
        </p:nvSpPr>
        <p:spPr>
          <a:xfrm>
            <a:off x="1933560" y="1943280"/>
            <a:ext cx="1588680" cy="1617120"/>
          </a:xfrm>
          <a:prstGeom prst="roundRect">
            <a:avLst>
              <a:gd name="adj" fmla="val 4192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9" name=""/>
          <p:cNvSpPr/>
          <p:nvPr/>
        </p:nvSpPr>
        <p:spPr>
          <a:xfrm>
            <a:off x="1981080" y="2124000"/>
            <a:ext cx="149328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实体与</a:t>
            </a:r>
            <a:endParaRPr b="0" lang="en-US" sz="1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词法解析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470" name=""/>
          <p:cNvSpPr/>
          <p:nvPr/>
        </p:nvSpPr>
        <p:spPr>
          <a:xfrm>
            <a:off x="2000160" y="2771640"/>
            <a:ext cx="1455120" cy="5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zh-CN" sz="1200" spc="-1" strike="noStrike">
                <a:solidFill>
                  <a:srgbClr val="111111"/>
                </a:solidFill>
                <a:latin typeface="SimSun"/>
                <a:ea typeface="SimSun"/>
              </a:rPr>
              <a:t>实体、关键词、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zh-CN" sz="1200" spc="-1" strike="noStrike">
                <a:solidFill>
                  <a:srgbClr val="111111"/>
                </a:solidFill>
                <a:latin typeface="SimSun"/>
                <a:ea typeface="SimSun"/>
              </a:rPr>
              <a:t>控制上下文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71" name=""/>
          <p:cNvSpPr/>
          <p:nvPr/>
        </p:nvSpPr>
        <p:spPr>
          <a:xfrm>
            <a:off x="3676680" y="1943280"/>
            <a:ext cx="1493280" cy="1617120"/>
          </a:xfrm>
          <a:prstGeom prst="roundRect">
            <a:avLst>
              <a:gd name="adj" fmla="val 4459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2" name=""/>
          <p:cNvSpPr/>
          <p:nvPr/>
        </p:nvSpPr>
        <p:spPr>
          <a:xfrm>
            <a:off x="3724200" y="2200320"/>
            <a:ext cx="139788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430" spc="-1" strike="noStrike">
                <a:solidFill>
                  <a:srgbClr val="111111"/>
                </a:solidFill>
                <a:latin typeface="SimSun"/>
                <a:ea typeface="SimSun"/>
              </a:rPr>
              <a:t>检索前路由器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473" name=""/>
          <p:cNvSpPr/>
          <p:nvPr/>
        </p:nvSpPr>
        <p:spPr>
          <a:xfrm>
            <a:off x="3743280" y="2610000"/>
            <a:ext cx="1360080" cy="7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zh-CN" sz="1280" spc="-1" strike="noStrike">
                <a:solidFill>
                  <a:srgbClr val="111111"/>
                </a:solidFill>
                <a:latin typeface="SimSun"/>
                <a:ea typeface="SimSun"/>
              </a:rPr>
              <a:t>通道预算 </a:t>
            </a:r>
            <a:r>
              <a:rPr b="0" i="1" lang="en-US" sz="1280" spc="-1" strike="noStrike">
                <a:solidFill>
                  <a:srgbClr val="111111"/>
                </a:solidFill>
                <a:latin typeface="SimSun"/>
                <a:ea typeface="SimSun"/>
              </a:rPr>
              <a:t>+</a:t>
            </a:r>
            <a:endParaRPr b="0" lang="en-US" sz="128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zh-CN" sz="1280" spc="-1" strike="noStrike">
                <a:solidFill>
                  <a:srgbClr val="111111"/>
                </a:solidFill>
                <a:latin typeface="SimSun"/>
                <a:ea typeface="SimSun"/>
              </a:rPr>
              <a:t>初始权重</a:t>
            </a:r>
            <a:endParaRPr b="0" lang="en-US" sz="128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280" spc="-1" strike="noStrike">
                <a:solidFill>
                  <a:srgbClr val="111111"/>
                </a:solidFill>
                <a:latin typeface="SimSun"/>
                <a:ea typeface="SimSun"/>
              </a:rPr>
              <a:t>w = f(q)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474" name=""/>
          <p:cNvSpPr/>
          <p:nvPr/>
        </p:nvSpPr>
        <p:spPr>
          <a:xfrm>
            <a:off x="1771560" y="2752560"/>
            <a:ext cx="1598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475" name=""/>
          <p:cNvSpPr/>
          <p:nvPr/>
        </p:nvSpPr>
        <p:spPr>
          <a:xfrm>
            <a:off x="3524400" y="2752560"/>
            <a:ext cx="1501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476" name=""/>
          <p:cNvSpPr/>
          <p:nvPr/>
        </p:nvSpPr>
        <p:spPr>
          <a:xfrm>
            <a:off x="5400000" y="1057320"/>
            <a:ext cx="3341160" cy="3293640"/>
          </a:xfrm>
          <a:prstGeom prst="roundRect">
            <a:avLst>
              <a:gd name="adj" fmla="val 3757"/>
            </a:avLst>
          </a:prstGeom>
          <a:noFill/>
          <a:ln w="11906">
            <a:solidFill>
              <a:srgbClr val="22222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7" name=""/>
          <p:cNvSpPr/>
          <p:nvPr/>
        </p:nvSpPr>
        <p:spPr>
          <a:xfrm>
            <a:off x="5505480" y="1085760"/>
            <a:ext cx="3341160" cy="2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580" spc="-1" strike="noStrike">
                <a:solidFill>
                  <a:srgbClr val="111111"/>
                </a:solidFill>
                <a:latin typeface="SimSun"/>
                <a:ea typeface="SimSun"/>
              </a:rPr>
              <a:t>检索器专家</a:t>
            </a:r>
            <a:endParaRPr b="0" lang="en-US" sz="1580" spc="-1" strike="noStrike">
              <a:latin typeface="Arial"/>
            </a:endParaRPr>
          </a:p>
        </p:txBody>
      </p:sp>
      <p:sp>
        <p:nvSpPr>
          <p:cNvPr id="478" name=""/>
          <p:cNvSpPr/>
          <p:nvPr/>
        </p:nvSpPr>
        <p:spPr>
          <a:xfrm>
            <a:off x="5867280" y="1400040"/>
            <a:ext cx="2712600" cy="617040"/>
          </a:xfrm>
          <a:prstGeom prst="roundRect">
            <a:avLst>
              <a:gd name="adj" fmla="val 10769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9" name=""/>
          <p:cNvSpPr/>
          <p:nvPr/>
        </p:nvSpPr>
        <p:spPr>
          <a:xfrm>
            <a:off x="5915160" y="1419120"/>
            <a:ext cx="2617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30" spc="-1" strike="noStrike">
                <a:solidFill>
                  <a:srgbClr val="111111"/>
                </a:solidFill>
                <a:latin typeface="SimSun"/>
                <a:ea typeface="SimSun"/>
              </a:rPr>
              <a:t>BM25 </a:t>
            </a:r>
            <a:r>
              <a:rPr b="1" lang="zh-CN" sz="1430" spc="-1" strike="noStrike">
                <a:solidFill>
                  <a:srgbClr val="111111"/>
                </a:solidFill>
                <a:latin typeface="SimSun"/>
                <a:ea typeface="SimSun"/>
              </a:rPr>
              <a:t>专家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480" name=""/>
          <p:cNvSpPr/>
          <p:nvPr/>
        </p:nvSpPr>
        <p:spPr>
          <a:xfrm>
            <a:off x="5934240" y="1657440"/>
            <a:ext cx="2579040" cy="3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精确术语 </a:t>
            </a:r>
            <a:r>
              <a:rPr b="0" i="1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/ </a:t>
            </a: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缩写 </a:t>
            </a:r>
            <a:r>
              <a:rPr b="0" i="1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/</a:t>
            </a:r>
            <a:endParaRPr b="0" lang="en-US" sz="117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PV </a:t>
            </a: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片段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481" name=""/>
          <p:cNvSpPr/>
          <p:nvPr/>
        </p:nvSpPr>
        <p:spPr>
          <a:xfrm>
            <a:off x="5867280" y="2104920"/>
            <a:ext cx="2712600" cy="617040"/>
          </a:xfrm>
          <a:prstGeom prst="roundRect">
            <a:avLst>
              <a:gd name="adj" fmla="val 10769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2" name=""/>
          <p:cNvSpPr/>
          <p:nvPr/>
        </p:nvSpPr>
        <p:spPr>
          <a:xfrm>
            <a:off x="5915160" y="2124000"/>
            <a:ext cx="2617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430" spc="-1" strike="noStrike">
                <a:solidFill>
                  <a:srgbClr val="111111"/>
                </a:solidFill>
                <a:latin typeface="SimSun"/>
                <a:ea typeface="SimSun"/>
              </a:rPr>
              <a:t>稠密检索专家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483" name=""/>
          <p:cNvSpPr/>
          <p:nvPr/>
        </p:nvSpPr>
        <p:spPr>
          <a:xfrm>
            <a:off x="5934240" y="2362320"/>
            <a:ext cx="2579040" cy="3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语义概念 </a:t>
            </a:r>
            <a:r>
              <a:rPr b="0" i="1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/</a:t>
            </a:r>
            <a:endParaRPr b="0" lang="en-US" sz="117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同义改写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484" name=""/>
          <p:cNvSpPr/>
          <p:nvPr/>
        </p:nvSpPr>
        <p:spPr>
          <a:xfrm>
            <a:off x="5867280" y="2819520"/>
            <a:ext cx="2712600" cy="645480"/>
          </a:xfrm>
          <a:prstGeom prst="roundRect">
            <a:avLst>
              <a:gd name="adj" fmla="val 10294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5" name=""/>
          <p:cNvSpPr/>
          <p:nvPr/>
        </p:nvSpPr>
        <p:spPr>
          <a:xfrm>
            <a:off x="5915160" y="2838600"/>
            <a:ext cx="2617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SimSun"/>
                <a:ea typeface="SimSun"/>
              </a:rPr>
              <a:t>PV / </a:t>
            </a:r>
            <a:r>
              <a:rPr b="1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注册表专家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486" name=""/>
          <p:cNvSpPr/>
          <p:nvPr/>
        </p:nvSpPr>
        <p:spPr>
          <a:xfrm>
            <a:off x="5934240" y="3095640"/>
            <a:ext cx="25790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标识符定位 </a:t>
            </a:r>
            <a:r>
              <a:rPr b="0" i="1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/</a:t>
            </a:r>
            <a:endParaRPr b="0" lang="en-US" sz="117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有效性校验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487" name=""/>
          <p:cNvSpPr/>
          <p:nvPr/>
        </p:nvSpPr>
        <p:spPr>
          <a:xfrm>
            <a:off x="5867280" y="3552840"/>
            <a:ext cx="2712600" cy="664560"/>
          </a:xfrm>
          <a:prstGeom prst="roundRect">
            <a:avLst>
              <a:gd name="adj" fmla="val 10000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8" name=""/>
          <p:cNvSpPr/>
          <p:nvPr/>
        </p:nvSpPr>
        <p:spPr>
          <a:xfrm>
            <a:off x="5915160" y="3571920"/>
            <a:ext cx="2617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430" spc="-1" strike="noStrike">
                <a:solidFill>
                  <a:srgbClr val="111111"/>
                </a:solidFill>
                <a:latin typeface="SimSun"/>
                <a:ea typeface="SimSun"/>
              </a:rPr>
              <a:t>元数据专家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489" name=""/>
          <p:cNvSpPr/>
          <p:nvPr/>
        </p:nvSpPr>
        <p:spPr>
          <a:xfrm>
            <a:off x="5934240" y="3828960"/>
            <a:ext cx="2579040" cy="35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子系统 </a:t>
            </a:r>
            <a:r>
              <a:rPr b="0" i="1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/ </a:t>
            </a: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文档类型 </a:t>
            </a:r>
            <a:r>
              <a:rPr b="0" i="1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/</a:t>
            </a:r>
            <a:endParaRPr b="0" lang="en-US" sz="117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版本过滤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490" name=""/>
          <p:cNvSpPr/>
          <p:nvPr/>
        </p:nvSpPr>
        <p:spPr>
          <a:xfrm flipV="1">
            <a:off x="5172120" y="1707480"/>
            <a:ext cx="693000" cy="104076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491" name=""/>
          <p:cNvSpPr/>
          <p:nvPr/>
        </p:nvSpPr>
        <p:spPr>
          <a:xfrm flipV="1">
            <a:off x="5172120" y="2412360"/>
            <a:ext cx="693000" cy="33588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492" name=""/>
          <p:cNvSpPr/>
          <p:nvPr/>
        </p:nvSpPr>
        <p:spPr>
          <a:xfrm>
            <a:off x="5172120" y="2752560"/>
            <a:ext cx="693000" cy="38844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493" name=""/>
          <p:cNvSpPr/>
          <p:nvPr/>
        </p:nvSpPr>
        <p:spPr>
          <a:xfrm>
            <a:off x="5172120" y="2752560"/>
            <a:ext cx="693000" cy="113148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494" name=""/>
          <p:cNvSpPr/>
          <p:nvPr/>
        </p:nvSpPr>
        <p:spPr>
          <a:xfrm>
            <a:off x="9010800" y="1943280"/>
            <a:ext cx="1397880" cy="1617120"/>
          </a:xfrm>
          <a:prstGeom prst="roundRect">
            <a:avLst>
              <a:gd name="adj" fmla="val 4762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5" name=""/>
          <p:cNvSpPr/>
          <p:nvPr/>
        </p:nvSpPr>
        <p:spPr>
          <a:xfrm>
            <a:off x="9058320" y="2228760"/>
            <a:ext cx="1302840" cy="56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候选</a:t>
            </a:r>
            <a:endParaRPr b="0" lang="en-US" sz="1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归一化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496" name=""/>
          <p:cNvSpPr/>
          <p:nvPr/>
        </p:nvSpPr>
        <p:spPr>
          <a:xfrm>
            <a:off x="9077400" y="2838600"/>
            <a:ext cx="126468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统一不同元数据中的</a:t>
            </a:r>
            <a:endParaRPr b="0" lang="en-US" sz="117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证据单元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497" name=""/>
          <p:cNvSpPr/>
          <p:nvPr/>
        </p:nvSpPr>
        <p:spPr>
          <a:xfrm>
            <a:off x="8848800" y="2705040"/>
            <a:ext cx="159840" cy="45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498" name=""/>
          <p:cNvSpPr/>
          <p:nvPr/>
        </p:nvSpPr>
        <p:spPr>
          <a:xfrm>
            <a:off x="10544040" y="1895400"/>
            <a:ext cx="1502640" cy="1760040"/>
          </a:xfrm>
          <a:prstGeom prst="roundRect">
            <a:avLst>
              <a:gd name="adj" fmla="val 4430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9" name=""/>
          <p:cNvSpPr/>
          <p:nvPr/>
        </p:nvSpPr>
        <p:spPr>
          <a:xfrm>
            <a:off x="10591920" y="2028960"/>
            <a:ext cx="1407600" cy="54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控制对象</a:t>
            </a:r>
            <a:endParaRPr b="0" lang="en-US" sz="1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风险评分器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500" name=""/>
          <p:cNvSpPr/>
          <p:nvPr/>
        </p:nvSpPr>
        <p:spPr>
          <a:xfrm>
            <a:off x="10611000" y="2581200"/>
            <a:ext cx="13694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Sᵣ(c | q)</a:t>
            </a:r>
            <a:endParaRPr b="0" lang="en-US" sz="117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区域 </a:t>
            </a:r>
            <a:r>
              <a:rPr b="0" i="1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· </a:t>
            </a: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子系统</a:t>
            </a:r>
            <a:endParaRPr b="0" lang="en-US" sz="117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设备 </a:t>
            </a:r>
            <a:r>
              <a:rPr b="0" i="1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· </a:t>
            </a: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信号</a:t>
            </a:r>
            <a:endParaRPr b="0" lang="en-US" sz="117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限定符 </a:t>
            </a:r>
            <a:r>
              <a:rPr b="0" i="1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· </a:t>
            </a: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有效性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501" name=""/>
          <p:cNvSpPr/>
          <p:nvPr/>
        </p:nvSpPr>
        <p:spPr>
          <a:xfrm>
            <a:off x="10410840" y="2752560"/>
            <a:ext cx="131040" cy="21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502" name=""/>
          <p:cNvSpPr/>
          <p:nvPr/>
        </p:nvSpPr>
        <p:spPr>
          <a:xfrm>
            <a:off x="12192120" y="1895400"/>
            <a:ext cx="1455120" cy="1760040"/>
          </a:xfrm>
          <a:prstGeom prst="roundRect">
            <a:avLst>
              <a:gd name="adj" fmla="val 4575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3" name=""/>
          <p:cNvSpPr/>
          <p:nvPr/>
        </p:nvSpPr>
        <p:spPr>
          <a:xfrm>
            <a:off x="12239640" y="2057400"/>
            <a:ext cx="13600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20" spc="-1" strike="noStrike">
                <a:solidFill>
                  <a:srgbClr val="111111"/>
                </a:solidFill>
                <a:latin typeface="SimSun"/>
                <a:ea typeface="SimSun"/>
              </a:rPr>
              <a:t>风险感知</a:t>
            </a:r>
            <a:endParaRPr b="0" lang="en-US" sz="132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zh-CN" sz="1320" spc="-1" strike="noStrike">
                <a:solidFill>
                  <a:srgbClr val="111111"/>
                </a:solidFill>
                <a:latin typeface="SimSun"/>
                <a:ea typeface="SimSun"/>
              </a:rPr>
              <a:t>融合 </a:t>
            </a:r>
            <a:r>
              <a:rPr b="1" lang="en-US" sz="1320" spc="-1" strike="noStrike">
                <a:solidFill>
                  <a:srgbClr val="111111"/>
                </a:solidFill>
                <a:latin typeface="SimSun"/>
                <a:ea typeface="SimSun"/>
              </a:rPr>
              <a:t>/ </a:t>
            </a:r>
            <a:r>
              <a:rPr b="1" lang="zh-CN" sz="1320" spc="-1" strike="noStrike">
                <a:solidFill>
                  <a:srgbClr val="111111"/>
                </a:solidFill>
                <a:latin typeface="SimSun"/>
                <a:ea typeface="SimSun"/>
              </a:rPr>
              <a:t>重排序</a:t>
            </a:r>
            <a:endParaRPr b="0" lang="en-US" sz="1320" spc="-1" strike="noStrike">
              <a:latin typeface="Arial"/>
            </a:endParaRPr>
          </a:p>
        </p:txBody>
      </p:sp>
      <p:sp>
        <p:nvSpPr>
          <p:cNvPr id="504" name=""/>
          <p:cNvSpPr/>
          <p:nvPr/>
        </p:nvSpPr>
        <p:spPr>
          <a:xfrm>
            <a:off x="12258720" y="2638440"/>
            <a:ext cx="132192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zh-CN" sz="1200" spc="-1" strike="noStrike">
                <a:solidFill>
                  <a:srgbClr val="111111"/>
                </a:solidFill>
                <a:latin typeface="SimSun"/>
                <a:ea typeface="SimSun"/>
              </a:rPr>
              <a:t>相关性 </a:t>
            </a:r>
            <a:r>
              <a:rPr b="0" i="1" lang="en-US" sz="1200" spc="-1" strike="noStrike">
                <a:solidFill>
                  <a:srgbClr val="111111"/>
                </a:solidFill>
                <a:latin typeface="SimSun"/>
                <a:ea typeface="SimSun"/>
              </a:rPr>
              <a:t>+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zh-CN" sz="1200" spc="-1" strike="noStrike">
                <a:solidFill>
                  <a:srgbClr val="111111"/>
                </a:solidFill>
                <a:latin typeface="SimSun"/>
                <a:ea typeface="SimSun"/>
              </a:rPr>
              <a:t>结构风险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111111"/>
                </a:solidFill>
                <a:latin typeface="SimSun"/>
                <a:ea typeface="SimSun"/>
              </a:rPr>
              <a:t>S(c | q, r)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05" name=""/>
          <p:cNvSpPr/>
          <p:nvPr/>
        </p:nvSpPr>
        <p:spPr>
          <a:xfrm>
            <a:off x="12049200" y="2776680"/>
            <a:ext cx="1407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506" name=""/>
          <p:cNvSpPr/>
          <p:nvPr/>
        </p:nvSpPr>
        <p:spPr>
          <a:xfrm>
            <a:off x="13773240" y="1895400"/>
            <a:ext cx="1521720" cy="1760040"/>
          </a:xfrm>
          <a:prstGeom prst="roundRect">
            <a:avLst>
              <a:gd name="adj" fmla="val 4375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7" name=""/>
          <p:cNvSpPr/>
          <p:nvPr/>
        </p:nvSpPr>
        <p:spPr>
          <a:xfrm>
            <a:off x="13820760" y="2085840"/>
            <a:ext cx="1426680" cy="5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置信度 </a:t>
            </a:r>
            <a:r>
              <a:rPr b="1" lang="en-US" sz="1350" spc="-1" strike="noStrike">
                <a:solidFill>
                  <a:srgbClr val="111111"/>
                </a:solidFill>
                <a:latin typeface="SimSun"/>
                <a:ea typeface="SimSun"/>
              </a:rPr>
              <a:t>/</a:t>
            </a:r>
            <a:endParaRPr b="0" lang="en-US" sz="1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拒答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508" name=""/>
          <p:cNvSpPr/>
          <p:nvPr/>
        </p:nvSpPr>
        <p:spPr>
          <a:xfrm>
            <a:off x="13839840" y="2638440"/>
            <a:ext cx="138852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回答 </a:t>
            </a:r>
            <a:r>
              <a:rPr b="0" i="1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/ </a:t>
            </a: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请求澄清 </a:t>
            </a:r>
            <a:r>
              <a:rPr b="0" i="1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/</a:t>
            </a:r>
            <a:endParaRPr b="0" lang="en-US" sz="117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拒绝回答</a:t>
            </a:r>
            <a:endParaRPr b="0" lang="en-US" sz="117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p(a | q, c)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509" name=""/>
          <p:cNvSpPr/>
          <p:nvPr/>
        </p:nvSpPr>
        <p:spPr>
          <a:xfrm>
            <a:off x="13649400" y="2776680"/>
            <a:ext cx="121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510" name=""/>
          <p:cNvSpPr/>
          <p:nvPr/>
        </p:nvSpPr>
        <p:spPr>
          <a:xfrm>
            <a:off x="15411600" y="1895400"/>
            <a:ext cx="1188360" cy="1760040"/>
          </a:xfrm>
          <a:prstGeom prst="roundRect">
            <a:avLst>
              <a:gd name="adj" fmla="val 5600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1" name=""/>
          <p:cNvSpPr/>
          <p:nvPr/>
        </p:nvSpPr>
        <p:spPr>
          <a:xfrm>
            <a:off x="15459120" y="2238480"/>
            <a:ext cx="1093320" cy="58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生成</a:t>
            </a:r>
            <a:endParaRPr b="0" lang="en-US" sz="1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答案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512" name=""/>
          <p:cNvSpPr/>
          <p:nvPr/>
        </p:nvSpPr>
        <p:spPr>
          <a:xfrm>
            <a:off x="15478200" y="2895480"/>
            <a:ext cx="105516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350" spc="-1" strike="noStrike">
                <a:solidFill>
                  <a:srgbClr val="111111"/>
                </a:solidFill>
                <a:latin typeface="SimSun"/>
                <a:ea typeface="SimSun"/>
              </a:rPr>
              <a:t>a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513" name=""/>
          <p:cNvSpPr/>
          <p:nvPr/>
        </p:nvSpPr>
        <p:spPr>
          <a:xfrm>
            <a:off x="15297120" y="2776680"/>
            <a:ext cx="1123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514" name=""/>
          <p:cNvSpPr/>
          <p:nvPr/>
        </p:nvSpPr>
        <p:spPr>
          <a:xfrm>
            <a:off x="324000" y="5362560"/>
            <a:ext cx="2979000" cy="2312280"/>
          </a:xfrm>
          <a:prstGeom prst="roundRect">
            <a:avLst>
              <a:gd name="adj" fmla="val 5350"/>
            </a:avLst>
          </a:prstGeom>
          <a:noFill/>
          <a:ln w="11906">
            <a:solidFill>
              <a:srgbClr val="22222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5" name=""/>
          <p:cNvSpPr/>
          <p:nvPr/>
        </p:nvSpPr>
        <p:spPr>
          <a:xfrm>
            <a:off x="514440" y="5391000"/>
            <a:ext cx="1807560" cy="2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zh-CN" sz="1500" spc="-1" strike="noStrike">
                <a:solidFill>
                  <a:srgbClr val="111111"/>
                </a:solidFill>
                <a:latin typeface="SimSun"/>
                <a:ea typeface="SimSun"/>
              </a:rPr>
              <a:t>数据来源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516" name=""/>
          <p:cNvSpPr/>
          <p:nvPr/>
        </p:nvSpPr>
        <p:spPr>
          <a:xfrm>
            <a:off x="476280" y="5715000"/>
            <a:ext cx="2474280" cy="864720"/>
          </a:xfrm>
          <a:prstGeom prst="roundRect">
            <a:avLst>
              <a:gd name="adj" fmla="val 7692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7" name=""/>
          <p:cNvSpPr/>
          <p:nvPr/>
        </p:nvSpPr>
        <p:spPr>
          <a:xfrm>
            <a:off x="523800" y="5762520"/>
            <a:ext cx="237924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加速器</a:t>
            </a:r>
            <a:endParaRPr b="0" lang="en-US" sz="1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文档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518" name=""/>
          <p:cNvSpPr/>
          <p:nvPr/>
        </p:nvSpPr>
        <p:spPr>
          <a:xfrm>
            <a:off x="542880" y="6238800"/>
            <a:ext cx="23410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zh-CN" sz="1090" spc="-1" strike="noStrike">
                <a:solidFill>
                  <a:srgbClr val="111111"/>
                </a:solidFill>
                <a:latin typeface="SimSun"/>
                <a:ea typeface="SimSun"/>
              </a:rPr>
              <a:t>手册 </a:t>
            </a:r>
            <a:r>
              <a:rPr b="0" i="1" lang="en-US" sz="1090" spc="-1" strike="noStrike">
                <a:solidFill>
                  <a:srgbClr val="111111"/>
                </a:solidFill>
                <a:latin typeface="SimSun"/>
                <a:ea typeface="SimSun"/>
              </a:rPr>
              <a:t>/ </a:t>
            </a:r>
            <a:r>
              <a:rPr b="0" i="1" lang="zh-CN" sz="1090" spc="-1" strike="noStrike">
                <a:solidFill>
                  <a:srgbClr val="111111"/>
                </a:solidFill>
                <a:latin typeface="SimSun"/>
                <a:ea typeface="SimSun"/>
              </a:rPr>
              <a:t>报告 </a:t>
            </a:r>
            <a:r>
              <a:rPr b="0" i="1" lang="en-US" sz="1090" spc="-1" strike="noStrike">
                <a:solidFill>
                  <a:srgbClr val="111111"/>
                </a:solidFill>
                <a:latin typeface="SimSun"/>
                <a:ea typeface="SimSun"/>
              </a:rPr>
              <a:t>/</a:t>
            </a:r>
            <a:endParaRPr b="0" lang="en-US" sz="109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zh-CN" sz="1090" spc="-1" strike="noStrike">
                <a:solidFill>
                  <a:srgbClr val="111111"/>
                </a:solidFill>
                <a:latin typeface="SimSun"/>
                <a:ea typeface="SimSun"/>
              </a:rPr>
              <a:t>操作流程</a:t>
            </a:r>
            <a:endParaRPr b="0" lang="en-US" sz="1090" spc="-1" strike="noStrike">
              <a:latin typeface="Arial"/>
            </a:endParaRPr>
          </a:p>
        </p:txBody>
      </p:sp>
      <p:sp>
        <p:nvSpPr>
          <p:cNvPr id="519" name=""/>
          <p:cNvSpPr/>
          <p:nvPr/>
        </p:nvSpPr>
        <p:spPr>
          <a:xfrm>
            <a:off x="476280" y="6657840"/>
            <a:ext cx="2474280" cy="874080"/>
          </a:xfrm>
          <a:prstGeom prst="roundRect">
            <a:avLst>
              <a:gd name="adj" fmla="val 7609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0" name=""/>
          <p:cNvSpPr/>
          <p:nvPr/>
        </p:nvSpPr>
        <p:spPr>
          <a:xfrm>
            <a:off x="523800" y="6705720"/>
            <a:ext cx="237924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20" spc="-1" strike="noStrike">
                <a:solidFill>
                  <a:srgbClr val="111111"/>
                </a:solidFill>
                <a:latin typeface="SimSun"/>
                <a:ea typeface="SimSun"/>
              </a:rPr>
              <a:t>EPICS </a:t>
            </a:r>
            <a:r>
              <a:rPr b="1" lang="zh-CN" sz="1320" spc="-1" strike="noStrike">
                <a:solidFill>
                  <a:srgbClr val="111111"/>
                </a:solidFill>
                <a:latin typeface="SimSun"/>
                <a:ea typeface="SimSun"/>
              </a:rPr>
              <a:t>注册表 </a:t>
            </a:r>
            <a:r>
              <a:rPr b="1" lang="en-US" sz="1320" spc="-1" strike="noStrike">
                <a:solidFill>
                  <a:srgbClr val="111111"/>
                </a:solidFill>
                <a:latin typeface="SimSun"/>
                <a:ea typeface="SimSun"/>
              </a:rPr>
              <a:t>/</a:t>
            </a:r>
            <a:endParaRPr b="0" lang="en-US" sz="132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320" spc="-1" strike="noStrike">
                <a:solidFill>
                  <a:srgbClr val="111111"/>
                </a:solidFill>
                <a:latin typeface="SimSun"/>
                <a:ea typeface="SimSun"/>
              </a:rPr>
              <a:t>IOC-PV </a:t>
            </a:r>
            <a:r>
              <a:rPr b="1" lang="zh-CN" sz="1320" spc="-1" strike="noStrike">
                <a:solidFill>
                  <a:srgbClr val="111111"/>
                </a:solidFill>
                <a:latin typeface="SimSun"/>
                <a:ea typeface="SimSun"/>
              </a:rPr>
              <a:t>元数据</a:t>
            </a:r>
            <a:endParaRPr b="0" lang="en-US" sz="1320" spc="-1" strike="noStrike">
              <a:latin typeface="Arial"/>
            </a:endParaRPr>
          </a:p>
        </p:txBody>
      </p:sp>
      <p:sp>
        <p:nvSpPr>
          <p:cNvPr id="521" name=""/>
          <p:cNvSpPr/>
          <p:nvPr/>
        </p:nvSpPr>
        <p:spPr>
          <a:xfrm>
            <a:off x="542880" y="7191360"/>
            <a:ext cx="234108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090" spc="-1" strike="noStrike">
                <a:solidFill>
                  <a:srgbClr val="111111"/>
                </a:solidFill>
                <a:latin typeface="SimSun"/>
                <a:ea typeface="SimSun"/>
              </a:rPr>
              <a:t>PV / IOC / </a:t>
            </a:r>
            <a:r>
              <a:rPr b="0" i="1" lang="zh-CN" sz="1090" spc="-1" strike="noStrike">
                <a:solidFill>
                  <a:srgbClr val="111111"/>
                </a:solidFill>
                <a:latin typeface="SimSun"/>
                <a:ea typeface="SimSun"/>
              </a:rPr>
              <a:t>区域 </a:t>
            </a:r>
            <a:r>
              <a:rPr b="0" i="1" lang="en-US" sz="1090" spc="-1" strike="noStrike">
                <a:solidFill>
                  <a:srgbClr val="111111"/>
                </a:solidFill>
                <a:latin typeface="SimSun"/>
                <a:ea typeface="SimSun"/>
              </a:rPr>
              <a:t>/ </a:t>
            </a:r>
            <a:r>
              <a:rPr b="0" i="1" lang="zh-CN" sz="1090" spc="-1" strike="noStrike">
                <a:solidFill>
                  <a:srgbClr val="111111"/>
                </a:solidFill>
                <a:latin typeface="SimSun"/>
                <a:ea typeface="SimSun"/>
              </a:rPr>
              <a:t>子系统 </a:t>
            </a:r>
            <a:r>
              <a:rPr b="0" i="1" lang="en-US" sz="1090" spc="-1" strike="noStrike">
                <a:solidFill>
                  <a:srgbClr val="111111"/>
                </a:solidFill>
                <a:latin typeface="SimSun"/>
                <a:ea typeface="SimSun"/>
              </a:rPr>
              <a:t>/</a:t>
            </a:r>
            <a:endParaRPr b="0" lang="en-US" sz="109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zh-CN" sz="1090" spc="-1" strike="noStrike">
                <a:solidFill>
                  <a:srgbClr val="111111"/>
                </a:solidFill>
                <a:latin typeface="SimSun"/>
                <a:ea typeface="SimSun"/>
              </a:rPr>
              <a:t>设备 </a:t>
            </a:r>
            <a:r>
              <a:rPr b="0" i="1" lang="en-US" sz="1090" spc="-1" strike="noStrike">
                <a:solidFill>
                  <a:srgbClr val="111111"/>
                </a:solidFill>
                <a:latin typeface="SimSun"/>
                <a:ea typeface="SimSun"/>
              </a:rPr>
              <a:t>/ </a:t>
            </a:r>
            <a:r>
              <a:rPr b="0" i="1" lang="zh-CN" sz="1090" spc="-1" strike="noStrike">
                <a:solidFill>
                  <a:srgbClr val="111111"/>
                </a:solidFill>
                <a:latin typeface="SimSun"/>
                <a:ea typeface="SimSun"/>
              </a:rPr>
              <a:t>信号</a:t>
            </a:r>
            <a:endParaRPr b="0" lang="en-US" sz="1090" spc="-1" strike="noStrike">
              <a:latin typeface="Arial"/>
            </a:endParaRPr>
          </a:p>
        </p:txBody>
      </p:sp>
      <p:sp>
        <p:nvSpPr>
          <p:cNvPr id="522" name=""/>
          <p:cNvSpPr/>
          <p:nvPr/>
        </p:nvSpPr>
        <p:spPr>
          <a:xfrm>
            <a:off x="3552840" y="6086520"/>
            <a:ext cx="1512360" cy="874080"/>
          </a:xfrm>
          <a:prstGeom prst="roundRect">
            <a:avLst>
              <a:gd name="adj" fmla="val 7609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3" name=""/>
          <p:cNvSpPr/>
          <p:nvPr/>
        </p:nvSpPr>
        <p:spPr>
          <a:xfrm>
            <a:off x="3600360" y="6191280"/>
            <a:ext cx="141696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索引器 </a:t>
            </a:r>
            <a:r>
              <a:rPr b="1" lang="en-US" sz="1350" spc="-1" strike="noStrike">
                <a:solidFill>
                  <a:srgbClr val="111111"/>
                </a:solidFill>
                <a:latin typeface="SimSun"/>
                <a:ea typeface="SimSun"/>
              </a:rPr>
              <a:t>/</a:t>
            </a:r>
            <a:endParaRPr b="0" lang="en-US" sz="1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规范化器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524" name=""/>
          <p:cNvSpPr/>
          <p:nvPr/>
        </p:nvSpPr>
        <p:spPr>
          <a:xfrm>
            <a:off x="2952720" y="6148440"/>
            <a:ext cx="597960" cy="37404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525" name=""/>
          <p:cNvSpPr/>
          <p:nvPr/>
        </p:nvSpPr>
        <p:spPr>
          <a:xfrm flipV="1">
            <a:off x="2952720" y="6522480"/>
            <a:ext cx="597960" cy="56952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526" name=""/>
          <p:cNvSpPr/>
          <p:nvPr/>
        </p:nvSpPr>
        <p:spPr>
          <a:xfrm>
            <a:off x="5295960" y="5353200"/>
            <a:ext cx="3198240" cy="2150640"/>
          </a:xfrm>
          <a:prstGeom prst="roundRect">
            <a:avLst>
              <a:gd name="adj" fmla="val 5752"/>
            </a:avLst>
          </a:prstGeom>
          <a:noFill/>
          <a:ln w="11906">
            <a:solidFill>
              <a:srgbClr val="22222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7" name=""/>
          <p:cNvSpPr/>
          <p:nvPr/>
        </p:nvSpPr>
        <p:spPr>
          <a:xfrm>
            <a:off x="5295960" y="5381640"/>
            <a:ext cx="3198240" cy="2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500" spc="-1" strike="noStrike">
                <a:solidFill>
                  <a:srgbClr val="111111"/>
                </a:solidFill>
                <a:latin typeface="SimSun"/>
                <a:ea typeface="SimSun"/>
              </a:rPr>
              <a:t>多源索引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528" name=""/>
          <p:cNvSpPr/>
          <p:nvPr/>
        </p:nvSpPr>
        <p:spPr>
          <a:xfrm>
            <a:off x="5695920" y="5734080"/>
            <a:ext cx="2588760" cy="350280"/>
          </a:xfrm>
          <a:prstGeom prst="roundRect">
            <a:avLst>
              <a:gd name="adj" fmla="val 18919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9" name=""/>
          <p:cNvSpPr/>
          <p:nvPr/>
        </p:nvSpPr>
        <p:spPr>
          <a:xfrm>
            <a:off x="5743440" y="5753160"/>
            <a:ext cx="249336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40" spc="-1" strike="noStrike">
                <a:solidFill>
                  <a:srgbClr val="111111"/>
                </a:solidFill>
                <a:latin typeface="SimSun"/>
                <a:ea typeface="SimSun"/>
              </a:rPr>
              <a:t>BM25 </a:t>
            </a:r>
            <a:r>
              <a:rPr b="1" lang="zh-CN" sz="1240" spc="-1" strike="noStrike">
                <a:solidFill>
                  <a:srgbClr val="111111"/>
                </a:solidFill>
                <a:latin typeface="SimSun"/>
                <a:ea typeface="SimSun"/>
              </a:rPr>
              <a:t>索引</a:t>
            </a:r>
            <a:endParaRPr b="0" lang="en-US" sz="1240" spc="-1" strike="noStrike">
              <a:latin typeface="Arial"/>
            </a:endParaRPr>
          </a:p>
        </p:txBody>
      </p:sp>
      <p:sp>
        <p:nvSpPr>
          <p:cNvPr id="530" name=""/>
          <p:cNvSpPr/>
          <p:nvPr/>
        </p:nvSpPr>
        <p:spPr>
          <a:xfrm>
            <a:off x="5695920" y="6153120"/>
            <a:ext cx="2588760" cy="350280"/>
          </a:xfrm>
          <a:prstGeom prst="roundRect">
            <a:avLst>
              <a:gd name="adj" fmla="val 18919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1" name=""/>
          <p:cNvSpPr/>
          <p:nvPr/>
        </p:nvSpPr>
        <p:spPr>
          <a:xfrm>
            <a:off x="5743440" y="6172200"/>
            <a:ext cx="249336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240" spc="-1" strike="noStrike">
                <a:solidFill>
                  <a:srgbClr val="111111"/>
                </a:solidFill>
                <a:latin typeface="SimSun"/>
                <a:ea typeface="SimSun"/>
              </a:rPr>
              <a:t>稠密向量库</a:t>
            </a:r>
            <a:endParaRPr b="0" lang="en-US" sz="1240" spc="-1" strike="noStrike">
              <a:latin typeface="Arial"/>
            </a:endParaRPr>
          </a:p>
        </p:txBody>
      </p:sp>
      <p:sp>
        <p:nvSpPr>
          <p:cNvPr id="532" name=""/>
          <p:cNvSpPr/>
          <p:nvPr/>
        </p:nvSpPr>
        <p:spPr>
          <a:xfrm>
            <a:off x="5695920" y="6581880"/>
            <a:ext cx="2588760" cy="350280"/>
          </a:xfrm>
          <a:prstGeom prst="roundRect">
            <a:avLst>
              <a:gd name="adj" fmla="val 18919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3" name=""/>
          <p:cNvSpPr/>
          <p:nvPr/>
        </p:nvSpPr>
        <p:spPr>
          <a:xfrm>
            <a:off x="5743440" y="6600960"/>
            <a:ext cx="249336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240" spc="-1" strike="noStrike">
                <a:solidFill>
                  <a:srgbClr val="111111"/>
                </a:solidFill>
                <a:latin typeface="SimSun"/>
                <a:ea typeface="SimSun"/>
              </a:rPr>
              <a:t>注册表存储</a:t>
            </a:r>
            <a:endParaRPr b="0" lang="en-US" sz="1240" spc="-1" strike="noStrike">
              <a:latin typeface="Arial"/>
            </a:endParaRPr>
          </a:p>
        </p:txBody>
      </p:sp>
      <p:sp>
        <p:nvSpPr>
          <p:cNvPr id="534" name=""/>
          <p:cNvSpPr/>
          <p:nvPr/>
        </p:nvSpPr>
        <p:spPr>
          <a:xfrm>
            <a:off x="5695920" y="7000920"/>
            <a:ext cx="2588760" cy="350280"/>
          </a:xfrm>
          <a:prstGeom prst="roundRect">
            <a:avLst>
              <a:gd name="adj" fmla="val 18919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5" name=""/>
          <p:cNvSpPr/>
          <p:nvPr/>
        </p:nvSpPr>
        <p:spPr>
          <a:xfrm>
            <a:off x="5743440" y="7020000"/>
            <a:ext cx="249336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240" spc="-1" strike="noStrike">
                <a:solidFill>
                  <a:srgbClr val="111111"/>
                </a:solidFill>
                <a:latin typeface="SimSun"/>
                <a:ea typeface="SimSun"/>
              </a:rPr>
              <a:t>元数据存储</a:t>
            </a:r>
            <a:endParaRPr b="0" lang="en-US" sz="1240" spc="-1" strike="noStrike">
              <a:latin typeface="Arial"/>
            </a:endParaRPr>
          </a:p>
        </p:txBody>
      </p:sp>
      <p:sp>
        <p:nvSpPr>
          <p:cNvPr id="536" name=""/>
          <p:cNvSpPr/>
          <p:nvPr/>
        </p:nvSpPr>
        <p:spPr>
          <a:xfrm flipV="1">
            <a:off x="5067360" y="5907960"/>
            <a:ext cx="626400" cy="61236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537" name=""/>
          <p:cNvSpPr/>
          <p:nvPr/>
        </p:nvSpPr>
        <p:spPr>
          <a:xfrm flipV="1">
            <a:off x="5067360" y="6327360"/>
            <a:ext cx="626400" cy="19296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538" name=""/>
          <p:cNvSpPr/>
          <p:nvPr/>
        </p:nvSpPr>
        <p:spPr>
          <a:xfrm>
            <a:off x="5067360" y="6524640"/>
            <a:ext cx="626400" cy="23112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539" name=""/>
          <p:cNvSpPr/>
          <p:nvPr/>
        </p:nvSpPr>
        <p:spPr>
          <a:xfrm>
            <a:off x="5067360" y="6524640"/>
            <a:ext cx="626400" cy="65016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540" name=""/>
          <p:cNvSpPr/>
          <p:nvPr/>
        </p:nvSpPr>
        <p:spPr>
          <a:xfrm>
            <a:off x="8772480" y="5353200"/>
            <a:ext cx="7760880" cy="2179080"/>
          </a:xfrm>
          <a:prstGeom prst="roundRect">
            <a:avLst>
              <a:gd name="adj" fmla="val 5677"/>
            </a:avLst>
          </a:prstGeom>
          <a:noFill/>
          <a:ln w="11906">
            <a:solidFill>
              <a:srgbClr val="22222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1" name=""/>
          <p:cNvSpPr/>
          <p:nvPr/>
        </p:nvSpPr>
        <p:spPr>
          <a:xfrm>
            <a:off x="8962920" y="5381640"/>
            <a:ext cx="2664720" cy="2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zh-CN" sz="1500" spc="-1" strike="noStrike">
                <a:solidFill>
                  <a:srgbClr val="111111"/>
                </a:solidFill>
                <a:latin typeface="SimSun"/>
                <a:ea typeface="SimSun"/>
              </a:rPr>
              <a:t>训练与基准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542" name=""/>
          <p:cNvSpPr/>
          <p:nvPr/>
        </p:nvSpPr>
        <p:spPr>
          <a:xfrm>
            <a:off x="8896320" y="5896080"/>
            <a:ext cx="2683800" cy="1169280"/>
          </a:xfrm>
          <a:prstGeom prst="roundRect">
            <a:avLst>
              <a:gd name="adj" fmla="val 5691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3" name=""/>
          <p:cNvSpPr/>
          <p:nvPr/>
        </p:nvSpPr>
        <p:spPr>
          <a:xfrm>
            <a:off x="8943840" y="6076800"/>
            <a:ext cx="258876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20" spc="-1" strike="noStrike">
                <a:solidFill>
                  <a:srgbClr val="111111"/>
                </a:solidFill>
                <a:latin typeface="SimSun"/>
                <a:ea typeface="SimSun"/>
              </a:rPr>
              <a:t>结构保持</a:t>
            </a:r>
            <a:endParaRPr b="0" lang="en-US" sz="132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zh-CN" sz="1320" spc="-1" strike="noStrike">
                <a:solidFill>
                  <a:srgbClr val="111111"/>
                </a:solidFill>
                <a:latin typeface="SimSun"/>
                <a:ea typeface="SimSun"/>
              </a:rPr>
              <a:t>反事实负样本</a:t>
            </a:r>
            <a:endParaRPr b="0" lang="en-US" sz="1320" spc="-1" strike="noStrike">
              <a:latin typeface="Arial"/>
            </a:endParaRPr>
          </a:p>
        </p:txBody>
      </p:sp>
      <p:sp>
        <p:nvSpPr>
          <p:cNvPr id="544" name=""/>
          <p:cNvSpPr/>
          <p:nvPr/>
        </p:nvSpPr>
        <p:spPr>
          <a:xfrm>
            <a:off x="11715840" y="5905440"/>
            <a:ext cx="2188440" cy="1140840"/>
          </a:xfrm>
          <a:prstGeom prst="roundRect">
            <a:avLst>
              <a:gd name="adj" fmla="val 5833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5" name=""/>
          <p:cNvSpPr/>
          <p:nvPr/>
        </p:nvSpPr>
        <p:spPr>
          <a:xfrm>
            <a:off x="11763360" y="6086520"/>
            <a:ext cx="2093400" cy="51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风险标注</a:t>
            </a:r>
            <a:endParaRPr b="0" lang="en-US" sz="1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基准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546" name=""/>
          <p:cNvSpPr/>
          <p:nvPr/>
        </p:nvSpPr>
        <p:spPr>
          <a:xfrm>
            <a:off x="11782440" y="6620040"/>
            <a:ext cx="205524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相关性 </a:t>
            </a:r>
            <a:r>
              <a:rPr b="0" i="1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+ </a:t>
            </a: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结构风险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547" name=""/>
          <p:cNvSpPr/>
          <p:nvPr/>
        </p:nvSpPr>
        <p:spPr>
          <a:xfrm>
            <a:off x="14192280" y="5896080"/>
            <a:ext cx="2236320" cy="1159920"/>
          </a:xfrm>
          <a:prstGeom prst="roundRect">
            <a:avLst>
              <a:gd name="adj" fmla="val 5738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8" name=""/>
          <p:cNvSpPr/>
          <p:nvPr/>
        </p:nvSpPr>
        <p:spPr>
          <a:xfrm>
            <a:off x="14239800" y="6019920"/>
            <a:ext cx="2140920" cy="55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结构 </a:t>
            </a:r>
            <a:r>
              <a:rPr b="1" lang="en-US" sz="1350" spc="-1" strike="noStrike">
                <a:solidFill>
                  <a:srgbClr val="111111"/>
                </a:solidFill>
                <a:latin typeface="SimSun"/>
                <a:ea typeface="SimSun"/>
              </a:rPr>
              <a:t>OOD</a:t>
            </a:r>
            <a:endParaRPr b="0" lang="en-US" sz="1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划分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549" name=""/>
          <p:cNvSpPr/>
          <p:nvPr/>
        </p:nvSpPr>
        <p:spPr>
          <a:xfrm>
            <a:off x="14258880" y="6591240"/>
            <a:ext cx="2102760" cy="35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zh-CN" sz="1130" spc="-1" strike="noStrike">
                <a:solidFill>
                  <a:srgbClr val="111111"/>
                </a:solidFill>
                <a:latin typeface="SimSun"/>
                <a:ea typeface="SimSun"/>
              </a:rPr>
              <a:t>泛化至未见</a:t>
            </a:r>
            <a:endParaRPr b="0" lang="en-US" sz="113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zh-CN" sz="1130" spc="-1" strike="noStrike">
                <a:solidFill>
                  <a:srgbClr val="111111"/>
                </a:solidFill>
                <a:latin typeface="SimSun"/>
                <a:ea typeface="SimSun"/>
              </a:rPr>
              <a:t>结构</a:t>
            </a:r>
            <a:endParaRPr b="0" lang="en-US" sz="1130" spc="-1" strike="noStrike">
              <a:latin typeface="Arial"/>
            </a:endParaRPr>
          </a:p>
        </p:txBody>
      </p:sp>
      <p:sp>
        <p:nvSpPr>
          <p:cNvPr id="550" name=""/>
          <p:cNvSpPr/>
          <p:nvPr/>
        </p:nvSpPr>
        <p:spPr>
          <a:xfrm flipV="1">
            <a:off x="11582280" y="6474960"/>
            <a:ext cx="131040" cy="2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551" name=""/>
          <p:cNvSpPr/>
          <p:nvPr/>
        </p:nvSpPr>
        <p:spPr>
          <a:xfrm>
            <a:off x="13906440" y="6477120"/>
            <a:ext cx="283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552" name=""/>
          <p:cNvSpPr/>
          <p:nvPr/>
        </p:nvSpPr>
        <p:spPr>
          <a:xfrm>
            <a:off x="7162920" y="5353200"/>
            <a:ext cx="26280" cy="2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3" name=""/>
          <p:cNvSpPr/>
          <p:nvPr/>
        </p:nvSpPr>
        <p:spPr>
          <a:xfrm flipV="1">
            <a:off x="7223760" y="4217400"/>
            <a:ext cx="360" cy="1131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5240">
            <a:solidFill>
              <a:srgbClr val="111111"/>
            </a:solidFill>
            <a:prstDash val="dash"/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554" name=""/>
          <p:cNvSpPr/>
          <p:nvPr/>
        </p:nvSpPr>
        <p:spPr>
          <a:xfrm>
            <a:off x="11268000" y="5353200"/>
            <a:ext cx="26280" cy="2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5" name=""/>
          <p:cNvSpPr/>
          <p:nvPr/>
        </p:nvSpPr>
        <p:spPr>
          <a:xfrm flipV="1">
            <a:off x="11282400" y="3655440"/>
            <a:ext cx="12240" cy="169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5240">
            <a:solidFill>
              <a:srgbClr val="111111"/>
            </a:solidFill>
            <a:prstDash val="dash"/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556" name=""/>
          <p:cNvSpPr/>
          <p:nvPr/>
        </p:nvSpPr>
        <p:spPr>
          <a:xfrm>
            <a:off x="12897000" y="5353200"/>
            <a:ext cx="26280" cy="2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7" name=""/>
          <p:cNvSpPr/>
          <p:nvPr/>
        </p:nvSpPr>
        <p:spPr>
          <a:xfrm flipV="1">
            <a:off x="12911040" y="3655440"/>
            <a:ext cx="7200" cy="169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5240">
            <a:solidFill>
              <a:srgbClr val="111111"/>
            </a:solidFill>
            <a:prstDash val="dash"/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2026-09-08T08:02:20Z</dcterms:created>
  <dc:creator>Walnut Exporter</dc:creator>
  <dc:description/>
  <dc:language>zh-CN</dc:language>
  <cp:lastModifiedBy/>
  <dcterms:modified xsi:type="dcterms:W3CDTF">2026-09-08T17:18:16Z</dcterms:modified>
  <cp:revision>9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