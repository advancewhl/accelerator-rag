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63" r:id="rId3"/>
    <p:sldMasterId id="2147483664" r:id="rId4"/>
    <p:sldMasterId id="2147483665" r:id="rId5"/>
    <p:sldMasterId id="2147483666" r:id="rId6"/>
    <p:sldMasterId id="2147483667" r:id="rId7"/>
    <p:sldMasterId id="2147483668" r:id="rId8"/>
    <p:sldMasterId id="2147483669" r:id="rId9"/>
  </p:sldMasterIdLst>
  <p:notesMasterIdLst>
    <p:notesMasterId r:id="rId20"/>
  </p:notesMasterIdLst>
  <p:sldIdLst>
    <p:sldId id="256" r:id="rId10"/>
    <p:sldId id="257" r:id="rId11"/>
    <p:sldId id="403" r:id="rId12"/>
    <p:sldId id="404" r:id="rId13"/>
    <p:sldId id="405" r:id="rId14"/>
    <p:sldId id="406" r:id="rId15"/>
    <p:sldId id="407" r:id="rId16"/>
    <p:sldId id="408" r:id="rId17"/>
    <p:sldId id="409" r:id="rId18"/>
    <p:sldId id="410" r:id="rId19"/>
  </p:sldIdLst>
  <p:sldSz cx="16897350" cy="84486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2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依据综合报告第3–7页和导师确认稿第1、10页。按用户要求撤去结构 OOD 独立创新定位，保留为严格验证。C 不宣称首次机器学习选择检索器。</a:t>
            </a:r>
          </a:p>
          <a:p>
            <a:r>
              <a:t>资料依据：SHINE_EPICS_风险敏感混合检索_综合研究设计报告.pdf，第3–13页；SHINE_RAG_资料库_Benchmark与实施路线_导师确认稿.pdf，第6–10页；SHINE_Adaptive_Retriever_汇报PPT_学术优化版.pptx，第6–11页。背景参考 RAG_development_report_2020_2026_CN.pdf。以下为拟研究方案，没有已完成实验的结果。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MLP 为本修订提出的可实现首版。E_i 是人工风险标注计算的候选暴露，C_i 是统一归一化实测成本。模型先单独训练，与风险评分器分开以利归因。若启用 Top-m 或预算策略，必须在相同策略空间重算效用和 Oracle，不能把融合权重当作已实现的调用节约。</a:t>
            </a:r>
          </a:p>
          <a:p>
            <a:r>
              <a:t>资料依据：SHINE_EPICS_风险敏感混合检索_综合研究设计报告.pdf，第3–13页；SHINE_RAG_资料库_Benchmark与实施路线_导师确认稿.pdf，第6–10页；SHINE_Adaptive_Retriever_汇报PPT_学术优化版.pptx，第6–11页。背景参考 RAG_development_report_2020_2026_CN.pdf。以下为拟研究方案，没有已完成实验的结果。</a:t>
            </a:r>
          </a:p>
          <a:p>
            <a:r>
              <a:t>w_i(q)=\frac{\exp f_{\theta,i}(\phi(q))}{\sum_{j=1}^{M}\exp f_{\theta,j}(\phi(q))}</a:t>
            </a:r>
          </a:p>
          <a:p>
            <a:r>
              <a:t>U_i(q)=\operatorname{nDCG}@K_i(q)-\lambda_r E_i(q)-\lambda_c C_i(q)</a:t>
            </a:r>
          </a:p>
          <a:p>
            <a:r>
              <a:t>y_i(q)=\frac{\exp(U_i(q)/T)}{\sum_j\exp(U_j(q)/T)},\qquad \mathcal L_{\mathrm{route}}=-\sum_q\sum_i y_i(q)\log w_i(q)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掩码 a_j(q) 对查询不适用的字段置零；invalid 检查依赖冻结 Registry 快照的覆盖范围。风险预测使用逐字段标签，未知与冲突分开。g_cal 使用独立校准集，不使用候选 softmax 冒充正确性概率。无第二候选时定义缺失特征。校准和阈值选择均不得利用测试集。</a:t>
            </a:r>
          </a:p>
          <a:p>
            <a:r>
              <a:t>资料依据：SHINE_EPICS_风险敏感混合检索_综合研究设计报告.pdf，第3–13页；SHINE_RAG_资料库_Benchmark与实施路线_导师确认稿.pdf，第6–10页；SHINE_Adaptive_Retriever_汇报PPT_学术优化版.pptx，第6–11页。背景参考 RAG_development_report_2020_2026_CN.pdf。以下为拟研究方案，没有已完成实验的结果。</a:t>
            </a:r>
          </a:p>
          <a:p>
            <a:r>
              <a:t>R(q,d)=\sum_{j\in\mathcal J}\lambda_j a_j(q)\,\widehat p_j(q,d),\qquad \sum_j\lambda_j=1</a:t>
            </a:r>
          </a:p>
          <a:p>
            <a:r>
              <a:t>S_{\mathrm{RRF}}(q,d)=\sum_{i:d\in C_i(q)}\frac{w_i(q)}{k_0+r_i(q,d)}</a:t>
            </a:r>
          </a:p>
          <a:p>
            <a:r>
              <a:t>S(q,d)=\alpha\widetilde S_{\mathrm{rel}}(q,d)+(1-\alpha)\widetilde S_{\mathrm{RRF}}(q,d)-\gamma R(q,d)</a:t>
            </a:r>
          </a:p>
          <a:p>
            <a:r>
              <a:t>\widehat p_{\mathrm{ok}}(q)=g_{\mathrm{cal}}\!\left(S_1,S_1-S_2,R_1,\mathrm{validity},\mathrm{agreement}\right)</a:t>
            </a:r>
          </a:p>
          <a:p>
            <a:r>
              <a:t>\mathrm{answer}\iff\widehat p_{\mathrm{ok}}\ge t_p\ \land\ R_1\le t_R\ \land\ \mathrm{evidence\ sufficient}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结构字段按类别不等指示计数，避免对类别编码做数值相减。单字段关系只约束真实字段交换子集，invalid 样本另行构建，不强称其同样满足单字段等式。示例是概念说明，并非确认存在的 SHINE PV。训练损失按批次平均，超参数开发集选择。结构反事实仅指受控样本变换，不是物理因果识别。</a:t>
            </a:r>
          </a:p>
          <a:p>
            <a:r>
              <a:t>资料依据：SHINE_EPICS_风险敏感混合检索_综合研究设计报告.pdf，第3–13页；SHINE_RAG_资料库_Benchmark与实施路线_导师确认稿.pdf，第6–10页；SHINE_Adaptive_Retriever_汇报PPT_学术优化版.pptx，第6–11页。背景参考 RAG_development_report_2020_2026_CN.pdf。以下为拟研究方案，没有已完成实验的结果。</a:t>
            </a:r>
          </a:p>
          <a:p>
            <a:r>
              <a:t>d_j^-=T_j(d^+),\qquad \sum_{\ell}\mathbf 1[z_\ell(d_j^-)\ne z_\ell(d^+)]=1</a:t>
            </a:r>
          </a:p>
          <a:p>
            <a:r>
              <a:t>\mathcal L_{\mathrm{rank}}=-\log\frac{\exp(s^+/T)}{\exp(s^+/T)+\sum_j\exp(s_j^-/T)}</a:t>
            </a:r>
          </a:p>
          <a:p>
            <a:r>
              <a:t>\mathcal L_{\mathrm{risk}}=\sum_{j\in\mathcal J}\omega_j\,\operatorname{BCE}(\widehat p_j,e_j),\quad \mathcal L_{\mathrm{cf}}=\sum_j[\,m_j+s_j^--s^+\,]_+</a:t>
            </a:r>
          </a:p>
          <a:p>
            <a:r>
              <a:t>\mathcal L=\mathcal L_{\mathrm{rank}}+\beta\mathcal L_{\mathrm{risk}}+\eta\mathcal L_{\mathrm{cf}}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Exposure 对有返回的查询计算并注明分母，同时报告零返回率、召回和覆盖率。A_t 为通过阈值并实际回答的查询集合，wrong 来源人工真值。Oracle 策略空间包含固定混合，确保其定义有明确基线；U_fixed 为查询平均固定策略效用，使用同一候选预算与归一化尺度。Oracle 仅为离线上限，不是可部署结果。删除原 rnDCG 的负增益定义，避免非标准归一化争议。</a:t>
            </a:r>
          </a:p>
          <a:p>
            <a:r>
              <a:t>资料依据：SHINE_EPICS_风险敏感混合检索_综合研究设计报告.pdf，第3–13页；SHINE_RAG_资料库_Benchmark与实施路线_导师确认稿.pdf，第6–10页；SHINE_Adaptive_Retriever_汇报PPT_学术优化版.pptx，第6–11页。背景参考 RAG_development_report_2020_2026_CN.pdf。以下为拟研究方案，没有已完成实验的结果。</a:t>
            </a:r>
          </a:p>
          <a:p>
            <a:r>
              <a:t>\operatorname{Exposure}@K=\frac{1}{|Q_+|}\sum_{q\in Q_+}\frac{\sum_{d\in C_K(q)}\mathbf1[d\in D_q^{\mathrm{risk}}]}{|C_K(q)|}</a:t>
            </a:r>
          </a:p>
          <a:p>
            <a:r>
              <a:t>\operatorname{Coverage}(t)=\frac{|A_t|}{|Q|},\qquad\operatorname{SelRisk}(t)=\frac{\sum_{q\in A_t}\mathbf1[\mathrm{answer\ wrong}]}{|A_t|}</a:t>
            </a:r>
          </a:p>
          <a:p>
            <a:r>
              <a:t>\Delta_{\mathrm{oracle}}=\frac{1}{|Q|}\sum_q\max_{\pi\in\Pi}U(q,\pi)-U_{\mathrm{fixed}},\quad\pi_{\mathrm{fixed}}\in\Pi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技术路线不承诺固定时间。第03和04阶段可以共享冻结数据与特征工程，但独立训练、逐项归因。先在 v0.1 80–120条审核查询上建立基线与 Oracle 诊断，随后按数据充分性扩充训练集；测试集冻结，超参数仅使用开发集，独立校准集拟合输出置信度。导师确认稿第8、10–12页。</a:t>
            </a:r>
          </a:p>
          <a:p>
            <a:r>
              <a:t>资料依据：SHINE_EPICS_风险敏感混合检索_综合研究设计报告.pdf，第3–13页；SHINE_RAG_资料库_Benchmark与实施路线_导师确认稿.pdf，第6–10页；SHINE_Adaptive_Retriever_汇报PPT_学术优化版.pptx，第6–11页。背景参考 RAG_development_report_2020_2026_CN.pdf。以下为拟研究方案，没有已完成实验的结果。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127F9102-BE93-43B0-A109-93DB0CCE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300CA582-5F00-458D-9138-1D755A212AB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44560" y="1976760"/>
            <a:ext cx="15207120" cy="48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DCFDA3A3-C797-4C88-B3A4-35F05E83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5" name="PlaceHolder 2">
            <a:extLst>
              <a:ext uri="{FF2B5EF4-FFF2-40B4-BE49-F238E27FC236}">
                <a16:creationId xmlns:a16="http://schemas.microsoft.com/office/drawing/2014/main" id="{91287767-06F7-4632-AB40-F5FF88CF31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1976760"/>
            <a:ext cx="15207120" cy="48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>
            <a:extLst>
              <a:ext uri="{FF2B5EF4-FFF2-40B4-BE49-F238E27FC236}">
                <a16:creationId xmlns:a16="http://schemas.microsoft.com/office/drawing/2014/main" id="{3F1ED1DD-966D-460F-956D-591A19EC8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EB810044-5D03-441C-993B-3C2220EA7BD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1976760"/>
            <a:ext cx="7421040" cy="48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8" name="PlaceHolder 3">
            <a:extLst>
              <a:ext uri="{FF2B5EF4-FFF2-40B4-BE49-F238E27FC236}">
                <a16:creationId xmlns:a16="http://schemas.microsoft.com/office/drawing/2014/main" id="{AA81E20E-BE47-4CC7-B163-A02D21ABFD6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37120" y="1976760"/>
            <a:ext cx="7421040" cy="48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>
            <a:extLst>
              <a:ext uri="{FF2B5EF4-FFF2-40B4-BE49-F238E27FC236}">
                <a16:creationId xmlns:a16="http://schemas.microsoft.com/office/drawing/2014/main" id="{DB9E4C78-4580-45B9-8602-BDA42EB41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>
            <a:extLst>
              <a:ext uri="{FF2B5EF4-FFF2-40B4-BE49-F238E27FC236}">
                <a16:creationId xmlns:a16="http://schemas.microsoft.com/office/drawing/2014/main" id="{EE592D62-9A7A-4D23-908A-6DB8777A822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44560" y="336960"/>
            <a:ext cx="15207120" cy="653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>
            <a:extLst>
              <a:ext uri="{FF2B5EF4-FFF2-40B4-BE49-F238E27FC236}">
                <a16:creationId xmlns:a16="http://schemas.microsoft.com/office/drawing/2014/main" id="{7CDF37AE-02B1-48F3-B525-C9892B2D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12" name="PlaceHolder 2">
            <a:extLst>
              <a:ext uri="{FF2B5EF4-FFF2-40B4-BE49-F238E27FC236}">
                <a16:creationId xmlns:a16="http://schemas.microsoft.com/office/drawing/2014/main" id="{E408DA1C-35D2-4AEE-9D43-AA97EF59F32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13" name="PlaceHolder 3">
            <a:extLst>
              <a:ext uri="{FF2B5EF4-FFF2-40B4-BE49-F238E27FC236}">
                <a16:creationId xmlns:a16="http://schemas.microsoft.com/office/drawing/2014/main" id="{46DFA6FF-F891-4CCE-9714-9BD2C9BBE03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37120" y="1976760"/>
            <a:ext cx="7421040" cy="48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14" name="PlaceHolder 4">
            <a:extLst>
              <a:ext uri="{FF2B5EF4-FFF2-40B4-BE49-F238E27FC236}">
                <a16:creationId xmlns:a16="http://schemas.microsoft.com/office/drawing/2014/main" id="{808086B6-8117-4FAE-A58B-603187A2FAA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45363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>
            <a:extLst>
              <a:ext uri="{FF2B5EF4-FFF2-40B4-BE49-F238E27FC236}">
                <a16:creationId xmlns:a16="http://schemas.microsoft.com/office/drawing/2014/main" id="{E31CA345-802D-4C79-B6B6-9176B2359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16" name="PlaceHolder 2">
            <a:extLst>
              <a:ext uri="{FF2B5EF4-FFF2-40B4-BE49-F238E27FC236}">
                <a16:creationId xmlns:a16="http://schemas.microsoft.com/office/drawing/2014/main" id="{A498F4F4-33E2-4539-9234-A4FCB8098A3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1976760"/>
            <a:ext cx="7421040" cy="48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17" name="PlaceHolder 3">
            <a:extLst>
              <a:ext uri="{FF2B5EF4-FFF2-40B4-BE49-F238E27FC236}">
                <a16:creationId xmlns:a16="http://schemas.microsoft.com/office/drawing/2014/main" id="{53AE70D8-3A46-4A71-BAA2-BF28172CEBF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3712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18" name="PlaceHolder 4">
            <a:extLst>
              <a:ext uri="{FF2B5EF4-FFF2-40B4-BE49-F238E27FC236}">
                <a16:creationId xmlns:a16="http://schemas.microsoft.com/office/drawing/2014/main" id="{7E37CF3E-8611-44D8-9C64-158C14ACCE3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37120" y="45363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>
            <a:extLst>
              <a:ext uri="{FF2B5EF4-FFF2-40B4-BE49-F238E27FC236}">
                <a16:creationId xmlns:a16="http://schemas.microsoft.com/office/drawing/2014/main" id="{1C811699-C599-4369-A8EF-CDC027DE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20" name="PlaceHolder 2">
            <a:extLst>
              <a:ext uri="{FF2B5EF4-FFF2-40B4-BE49-F238E27FC236}">
                <a16:creationId xmlns:a16="http://schemas.microsoft.com/office/drawing/2014/main" id="{A2C57B06-48E2-4A6F-B318-05E6527E722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21" name="PlaceHolder 3">
            <a:extLst>
              <a:ext uri="{FF2B5EF4-FFF2-40B4-BE49-F238E27FC236}">
                <a16:creationId xmlns:a16="http://schemas.microsoft.com/office/drawing/2014/main" id="{E2F3A0AE-34A1-44F9-B53B-F30E0D7080D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3712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22" name="PlaceHolder 4">
            <a:extLst>
              <a:ext uri="{FF2B5EF4-FFF2-40B4-BE49-F238E27FC236}">
                <a16:creationId xmlns:a16="http://schemas.microsoft.com/office/drawing/2014/main" id="{F381B680-02D2-4532-9807-001BE32DA77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4536360"/>
            <a:ext cx="1520712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>
            <a:extLst>
              <a:ext uri="{FF2B5EF4-FFF2-40B4-BE49-F238E27FC236}">
                <a16:creationId xmlns:a16="http://schemas.microsoft.com/office/drawing/2014/main" id="{A5F39903-F348-4534-AF89-8221942A1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24" name="PlaceHolder 2">
            <a:extLst>
              <a:ext uri="{FF2B5EF4-FFF2-40B4-BE49-F238E27FC236}">
                <a16:creationId xmlns:a16="http://schemas.microsoft.com/office/drawing/2014/main" id="{68D638A6-E886-432E-8276-838DDB66AD5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1976760"/>
            <a:ext cx="1520712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25" name="PlaceHolder 3">
            <a:extLst>
              <a:ext uri="{FF2B5EF4-FFF2-40B4-BE49-F238E27FC236}">
                <a16:creationId xmlns:a16="http://schemas.microsoft.com/office/drawing/2014/main" id="{FD3A9E8C-FAB2-4FC1-9990-308B9AFC94B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4536360"/>
            <a:ext cx="1520712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>
            <a:extLst>
              <a:ext uri="{FF2B5EF4-FFF2-40B4-BE49-F238E27FC236}">
                <a16:creationId xmlns:a16="http://schemas.microsoft.com/office/drawing/2014/main" id="{0B86481D-B262-466F-82CD-208143D0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27" name="PlaceHolder 2">
            <a:extLst>
              <a:ext uri="{FF2B5EF4-FFF2-40B4-BE49-F238E27FC236}">
                <a16:creationId xmlns:a16="http://schemas.microsoft.com/office/drawing/2014/main" id="{A6E70DDE-429C-42A7-8DC1-235A50E1848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28" name="PlaceHolder 3">
            <a:extLst>
              <a:ext uri="{FF2B5EF4-FFF2-40B4-BE49-F238E27FC236}">
                <a16:creationId xmlns:a16="http://schemas.microsoft.com/office/drawing/2014/main" id="{0EB62EA2-D000-4280-82FE-F781F8F66DE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37120" y="19767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29" name="PlaceHolder 4">
            <a:extLst>
              <a:ext uri="{FF2B5EF4-FFF2-40B4-BE49-F238E27FC236}">
                <a16:creationId xmlns:a16="http://schemas.microsoft.com/office/drawing/2014/main" id="{B7EA4022-E44C-4DDC-9AB4-D7D694F8AF5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45363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0" name="PlaceHolder 5">
            <a:extLst>
              <a:ext uri="{FF2B5EF4-FFF2-40B4-BE49-F238E27FC236}">
                <a16:creationId xmlns:a16="http://schemas.microsoft.com/office/drawing/2014/main" id="{B21F9E0B-C8E2-4E5D-BFD1-1EB6C05C895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37120" y="4536360"/>
            <a:ext cx="742104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>
            <a:extLst>
              <a:ext uri="{FF2B5EF4-FFF2-40B4-BE49-F238E27FC236}">
                <a16:creationId xmlns:a16="http://schemas.microsoft.com/office/drawing/2014/main" id="{4C44E28E-6E4F-4271-9B75-EEA22AFB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32" name="PlaceHolder 2">
            <a:extLst>
              <a:ext uri="{FF2B5EF4-FFF2-40B4-BE49-F238E27FC236}">
                <a16:creationId xmlns:a16="http://schemas.microsoft.com/office/drawing/2014/main" id="{B8BC1B0F-E1B6-4C96-97BA-7E25440F315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19767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3" name="PlaceHolder 3">
            <a:extLst>
              <a:ext uri="{FF2B5EF4-FFF2-40B4-BE49-F238E27FC236}">
                <a16:creationId xmlns:a16="http://schemas.microsoft.com/office/drawing/2014/main" id="{12E3A27C-8C61-417D-8748-2815E298C37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986080" y="19767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4" name="PlaceHolder 4">
            <a:extLst>
              <a:ext uri="{FF2B5EF4-FFF2-40B4-BE49-F238E27FC236}">
                <a16:creationId xmlns:a16="http://schemas.microsoft.com/office/drawing/2014/main" id="{58E6E871-A1E4-4942-87AE-9A70DB2B0BD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1127600" y="19767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5" name="PlaceHolder 5">
            <a:extLst>
              <a:ext uri="{FF2B5EF4-FFF2-40B4-BE49-F238E27FC236}">
                <a16:creationId xmlns:a16="http://schemas.microsoft.com/office/drawing/2014/main" id="{5065BFD7-3CCA-4B06-B25F-C40E8BA9EBA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4560" y="45363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6" name="PlaceHolder 6">
            <a:extLst>
              <a:ext uri="{FF2B5EF4-FFF2-40B4-BE49-F238E27FC236}">
                <a16:creationId xmlns:a16="http://schemas.microsoft.com/office/drawing/2014/main" id="{5D4D878F-A9F9-4791-81C9-E0D489D5491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986080" y="45363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7" name="PlaceHolder 7">
            <a:extLst>
              <a:ext uri="{FF2B5EF4-FFF2-40B4-BE49-F238E27FC236}">
                <a16:creationId xmlns:a16="http://schemas.microsoft.com/office/drawing/2014/main" id="{66697AFA-8EC6-4962-9C4C-2311498F2B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1127600" y="4536360"/>
            <a:ext cx="4896360" cy="233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6D1641F6-299C-4AF2-A70C-0A488C840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7120" cy="141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sz="4400" b="0" spc="-1">
                <a:latin typeface="Arial"/>
                <a:ea typeface="Arial"/>
                <a:cs typeface="Arial"/>
              </a:rPr>
              <a:t>单击以编辑标题文本格式</a:t>
            </a: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EE50594F-BDB9-4355-93D8-1FA48C293E5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44560" y="1976760"/>
            <a:ext cx="15207120" cy="489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spc="-1">
                <a:latin typeface="Arial"/>
                <a:ea typeface="Arial"/>
                <a:cs typeface="Arial"/>
              </a:rPr>
              <a:t>点击以编辑提纲文本格式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spc="-1">
                <a:latin typeface="Arial"/>
                <a:ea typeface="Arial"/>
                <a:cs typeface="Arial"/>
              </a:rPr>
              <a:t>第二提纲级别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spc="-1">
                <a:latin typeface="Arial"/>
                <a:ea typeface="Arial"/>
                <a:cs typeface="Arial"/>
              </a:rPr>
              <a:t>第三提纲级别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spc="-1">
                <a:latin typeface="Arial"/>
                <a:ea typeface="Arial"/>
                <a:cs typeface="Arial"/>
              </a:rPr>
              <a:t>第四提纲级别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latin typeface="Arial"/>
                <a:ea typeface="Arial"/>
                <a:cs typeface="Arial"/>
              </a:rPr>
              <a:t>第五提纲级别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latin typeface="Arial"/>
                <a:ea typeface="Arial"/>
                <a:cs typeface="Arial"/>
              </a:rPr>
              <a:t>第六提纲级别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latin typeface="Arial"/>
                <a:ea typeface="Arial"/>
                <a:cs typeface="Arial"/>
              </a:rPr>
              <a:t>第七提纲级别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2FEEAB47-E16E-4FE9-A35D-856EB162FF6B}"/>
              </a:ext>
            </a:extLst>
          </p:cNvPr>
          <p:cNvSpPr>
            <a:spLocks noGrp="1"/>
          </p:cNvSpPr>
          <p:nvPr/>
        </p:nvSpPr>
        <p:spPr>
          <a:xfrm>
            <a:off x="4000680" y="232200"/>
            <a:ext cx="8895600" cy="52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93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RAG 技术发展路线图（2020–2026）</a:t>
            </a:r>
            <a:endParaRPr sz="2930" b="0" spc="-1">
              <a:latin typeface="Arial"/>
              <a:ea typeface="Arial"/>
              <a:cs typeface="Arial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923697E-2FA4-44D4-AE94-F273884C57B1}"/>
              </a:ext>
            </a:extLst>
          </p:cNvPr>
          <p:cNvSpPr>
            <a:spLocks noGrp="1"/>
          </p:cNvSpPr>
          <p:nvPr/>
        </p:nvSpPr>
        <p:spPr>
          <a:xfrm>
            <a:off x="4857840" y="746640"/>
            <a:ext cx="7181280" cy="41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02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从文档检索到 Agentic Knowledge System</a:t>
            </a:r>
            <a:endParaRPr sz="2020" b="0" spc="-1">
              <a:latin typeface="Arial"/>
              <a:ea typeface="Arial"/>
              <a:cs typeface="Arial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2ED6DE3-F07C-48B5-ABBD-7B527855C6B4}"/>
              </a:ext>
            </a:extLst>
          </p:cNvPr>
          <p:cNvSpPr>
            <a:spLocks noGrp="1"/>
          </p:cNvSpPr>
          <p:nvPr/>
        </p:nvSpPr>
        <p:spPr>
          <a:xfrm>
            <a:off x="142920" y="1356120"/>
            <a:ext cx="16610760" cy="62784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1906">
            <a:solidFill>
              <a:srgbClr val="11111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3FC16DB-DA85-4E09-A98D-E9BBB78CFB42}"/>
              </a:ext>
            </a:extLst>
          </p:cNvPr>
          <p:cNvSpPr>
            <a:spLocks noGrp="1"/>
          </p:cNvSpPr>
          <p:nvPr/>
        </p:nvSpPr>
        <p:spPr>
          <a:xfrm>
            <a:off x="4000680" y="1432440"/>
            <a:ext cx="88956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9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核心问题：LLM 如何访问、组织、验证并利用外部知识？</a:t>
            </a:r>
            <a:endParaRPr sz="1950" b="0" spc="-1">
              <a:latin typeface="Arial"/>
              <a:ea typeface="Arial"/>
              <a:cs typeface="Arial"/>
            </a:endParaRPr>
          </a:p>
        </p:txBody>
      </p:sp>
      <p:sp>
        <p:nvSpPr>
          <p:cNvPr id="48" name="Stage 1">
            <a:extLst>
              <a:ext uri="{FF2B5EF4-FFF2-40B4-BE49-F238E27FC236}">
                <a16:creationId xmlns:a16="http://schemas.microsoft.com/office/drawing/2014/main" id="{A158E642-ACD3-42A8-B4B9-F5F77D31C816}"/>
              </a:ext>
            </a:extLst>
          </p:cNvPr>
          <p:cNvSpPr>
            <a:spLocks noGrp="1"/>
          </p:cNvSpPr>
          <p:nvPr/>
        </p:nvSpPr>
        <p:spPr>
          <a:xfrm>
            <a:off x="133200" y="2365920"/>
            <a:ext cx="2609280" cy="4923720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Stage 2">
            <a:extLst>
              <a:ext uri="{FF2B5EF4-FFF2-40B4-BE49-F238E27FC236}">
                <a16:creationId xmlns:a16="http://schemas.microsoft.com/office/drawing/2014/main" id="{A8FAA867-4045-4E31-B3F9-4D41F81CF8C9}"/>
              </a:ext>
            </a:extLst>
          </p:cNvPr>
          <p:cNvSpPr>
            <a:spLocks noGrp="1"/>
          </p:cNvSpPr>
          <p:nvPr/>
        </p:nvSpPr>
        <p:spPr>
          <a:xfrm>
            <a:off x="2867040" y="2365920"/>
            <a:ext cx="2475720" cy="4923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" name="Stage 3">
            <a:extLst>
              <a:ext uri="{FF2B5EF4-FFF2-40B4-BE49-F238E27FC236}">
                <a16:creationId xmlns:a16="http://schemas.microsoft.com/office/drawing/2014/main" id="{F5948E6D-5A33-4A5B-9BEE-7F85A2BF649E}"/>
              </a:ext>
            </a:extLst>
          </p:cNvPr>
          <p:cNvSpPr>
            <a:spLocks noGrp="1"/>
          </p:cNvSpPr>
          <p:nvPr/>
        </p:nvSpPr>
        <p:spPr>
          <a:xfrm>
            <a:off x="5467320" y="2365920"/>
            <a:ext cx="2770920" cy="4923720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" name="Stage 4">
            <a:extLst>
              <a:ext uri="{FF2B5EF4-FFF2-40B4-BE49-F238E27FC236}">
                <a16:creationId xmlns:a16="http://schemas.microsoft.com/office/drawing/2014/main" id="{E37B6C8C-EBBB-452A-AAC0-253030DCC5BB}"/>
              </a:ext>
            </a:extLst>
          </p:cNvPr>
          <p:cNvSpPr>
            <a:spLocks noGrp="1"/>
          </p:cNvSpPr>
          <p:nvPr/>
        </p:nvSpPr>
        <p:spPr>
          <a:xfrm>
            <a:off x="8372520" y="2365920"/>
            <a:ext cx="3056760" cy="4923720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Stage 5">
            <a:extLst>
              <a:ext uri="{FF2B5EF4-FFF2-40B4-BE49-F238E27FC236}">
                <a16:creationId xmlns:a16="http://schemas.microsoft.com/office/drawing/2014/main" id="{40596633-446E-4CD3-9F70-A4B41C522924}"/>
              </a:ext>
            </a:extLst>
          </p:cNvPr>
          <p:cNvSpPr>
            <a:spLocks noGrp="1"/>
          </p:cNvSpPr>
          <p:nvPr/>
        </p:nvSpPr>
        <p:spPr>
          <a:xfrm>
            <a:off x="11582280" y="2365920"/>
            <a:ext cx="2437560" cy="4923720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Stage 6">
            <a:extLst>
              <a:ext uri="{FF2B5EF4-FFF2-40B4-BE49-F238E27FC236}">
                <a16:creationId xmlns:a16="http://schemas.microsoft.com/office/drawing/2014/main" id="{F05C99BE-6F5D-4737-971A-EAAD65B54C3D}"/>
              </a:ext>
            </a:extLst>
          </p:cNvPr>
          <p:cNvSpPr>
            <a:spLocks noGrp="1"/>
          </p:cNvSpPr>
          <p:nvPr/>
        </p:nvSpPr>
        <p:spPr>
          <a:xfrm>
            <a:off x="14154120" y="2365920"/>
            <a:ext cx="2628360" cy="4923720"/>
          </a:xfrm>
          <a:prstGeom prst="roundRect">
            <a:avLst>
              <a:gd name="adj" fmla="val 4710"/>
            </a:avLst>
          </a:prstGeom>
          <a:solidFill>
            <a:srgbClr val="FFFFFF"/>
          </a:solidFill>
          <a:ln w="10954">
            <a:solidFill>
              <a:srgbClr val="11111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358072D6-2FD8-47C2-A319-D3746FD6B273}"/>
              </a:ext>
            </a:extLst>
          </p:cNvPr>
          <p:cNvSpPr>
            <a:spLocks noGrp="1"/>
          </p:cNvSpPr>
          <p:nvPr/>
        </p:nvSpPr>
        <p:spPr>
          <a:xfrm>
            <a:off x="143820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3F0AA741-A8B3-4235-AD24-DB86EBB81CBD}"/>
              </a:ext>
            </a:extLst>
          </p:cNvPr>
          <p:cNvSpPr>
            <a:spLocks noGrp="1"/>
          </p:cNvSpPr>
          <p:nvPr/>
        </p:nvSpPr>
        <p:spPr>
          <a:xfrm>
            <a:off x="1390680" y="2280240"/>
            <a:ext cx="94680" cy="84960"/>
          </a:xfrm>
          <a:custGeom>
            <a:avLst/>
            <a:gdLst/>
            <a:ahLst/>
            <a:cxn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9C18481C-60BA-402A-B2B3-02533585DE32}"/>
              </a:ext>
            </a:extLst>
          </p:cNvPr>
          <p:cNvSpPr>
            <a:spLocks noGrp="1"/>
          </p:cNvSpPr>
          <p:nvPr/>
        </p:nvSpPr>
        <p:spPr>
          <a:xfrm>
            <a:off x="410508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83C8CED7-359A-404F-A5C6-021A060AE593}"/>
              </a:ext>
            </a:extLst>
          </p:cNvPr>
          <p:cNvSpPr>
            <a:spLocks noGrp="1"/>
          </p:cNvSpPr>
          <p:nvPr/>
        </p:nvSpPr>
        <p:spPr>
          <a:xfrm>
            <a:off x="4057560" y="2280240"/>
            <a:ext cx="94680" cy="84960"/>
          </a:xfrm>
          <a:custGeom>
            <a:avLst/>
            <a:gdLst/>
            <a:ahLst/>
            <a:cxn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A2DBFA58-2A66-4B68-86B8-BE773427E5E1}"/>
              </a:ext>
            </a:extLst>
          </p:cNvPr>
          <p:cNvSpPr>
            <a:spLocks noGrp="1"/>
          </p:cNvSpPr>
          <p:nvPr/>
        </p:nvSpPr>
        <p:spPr>
          <a:xfrm>
            <a:off x="685800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57AB8D92-8F34-43E2-B838-AA5AE5F5FDB8}"/>
              </a:ext>
            </a:extLst>
          </p:cNvPr>
          <p:cNvSpPr>
            <a:spLocks noGrp="1"/>
          </p:cNvSpPr>
          <p:nvPr/>
        </p:nvSpPr>
        <p:spPr>
          <a:xfrm>
            <a:off x="6810480" y="2280240"/>
            <a:ext cx="94680" cy="84960"/>
          </a:xfrm>
          <a:custGeom>
            <a:avLst/>
            <a:gdLst/>
            <a:ahLst/>
            <a:cxn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42176429-517E-472A-8B3E-0645AC5BC7E3}"/>
              </a:ext>
            </a:extLst>
          </p:cNvPr>
          <p:cNvSpPr>
            <a:spLocks noGrp="1"/>
          </p:cNvSpPr>
          <p:nvPr/>
        </p:nvSpPr>
        <p:spPr>
          <a:xfrm>
            <a:off x="990576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41F870CE-5E15-4298-BFA0-E59662267A2D}"/>
              </a:ext>
            </a:extLst>
          </p:cNvPr>
          <p:cNvSpPr>
            <a:spLocks noGrp="1"/>
          </p:cNvSpPr>
          <p:nvPr/>
        </p:nvSpPr>
        <p:spPr>
          <a:xfrm>
            <a:off x="9858240" y="2280240"/>
            <a:ext cx="94680" cy="84960"/>
          </a:xfrm>
          <a:custGeom>
            <a:avLst/>
            <a:gdLst/>
            <a:ahLst/>
            <a:cxn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EAC00AA9-C764-4DAD-B8F8-9E465B33B8CF}"/>
              </a:ext>
            </a:extLst>
          </p:cNvPr>
          <p:cNvSpPr>
            <a:spLocks noGrp="1"/>
          </p:cNvSpPr>
          <p:nvPr/>
        </p:nvSpPr>
        <p:spPr>
          <a:xfrm>
            <a:off x="1270620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987BDCAC-B711-482A-AA34-9734B7ECE10A}"/>
              </a:ext>
            </a:extLst>
          </p:cNvPr>
          <p:cNvSpPr>
            <a:spLocks noGrp="1"/>
          </p:cNvSpPr>
          <p:nvPr/>
        </p:nvSpPr>
        <p:spPr>
          <a:xfrm>
            <a:off x="12658680" y="2280240"/>
            <a:ext cx="94680" cy="84960"/>
          </a:xfrm>
          <a:custGeom>
            <a:avLst/>
            <a:gdLst/>
            <a:ahLst/>
            <a:cxn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46F54BE3-F4D5-48E8-BD84-BB60CB00A0E1}"/>
              </a:ext>
            </a:extLst>
          </p:cNvPr>
          <p:cNvSpPr>
            <a:spLocks noGrp="1"/>
          </p:cNvSpPr>
          <p:nvPr/>
        </p:nvSpPr>
        <p:spPr>
          <a:xfrm>
            <a:off x="15468480" y="1984680"/>
            <a:ext cx="360" cy="295200"/>
          </a:xfrm>
          <a:prstGeom prst="line">
            <a:avLst/>
          </a:prstGeom>
          <a:ln w="14288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9DDFCA29-1AE1-412A-9BB0-E24DA5EF477E}"/>
              </a:ext>
            </a:extLst>
          </p:cNvPr>
          <p:cNvSpPr>
            <a:spLocks noGrp="1"/>
          </p:cNvSpPr>
          <p:nvPr/>
        </p:nvSpPr>
        <p:spPr>
          <a:xfrm>
            <a:off x="15420960" y="2280240"/>
            <a:ext cx="94680" cy="84960"/>
          </a:xfrm>
          <a:custGeom>
            <a:avLst/>
            <a:gdLst/>
            <a:ahLst/>
            <a:cxnLst/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828754D0-3FF8-4C1F-8815-6001AD4930D6}"/>
              </a:ext>
            </a:extLst>
          </p:cNvPr>
          <p:cNvSpPr>
            <a:spLocks noGrp="1"/>
          </p:cNvSpPr>
          <p:nvPr/>
        </p:nvSpPr>
        <p:spPr>
          <a:xfrm>
            <a:off x="200160" y="2451600"/>
            <a:ext cx="2475720" cy="51372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A362C6A-5F60-4BA2-883B-A305A0603323}"/>
              </a:ext>
            </a:extLst>
          </p:cNvPr>
          <p:cNvSpPr>
            <a:spLocks noGrp="1"/>
          </p:cNvSpPr>
          <p:nvPr/>
        </p:nvSpPr>
        <p:spPr>
          <a:xfrm>
            <a:off x="219240" y="2460960"/>
            <a:ext cx="2437560" cy="49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1.  2020 起点：RAG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BE0CF1EA-613E-450B-BAC9-00F86B81FAE7}"/>
              </a:ext>
            </a:extLst>
          </p:cNvPr>
          <p:cNvSpPr>
            <a:spLocks noGrp="1"/>
          </p:cNvSpPr>
          <p:nvPr/>
        </p:nvSpPr>
        <p:spPr>
          <a:xfrm>
            <a:off x="2933640" y="2441880"/>
            <a:ext cx="2342520" cy="656640"/>
          </a:xfrm>
          <a:prstGeom prst="roundRect">
            <a:avLst>
              <a:gd name="adj" fmla="val 11594"/>
            </a:avLst>
          </a:prstGeom>
          <a:solidFill>
            <a:srgbClr val="F5F5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DABDC65-D96E-495D-B504-E2113FB61D35}"/>
              </a:ext>
            </a:extLst>
          </p:cNvPr>
          <p:cNvSpPr>
            <a:spLocks noGrp="1"/>
          </p:cNvSpPr>
          <p:nvPr/>
        </p:nvSpPr>
        <p:spPr>
          <a:xfrm>
            <a:off x="2952720" y="2451600"/>
            <a:ext cx="2304360" cy="6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2.  2021–2022</a:t>
            </a:r>
            <a:endParaRPr sz="1580" b="0" spc="-1"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Naive RAG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705C343C-5C90-4187-8FE5-C1CA8ADB7C45}"/>
              </a:ext>
            </a:extLst>
          </p:cNvPr>
          <p:cNvSpPr>
            <a:spLocks noGrp="1"/>
          </p:cNvSpPr>
          <p:nvPr/>
        </p:nvSpPr>
        <p:spPr>
          <a:xfrm>
            <a:off x="5533920" y="2441880"/>
            <a:ext cx="2637720" cy="656640"/>
          </a:xfrm>
          <a:prstGeom prst="roundRect">
            <a:avLst>
              <a:gd name="adj" fmla="val 11594"/>
            </a:avLst>
          </a:prstGeom>
          <a:solidFill>
            <a:srgbClr val="F5F5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0C26C4A-C294-469A-A69E-86E55FC26DE7}"/>
              </a:ext>
            </a:extLst>
          </p:cNvPr>
          <p:cNvSpPr>
            <a:spLocks noGrp="1"/>
          </p:cNvSpPr>
          <p:nvPr/>
        </p:nvSpPr>
        <p:spPr>
          <a:xfrm>
            <a:off x="5553000" y="2451600"/>
            <a:ext cx="2599560" cy="6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 fontScale="93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3.  2023–2024</a:t>
            </a:r>
            <a:endParaRPr sz="1580" b="0" spc="-1"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Advanced / Modular RAG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15016C3A-A01F-49A2-9CD9-099A6EC08CBE}"/>
              </a:ext>
            </a:extLst>
          </p:cNvPr>
          <p:cNvSpPr>
            <a:spLocks noGrp="1"/>
          </p:cNvSpPr>
          <p:nvPr/>
        </p:nvSpPr>
        <p:spPr>
          <a:xfrm>
            <a:off x="8439120" y="2451600"/>
            <a:ext cx="2923560" cy="51372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F1A72BC-6099-4724-83F8-02DE334360F8}"/>
              </a:ext>
            </a:extLst>
          </p:cNvPr>
          <p:cNvSpPr>
            <a:spLocks noGrp="1"/>
          </p:cNvSpPr>
          <p:nvPr/>
        </p:nvSpPr>
        <p:spPr>
          <a:xfrm>
            <a:off x="8458200" y="2460960"/>
            <a:ext cx="2885400" cy="49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4.  2024 知识结构化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8986CD3-53FE-4E78-AE33-29D0AD186596}"/>
              </a:ext>
            </a:extLst>
          </p:cNvPr>
          <p:cNvSpPr>
            <a:spLocks noGrp="1"/>
          </p:cNvSpPr>
          <p:nvPr/>
        </p:nvSpPr>
        <p:spPr>
          <a:xfrm>
            <a:off x="11649240" y="2441880"/>
            <a:ext cx="2304360" cy="656640"/>
          </a:xfrm>
          <a:prstGeom prst="roundRect">
            <a:avLst>
              <a:gd name="adj" fmla="val 11594"/>
            </a:avLst>
          </a:prstGeom>
          <a:solidFill>
            <a:srgbClr val="F5F5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9B57BB99-56A0-4D1F-AC45-D092A90AE601}"/>
              </a:ext>
            </a:extLst>
          </p:cNvPr>
          <p:cNvSpPr>
            <a:spLocks noGrp="1"/>
          </p:cNvSpPr>
          <p:nvPr/>
        </p:nvSpPr>
        <p:spPr>
          <a:xfrm>
            <a:off x="11667960" y="2451600"/>
            <a:ext cx="2266200" cy="6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5.  2024–2025</a:t>
            </a:r>
            <a:endParaRPr sz="1580" b="0" spc="-1"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检索决策与可靠性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6E36974F-EB39-4D9F-ADDE-1A9F09EB1822}"/>
              </a:ext>
            </a:extLst>
          </p:cNvPr>
          <p:cNvSpPr>
            <a:spLocks noGrp="1"/>
          </p:cNvSpPr>
          <p:nvPr/>
        </p:nvSpPr>
        <p:spPr>
          <a:xfrm>
            <a:off x="14220720" y="2441880"/>
            <a:ext cx="2494800" cy="656640"/>
          </a:xfrm>
          <a:prstGeom prst="roundRect">
            <a:avLst>
              <a:gd name="adj" fmla="val 11594"/>
            </a:avLst>
          </a:prstGeom>
          <a:solidFill>
            <a:srgbClr val="F5F5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014CC5F-D470-4149-8CE9-E7F73351C409}"/>
              </a:ext>
            </a:extLst>
          </p:cNvPr>
          <p:cNvSpPr>
            <a:spLocks noGrp="1"/>
          </p:cNvSpPr>
          <p:nvPr/>
        </p:nvSpPr>
        <p:spPr>
          <a:xfrm>
            <a:off x="14239800" y="2451600"/>
            <a:ext cx="2456640" cy="6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6.  2025–2026</a:t>
            </a:r>
            <a:endParaRPr sz="1580" b="0" spc="-1"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Agentic RAG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DCDE4661-FDC3-420A-B481-8545F749AA65}"/>
              </a:ext>
            </a:extLst>
          </p:cNvPr>
          <p:cNvSpPr>
            <a:spLocks noGrp="1"/>
          </p:cNvSpPr>
          <p:nvPr/>
        </p:nvSpPr>
        <p:spPr>
          <a:xfrm>
            <a:off x="237960" y="4013640"/>
            <a:ext cx="561240" cy="59940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F0AE5554-87F4-4483-A87D-5CA740879699}"/>
              </a:ext>
            </a:extLst>
          </p:cNvPr>
          <p:cNvSpPr>
            <a:spLocks noGrp="1"/>
          </p:cNvSpPr>
          <p:nvPr/>
        </p:nvSpPr>
        <p:spPr>
          <a:xfrm>
            <a:off x="990720" y="4013640"/>
            <a:ext cx="723240" cy="5994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EF03DDB0-5C0B-4130-807E-59657F524F34}"/>
              </a:ext>
            </a:extLst>
          </p:cNvPr>
          <p:cNvSpPr>
            <a:spLocks noGrp="1"/>
          </p:cNvSpPr>
          <p:nvPr/>
        </p:nvSpPr>
        <p:spPr>
          <a:xfrm>
            <a:off x="1914480" y="4013640"/>
            <a:ext cx="704160" cy="5994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C7A94CF-74F3-4782-BF6C-D141D6557075}"/>
              </a:ext>
            </a:extLst>
          </p:cNvPr>
          <p:cNvSpPr>
            <a:spLocks noGrp="1"/>
          </p:cNvSpPr>
          <p:nvPr/>
        </p:nvSpPr>
        <p:spPr>
          <a:xfrm>
            <a:off x="257040" y="4080240"/>
            <a:ext cx="5230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Query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D56982E-6B4E-4EC9-95D0-95B21DB0AD12}"/>
              </a:ext>
            </a:extLst>
          </p:cNvPr>
          <p:cNvSpPr>
            <a:spLocks noGrp="1"/>
          </p:cNvSpPr>
          <p:nvPr/>
        </p:nvSpPr>
        <p:spPr>
          <a:xfrm>
            <a:off x="1009800" y="4080240"/>
            <a:ext cx="6850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Retriever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7B45D88-2863-43F2-AE8A-FE3C1247E3C7}"/>
              </a:ext>
            </a:extLst>
          </p:cNvPr>
          <p:cNvSpPr>
            <a:spLocks noGrp="1"/>
          </p:cNvSpPr>
          <p:nvPr/>
        </p:nvSpPr>
        <p:spPr>
          <a:xfrm>
            <a:off x="1933560" y="4080240"/>
            <a:ext cx="6660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ACC9F94D-F2AA-4A42-B311-3A1D39BEFA56}"/>
              </a:ext>
            </a:extLst>
          </p:cNvPr>
          <p:cNvSpPr>
            <a:spLocks noGrp="1"/>
          </p:cNvSpPr>
          <p:nvPr/>
        </p:nvSpPr>
        <p:spPr>
          <a:xfrm>
            <a:off x="800280" y="4313520"/>
            <a:ext cx="1897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CCF47D86-31E5-456D-948A-70CFAD20B6C0}"/>
              </a:ext>
            </a:extLst>
          </p:cNvPr>
          <p:cNvSpPr>
            <a:spLocks noGrp="1"/>
          </p:cNvSpPr>
          <p:nvPr/>
        </p:nvSpPr>
        <p:spPr>
          <a:xfrm>
            <a:off x="1714680" y="4313520"/>
            <a:ext cx="1994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1F469FF3-4FD3-40A1-93D6-6D16D3D22ECF}"/>
              </a:ext>
            </a:extLst>
          </p:cNvPr>
          <p:cNvSpPr>
            <a:spLocks noGrp="1"/>
          </p:cNvSpPr>
          <p:nvPr/>
        </p:nvSpPr>
        <p:spPr>
          <a:xfrm>
            <a:off x="247320" y="5889960"/>
            <a:ext cx="234324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2E012F4-C71B-4679-AA08-99F4F8E95486}"/>
              </a:ext>
            </a:extLst>
          </p:cNvPr>
          <p:cNvSpPr>
            <a:spLocks noGrp="1"/>
          </p:cNvSpPr>
          <p:nvPr/>
        </p:nvSpPr>
        <p:spPr>
          <a:xfrm>
            <a:off x="295200" y="6118560"/>
            <a:ext cx="22852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外部知识增强生成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343AC8FA-8C03-47F7-9663-23DFA9DACF4C}"/>
              </a:ext>
            </a:extLst>
          </p:cNvPr>
          <p:cNvSpPr>
            <a:spLocks noGrp="1"/>
          </p:cNvSpPr>
          <p:nvPr/>
        </p:nvSpPr>
        <p:spPr>
          <a:xfrm>
            <a:off x="295200" y="6423480"/>
            <a:ext cx="22852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参数化记忆 + 非参数化记忆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E6C06F3-159A-4F25-B220-5B11AF412806}"/>
              </a:ext>
            </a:extLst>
          </p:cNvPr>
          <p:cNvSpPr>
            <a:spLocks noGrp="1"/>
          </p:cNvSpPr>
          <p:nvPr/>
        </p:nvSpPr>
        <p:spPr>
          <a:xfrm>
            <a:off x="295200" y="6728400"/>
            <a:ext cx="22852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代表：Lewis et al., 2020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C3B32E9A-E3AE-4283-AC65-045B99CF5A0C}"/>
              </a:ext>
            </a:extLst>
          </p:cNvPr>
          <p:cNvSpPr>
            <a:spLocks noGrp="1"/>
          </p:cNvSpPr>
          <p:nvPr/>
        </p:nvSpPr>
        <p:spPr>
          <a:xfrm>
            <a:off x="3343320" y="318492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85DC859-1478-4FDF-A156-19A65C2E574C}"/>
              </a:ext>
            </a:extLst>
          </p:cNvPr>
          <p:cNvSpPr>
            <a:spLocks noGrp="1"/>
          </p:cNvSpPr>
          <p:nvPr/>
        </p:nvSpPr>
        <p:spPr>
          <a:xfrm>
            <a:off x="3371760" y="320400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文档解析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E57733AA-FE94-4010-B3E0-16D380A7E286}"/>
              </a:ext>
            </a:extLst>
          </p:cNvPr>
          <p:cNvSpPr>
            <a:spLocks noGrp="1"/>
          </p:cNvSpPr>
          <p:nvPr/>
        </p:nvSpPr>
        <p:spPr>
          <a:xfrm>
            <a:off x="3343320" y="362304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C835909-135B-4E64-B472-ADD73A5569C5}"/>
              </a:ext>
            </a:extLst>
          </p:cNvPr>
          <p:cNvSpPr>
            <a:spLocks noGrp="1"/>
          </p:cNvSpPr>
          <p:nvPr/>
        </p:nvSpPr>
        <p:spPr>
          <a:xfrm>
            <a:off x="3371760" y="364212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切块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E82FE9E0-E3CD-45E2-8279-7524F82E8AD0}"/>
              </a:ext>
            </a:extLst>
          </p:cNvPr>
          <p:cNvSpPr>
            <a:spLocks noGrp="1"/>
          </p:cNvSpPr>
          <p:nvPr/>
        </p:nvSpPr>
        <p:spPr>
          <a:xfrm>
            <a:off x="4105440" y="3518280"/>
            <a:ext cx="360" cy="10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7465F034-A1D2-42BE-9131-FF777ACD3073}"/>
              </a:ext>
            </a:extLst>
          </p:cNvPr>
          <p:cNvSpPr>
            <a:spLocks noGrp="1"/>
          </p:cNvSpPr>
          <p:nvPr/>
        </p:nvSpPr>
        <p:spPr>
          <a:xfrm>
            <a:off x="3343320" y="406116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5F4FDDD9-800D-4C22-89E0-1CB53818007D}"/>
              </a:ext>
            </a:extLst>
          </p:cNvPr>
          <p:cNvSpPr>
            <a:spLocks noGrp="1"/>
          </p:cNvSpPr>
          <p:nvPr/>
        </p:nvSpPr>
        <p:spPr>
          <a:xfrm>
            <a:off x="3371760" y="408024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Embedding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BB9F71F2-134A-43C7-BE79-51D8E2FC1A30}"/>
              </a:ext>
            </a:extLst>
          </p:cNvPr>
          <p:cNvSpPr>
            <a:spLocks noGrp="1"/>
          </p:cNvSpPr>
          <p:nvPr/>
        </p:nvSpPr>
        <p:spPr>
          <a:xfrm>
            <a:off x="4105440" y="3956400"/>
            <a:ext cx="360" cy="10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36732662-56CC-480E-9530-F9F314D13176}"/>
              </a:ext>
            </a:extLst>
          </p:cNvPr>
          <p:cNvSpPr>
            <a:spLocks noGrp="1"/>
          </p:cNvSpPr>
          <p:nvPr/>
        </p:nvSpPr>
        <p:spPr>
          <a:xfrm>
            <a:off x="3343320" y="449928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3FE5E45-74B4-4DC7-A45A-19EE8796AE4A}"/>
              </a:ext>
            </a:extLst>
          </p:cNvPr>
          <p:cNvSpPr>
            <a:spLocks noGrp="1"/>
          </p:cNvSpPr>
          <p:nvPr/>
        </p:nvSpPr>
        <p:spPr>
          <a:xfrm>
            <a:off x="3371760" y="451836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向量库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870A376F-DE33-44BF-BD2C-CFA650C024A7}"/>
              </a:ext>
            </a:extLst>
          </p:cNvPr>
          <p:cNvSpPr>
            <a:spLocks noGrp="1"/>
          </p:cNvSpPr>
          <p:nvPr/>
        </p:nvSpPr>
        <p:spPr>
          <a:xfrm>
            <a:off x="4105440" y="4394520"/>
            <a:ext cx="360" cy="10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6298D261-6F84-49F6-9CC3-7331F0F9A8BF}"/>
              </a:ext>
            </a:extLst>
          </p:cNvPr>
          <p:cNvSpPr>
            <a:spLocks noGrp="1"/>
          </p:cNvSpPr>
          <p:nvPr/>
        </p:nvSpPr>
        <p:spPr>
          <a:xfrm>
            <a:off x="3343320" y="493740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224C9ABC-7EA8-4B25-A529-B9A09A1F6A0C}"/>
              </a:ext>
            </a:extLst>
          </p:cNvPr>
          <p:cNvSpPr>
            <a:spLocks noGrp="1"/>
          </p:cNvSpPr>
          <p:nvPr/>
        </p:nvSpPr>
        <p:spPr>
          <a:xfrm>
            <a:off x="3371760" y="495648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Top-K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83CB4C6E-117A-4BDA-9C1B-1144DC3CE87F}"/>
              </a:ext>
            </a:extLst>
          </p:cNvPr>
          <p:cNvSpPr>
            <a:spLocks noGrp="1"/>
          </p:cNvSpPr>
          <p:nvPr/>
        </p:nvSpPr>
        <p:spPr>
          <a:xfrm>
            <a:off x="4105440" y="4832640"/>
            <a:ext cx="360" cy="10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E59ED0B7-11BD-4BB6-BAA2-D9264D0BA42A}"/>
              </a:ext>
            </a:extLst>
          </p:cNvPr>
          <p:cNvSpPr>
            <a:spLocks noGrp="1"/>
          </p:cNvSpPr>
          <p:nvPr/>
        </p:nvSpPr>
        <p:spPr>
          <a:xfrm>
            <a:off x="3343320" y="5375880"/>
            <a:ext cx="152316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E1A88C3-54DA-4E0F-BAD4-FCA4E796B168}"/>
              </a:ext>
            </a:extLst>
          </p:cNvPr>
          <p:cNvSpPr>
            <a:spLocks noGrp="1"/>
          </p:cNvSpPr>
          <p:nvPr/>
        </p:nvSpPr>
        <p:spPr>
          <a:xfrm>
            <a:off x="3371760" y="5394600"/>
            <a:ext cx="146628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LLM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281AF54E-883F-4BFF-B683-0527BB6CDAF1}"/>
              </a:ext>
            </a:extLst>
          </p:cNvPr>
          <p:cNvSpPr>
            <a:spLocks noGrp="1"/>
          </p:cNvSpPr>
          <p:nvPr/>
        </p:nvSpPr>
        <p:spPr>
          <a:xfrm>
            <a:off x="4105440" y="5270760"/>
            <a:ext cx="360" cy="10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5830083E-7FE2-497E-A687-8E95BC263DC3}"/>
              </a:ext>
            </a:extLst>
          </p:cNvPr>
          <p:cNvSpPr>
            <a:spLocks noGrp="1"/>
          </p:cNvSpPr>
          <p:nvPr/>
        </p:nvSpPr>
        <p:spPr>
          <a:xfrm>
            <a:off x="3000240" y="5889960"/>
            <a:ext cx="220968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8C199FCA-2F71-4D8A-8001-D8AA3112CE70}"/>
              </a:ext>
            </a:extLst>
          </p:cNvPr>
          <p:cNvSpPr>
            <a:spLocks noGrp="1"/>
          </p:cNvSpPr>
          <p:nvPr/>
        </p:nvSpPr>
        <p:spPr>
          <a:xfrm>
            <a:off x="3009960" y="6118560"/>
            <a:ext cx="2189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工程化落地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B6F6447-F29A-4429-BE8F-E9F5A7C4B05F}"/>
              </a:ext>
            </a:extLst>
          </p:cNvPr>
          <p:cNvSpPr>
            <a:spLocks noGrp="1"/>
          </p:cNvSpPr>
          <p:nvPr/>
        </p:nvSpPr>
        <p:spPr>
          <a:xfrm>
            <a:off x="3009960" y="6423480"/>
            <a:ext cx="2189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快速接入私有知识库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721F3D04-5A2D-4E63-A792-6BBDEBAC3825}"/>
              </a:ext>
            </a:extLst>
          </p:cNvPr>
          <p:cNvSpPr>
            <a:spLocks noGrp="1"/>
          </p:cNvSpPr>
          <p:nvPr/>
        </p:nvSpPr>
        <p:spPr>
          <a:xfrm>
            <a:off x="3009960" y="6728400"/>
            <a:ext cx="2189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3000"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问题：Chunk 边界、固定 Top-K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C299EB14-EED8-4375-8DAF-94B924808D7B}"/>
              </a:ext>
            </a:extLst>
          </p:cNvPr>
          <p:cNvSpPr>
            <a:spLocks noGrp="1"/>
          </p:cNvSpPr>
          <p:nvPr/>
        </p:nvSpPr>
        <p:spPr>
          <a:xfrm>
            <a:off x="5991120" y="318492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E9216901-A38E-4212-94EC-6D37E83DD5C8}"/>
              </a:ext>
            </a:extLst>
          </p:cNvPr>
          <p:cNvSpPr>
            <a:spLocks noGrp="1"/>
          </p:cNvSpPr>
          <p:nvPr/>
        </p:nvSpPr>
        <p:spPr>
          <a:xfrm>
            <a:off x="6019920" y="320400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Query Rewrite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A3FE8913-24F4-416E-A9C3-2118F766142C}"/>
              </a:ext>
            </a:extLst>
          </p:cNvPr>
          <p:cNvSpPr>
            <a:spLocks noGrp="1"/>
          </p:cNvSpPr>
          <p:nvPr/>
        </p:nvSpPr>
        <p:spPr>
          <a:xfrm>
            <a:off x="5991120" y="362304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78F7E03A-C3C8-4412-A0BE-6A63AFDBF33D}"/>
              </a:ext>
            </a:extLst>
          </p:cNvPr>
          <p:cNvSpPr>
            <a:spLocks noGrp="1"/>
          </p:cNvSpPr>
          <p:nvPr/>
        </p:nvSpPr>
        <p:spPr>
          <a:xfrm>
            <a:off x="6019920" y="364212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Hybrid Retrieval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CF126DE8-F3E8-4725-92BF-F8198ACC4311}"/>
              </a:ext>
            </a:extLst>
          </p:cNvPr>
          <p:cNvSpPr>
            <a:spLocks noGrp="1"/>
          </p:cNvSpPr>
          <p:nvPr/>
        </p:nvSpPr>
        <p:spPr>
          <a:xfrm>
            <a:off x="6877080" y="3518280"/>
            <a:ext cx="360" cy="10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6D293497-E2BA-4C49-A628-E68B6D69C6E8}"/>
              </a:ext>
            </a:extLst>
          </p:cNvPr>
          <p:cNvSpPr>
            <a:spLocks noGrp="1"/>
          </p:cNvSpPr>
          <p:nvPr/>
        </p:nvSpPr>
        <p:spPr>
          <a:xfrm>
            <a:off x="5991120" y="406116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220A7604-45EA-4D71-B1AA-7BE4F1ECE28E}"/>
              </a:ext>
            </a:extLst>
          </p:cNvPr>
          <p:cNvSpPr>
            <a:spLocks noGrp="1"/>
          </p:cNvSpPr>
          <p:nvPr/>
        </p:nvSpPr>
        <p:spPr>
          <a:xfrm>
            <a:off x="6019920" y="408024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Metadata Filter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FFD7CDE6-6DEF-4E68-A1F1-BFD04FE0F12C}"/>
              </a:ext>
            </a:extLst>
          </p:cNvPr>
          <p:cNvSpPr>
            <a:spLocks noGrp="1"/>
          </p:cNvSpPr>
          <p:nvPr/>
        </p:nvSpPr>
        <p:spPr>
          <a:xfrm>
            <a:off x="6877080" y="3956400"/>
            <a:ext cx="360" cy="10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CA076C89-DAA2-43CE-A998-24BC5B223B2C}"/>
              </a:ext>
            </a:extLst>
          </p:cNvPr>
          <p:cNvSpPr>
            <a:spLocks noGrp="1"/>
          </p:cNvSpPr>
          <p:nvPr/>
        </p:nvSpPr>
        <p:spPr>
          <a:xfrm>
            <a:off x="5991120" y="449928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E263C63E-3F5A-45A7-9216-0385D542E4A6}"/>
              </a:ext>
            </a:extLst>
          </p:cNvPr>
          <p:cNvSpPr>
            <a:spLocks noGrp="1"/>
          </p:cNvSpPr>
          <p:nvPr/>
        </p:nvSpPr>
        <p:spPr>
          <a:xfrm>
            <a:off x="6019920" y="451836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Reranker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BE64103D-6668-4412-8658-1AD5FF2391EF}"/>
              </a:ext>
            </a:extLst>
          </p:cNvPr>
          <p:cNvSpPr>
            <a:spLocks noGrp="1"/>
          </p:cNvSpPr>
          <p:nvPr/>
        </p:nvSpPr>
        <p:spPr>
          <a:xfrm>
            <a:off x="6877080" y="4394520"/>
            <a:ext cx="360" cy="10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BD824C61-62D9-46EC-8D62-1B1998CF6097}"/>
              </a:ext>
            </a:extLst>
          </p:cNvPr>
          <p:cNvSpPr>
            <a:spLocks noGrp="1"/>
          </p:cNvSpPr>
          <p:nvPr/>
        </p:nvSpPr>
        <p:spPr>
          <a:xfrm>
            <a:off x="5991120" y="493740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2EE30CE0-222C-47E1-B2CC-153CC25E6BA0}"/>
              </a:ext>
            </a:extLst>
          </p:cNvPr>
          <p:cNvSpPr>
            <a:spLocks noGrp="1"/>
          </p:cNvSpPr>
          <p:nvPr/>
        </p:nvSpPr>
        <p:spPr>
          <a:xfrm>
            <a:off x="6019920" y="495648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Context Compression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81289B66-BE3B-4E87-A4EF-6C1F49C1CFE3}"/>
              </a:ext>
            </a:extLst>
          </p:cNvPr>
          <p:cNvSpPr>
            <a:spLocks noGrp="1"/>
          </p:cNvSpPr>
          <p:nvPr/>
        </p:nvSpPr>
        <p:spPr>
          <a:xfrm>
            <a:off x="6877080" y="4832640"/>
            <a:ext cx="360" cy="10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17464EF-A9A0-474D-B44C-5526C9203AE8}"/>
              </a:ext>
            </a:extLst>
          </p:cNvPr>
          <p:cNvSpPr>
            <a:spLocks noGrp="1"/>
          </p:cNvSpPr>
          <p:nvPr/>
        </p:nvSpPr>
        <p:spPr>
          <a:xfrm>
            <a:off x="5991120" y="5375880"/>
            <a:ext cx="1770840" cy="3326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083212BA-CF9E-4324-B048-A5CFB1901E14}"/>
              </a:ext>
            </a:extLst>
          </p:cNvPr>
          <p:cNvSpPr>
            <a:spLocks noGrp="1"/>
          </p:cNvSpPr>
          <p:nvPr/>
        </p:nvSpPr>
        <p:spPr>
          <a:xfrm>
            <a:off x="6019920" y="5394600"/>
            <a:ext cx="1713960" cy="29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Parent-Child / Fusion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689A79AB-D6A9-4195-904E-3D34C5266E1B}"/>
              </a:ext>
            </a:extLst>
          </p:cNvPr>
          <p:cNvSpPr>
            <a:spLocks noGrp="1"/>
          </p:cNvSpPr>
          <p:nvPr/>
        </p:nvSpPr>
        <p:spPr>
          <a:xfrm>
            <a:off x="6877080" y="5270760"/>
            <a:ext cx="360" cy="10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直接连接符 127">
            <a:extLst>
              <a:ext uri="{FF2B5EF4-FFF2-40B4-BE49-F238E27FC236}">
                <a16:creationId xmlns:a16="http://schemas.microsoft.com/office/drawing/2014/main" id="{71742DF4-FE7C-4C75-85AF-7AC009718ABA}"/>
              </a:ext>
            </a:extLst>
          </p:cNvPr>
          <p:cNvSpPr>
            <a:spLocks noGrp="1"/>
          </p:cNvSpPr>
          <p:nvPr/>
        </p:nvSpPr>
        <p:spPr>
          <a:xfrm>
            <a:off x="5609880" y="5889960"/>
            <a:ext cx="247680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2EC916D7-06C5-41DB-9A34-75A93E1D05CD}"/>
              </a:ext>
            </a:extLst>
          </p:cNvPr>
          <p:cNvSpPr>
            <a:spLocks noGrp="1"/>
          </p:cNvSpPr>
          <p:nvPr/>
        </p:nvSpPr>
        <p:spPr>
          <a:xfrm>
            <a:off x="5629320" y="6118560"/>
            <a:ext cx="242820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检索链路优化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6320E630-F7AD-4235-A75A-C7A8D8504E00}"/>
              </a:ext>
            </a:extLst>
          </p:cNvPr>
          <p:cNvSpPr>
            <a:spLocks noGrp="1"/>
          </p:cNvSpPr>
          <p:nvPr/>
        </p:nvSpPr>
        <p:spPr>
          <a:xfrm>
            <a:off x="5629320" y="6432840"/>
            <a:ext cx="242820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从黑盒 Retriever 到模块组合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AC0B829B-C2CE-4143-94B2-10832FAD9246}"/>
              </a:ext>
            </a:extLst>
          </p:cNvPr>
          <p:cNvSpPr>
            <a:spLocks noGrp="1"/>
          </p:cNvSpPr>
          <p:nvPr/>
        </p:nvSpPr>
        <p:spPr>
          <a:xfrm>
            <a:off x="8477280" y="3327840"/>
            <a:ext cx="1399320" cy="24184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573">
            <a:solidFill>
              <a:srgbClr val="A8A8A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CA067D4E-2BB9-4C19-ACCC-526620A61F41}"/>
              </a:ext>
            </a:extLst>
          </p:cNvPr>
          <p:cNvSpPr>
            <a:spLocks noGrp="1"/>
          </p:cNvSpPr>
          <p:nvPr/>
        </p:nvSpPr>
        <p:spPr>
          <a:xfrm>
            <a:off x="9944280" y="3327840"/>
            <a:ext cx="1389960" cy="241848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8573">
            <a:solidFill>
              <a:srgbClr val="A8A8A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ADC0AAAE-2479-421F-A0CC-9F4DB0182C80}"/>
              </a:ext>
            </a:extLst>
          </p:cNvPr>
          <p:cNvSpPr>
            <a:spLocks noGrp="1"/>
          </p:cNvSpPr>
          <p:nvPr/>
        </p:nvSpPr>
        <p:spPr>
          <a:xfrm>
            <a:off x="8534520" y="3385080"/>
            <a:ext cx="1285200" cy="52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GraphRAG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4B9BF5BA-AA69-4807-9488-CC5897201E04}"/>
              </a:ext>
            </a:extLst>
          </p:cNvPr>
          <p:cNvSpPr>
            <a:spLocks noGrp="1"/>
          </p:cNvSpPr>
          <p:nvPr/>
        </p:nvSpPr>
        <p:spPr>
          <a:xfrm>
            <a:off x="8562960" y="4146840"/>
            <a:ext cx="1237680" cy="513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573">
            <a:solidFill>
              <a:srgbClr val="A8A8A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055DA28C-1412-42C6-BB01-864E35431709}"/>
              </a:ext>
            </a:extLst>
          </p:cNvPr>
          <p:cNvSpPr>
            <a:spLocks noGrp="1"/>
          </p:cNvSpPr>
          <p:nvPr/>
        </p:nvSpPr>
        <p:spPr>
          <a:xfrm>
            <a:off x="8591400" y="4185000"/>
            <a:ext cx="1180440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实体 - 关系 - 社区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4BD7AC65-2E4A-4592-BCA4-3DED126D9A62}"/>
              </a:ext>
            </a:extLst>
          </p:cNvPr>
          <p:cNvSpPr>
            <a:spLocks noGrp="1"/>
          </p:cNvSpPr>
          <p:nvPr/>
        </p:nvSpPr>
        <p:spPr>
          <a:xfrm>
            <a:off x="8562960" y="4985280"/>
            <a:ext cx="1237680" cy="618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8573">
            <a:solidFill>
              <a:srgbClr val="A8A8A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9547751-FFBA-47A2-B7BA-18E2EEBA8A42}"/>
              </a:ext>
            </a:extLst>
          </p:cNvPr>
          <p:cNvSpPr>
            <a:spLocks noGrp="1"/>
          </p:cNvSpPr>
          <p:nvPr/>
        </p:nvSpPr>
        <p:spPr>
          <a:xfrm>
            <a:off x="8591400" y="5013720"/>
            <a:ext cx="1180440" cy="56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 / Global</a:t>
            </a:r>
            <a:endParaRPr sz="1170" b="0" spc="-1"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Search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A33D8D13-930F-4127-8EE1-EB09D65663DE}"/>
              </a:ext>
            </a:extLst>
          </p:cNvPr>
          <p:cNvSpPr>
            <a:spLocks noGrp="1"/>
          </p:cNvSpPr>
          <p:nvPr/>
        </p:nvSpPr>
        <p:spPr>
          <a:xfrm>
            <a:off x="9182160" y="4661280"/>
            <a:ext cx="360" cy="32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15AA15CC-38EE-4906-B3A2-F08724FCA3EE}"/>
              </a:ext>
            </a:extLst>
          </p:cNvPr>
          <p:cNvSpPr>
            <a:spLocks noGrp="1"/>
          </p:cNvSpPr>
          <p:nvPr/>
        </p:nvSpPr>
        <p:spPr>
          <a:xfrm>
            <a:off x="9982080" y="3366000"/>
            <a:ext cx="1313640" cy="58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Hierarchical RAG /</a:t>
            </a:r>
            <a:endParaRPr sz="1240" b="0" spc="-1"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RAPTOR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A40606C0-F8FC-42CD-9539-B2A571F27A53}"/>
              </a:ext>
            </a:extLst>
          </p:cNvPr>
          <p:cNvSpPr>
            <a:spLocks noGrp="1"/>
          </p:cNvSpPr>
          <p:nvPr/>
        </p:nvSpPr>
        <p:spPr>
          <a:xfrm>
            <a:off x="10020240" y="4137480"/>
            <a:ext cx="1237680" cy="67572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8573">
            <a:solidFill>
              <a:srgbClr val="A8A8A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9B9108F9-067F-4FFA-AF43-8594F27E394B}"/>
              </a:ext>
            </a:extLst>
          </p:cNvPr>
          <p:cNvSpPr>
            <a:spLocks noGrp="1"/>
          </p:cNvSpPr>
          <p:nvPr/>
        </p:nvSpPr>
        <p:spPr>
          <a:xfrm>
            <a:off x="10049040" y="4175640"/>
            <a:ext cx="1180440" cy="60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9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Chunk–Cluster–</a:t>
            </a:r>
            <a:endParaRPr sz="1090" b="0" spc="-1"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sz="109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Summary</a:t>
            </a:r>
            <a:endParaRPr sz="1090" b="0" spc="-1">
              <a:latin typeface="Arial"/>
              <a:ea typeface="Arial"/>
              <a:cs typeface="Arial"/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C54938A8-9AE1-4CF0-8973-A7D9BB79EA0C}"/>
              </a:ext>
            </a:extLst>
          </p:cNvPr>
          <p:cNvSpPr>
            <a:spLocks noGrp="1"/>
          </p:cNvSpPr>
          <p:nvPr/>
        </p:nvSpPr>
        <p:spPr>
          <a:xfrm>
            <a:off x="10020240" y="5099400"/>
            <a:ext cx="1237680" cy="513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573">
            <a:solidFill>
              <a:srgbClr val="A8A8A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8AB68A6F-E77F-42D1-AED1-186AEDA14E3A}"/>
              </a:ext>
            </a:extLst>
          </p:cNvPr>
          <p:cNvSpPr>
            <a:spLocks noGrp="1"/>
          </p:cNvSpPr>
          <p:nvPr/>
        </p:nvSpPr>
        <p:spPr>
          <a:xfrm>
            <a:off x="10049040" y="5137560"/>
            <a:ext cx="1180440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多层级检索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6F460A61-DA1D-4114-87F7-62A6EAD3E82E}"/>
              </a:ext>
            </a:extLst>
          </p:cNvPr>
          <p:cNvSpPr>
            <a:spLocks noGrp="1"/>
          </p:cNvSpPr>
          <p:nvPr/>
        </p:nvSpPr>
        <p:spPr>
          <a:xfrm>
            <a:off x="10639440" y="4813560"/>
            <a:ext cx="360" cy="285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14C594E9-6526-428F-9F4E-51911B0EA957}"/>
              </a:ext>
            </a:extLst>
          </p:cNvPr>
          <p:cNvSpPr>
            <a:spLocks noGrp="1"/>
          </p:cNvSpPr>
          <p:nvPr/>
        </p:nvSpPr>
        <p:spPr>
          <a:xfrm>
            <a:off x="8496000" y="5889960"/>
            <a:ext cx="280044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A1B9453C-3D82-45AB-A3DD-EE6504506D05}"/>
              </a:ext>
            </a:extLst>
          </p:cNvPr>
          <p:cNvSpPr>
            <a:spLocks noGrp="1"/>
          </p:cNvSpPr>
          <p:nvPr/>
        </p:nvSpPr>
        <p:spPr>
          <a:xfrm>
            <a:off x="8486640" y="6385320"/>
            <a:ext cx="282816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从文本相似度到结构化知识理解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67E74207-03B4-415B-BB0F-5B253BF7990E}"/>
              </a:ext>
            </a:extLst>
          </p:cNvPr>
          <p:cNvSpPr>
            <a:spLocks noGrp="1"/>
          </p:cNvSpPr>
          <p:nvPr/>
        </p:nvSpPr>
        <p:spPr>
          <a:xfrm>
            <a:off x="12011040" y="3423240"/>
            <a:ext cx="1637640" cy="513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5B604936-EADD-43AA-84C0-D430F7108E69}"/>
              </a:ext>
            </a:extLst>
          </p:cNvPr>
          <p:cNvSpPr>
            <a:spLocks noGrp="1"/>
          </p:cNvSpPr>
          <p:nvPr/>
        </p:nvSpPr>
        <p:spPr>
          <a:xfrm>
            <a:off x="12039480" y="3441960"/>
            <a:ext cx="158040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Adaptive RAG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1FA32E63-5C14-415A-AE39-A6922375F4A5}"/>
              </a:ext>
            </a:extLst>
          </p:cNvPr>
          <p:cNvSpPr>
            <a:spLocks noGrp="1"/>
          </p:cNvSpPr>
          <p:nvPr/>
        </p:nvSpPr>
        <p:spPr>
          <a:xfrm>
            <a:off x="12011040" y="4213800"/>
            <a:ext cx="1637640" cy="513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F655A07F-D698-478D-BC9B-2243C4D777D0}"/>
              </a:ext>
            </a:extLst>
          </p:cNvPr>
          <p:cNvSpPr>
            <a:spLocks noGrp="1"/>
          </p:cNvSpPr>
          <p:nvPr/>
        </p:nvSpPr>
        <p:spPr>
          <a:xfrm>
            <a:off x="12039480" y="4232880"/>
            <a:ext cx="158040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Self-RAG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7C6773C0-DE18-4AF8-A14B-139C5E9DA6DC}"/>
              </a:ext>
            </a:extLst>
          </p:cNvPr>
          <p:cNvSpPr>
            <a:spLocks noGrp="1"/>
          </p:cNvSpPr>
          <p:nvPr/>
        </p:nvSpPr>
        <p:spPr>
          <a:xfrm>
            <a:off x="12830040" y="3937320"/>
            <a:ext cx="360" cy="275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62AF5510-E645-4B28-937E-E16C526F5ED7}"/>
              </a:ext>
            </a:extLst>
          </p:cNvPr>
          <p:cNvSpPr>
            <a:spLocks noGrp="1"/>
          </p:cNvSpPr>
          <p:nvPr/>
        </p:nvSpPr>
        <p:spPr>
          <a:xfrm>
            <a:off x="12011040" y="5004360"/>
            <a:ext cx="1637640" cy="513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04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38AEEE8-E0D4-4C3A-9F6D-9EE22A22A352}"/>
              </a:ext>
            </a:extLst>
          </p:cNvPr>
          <p:cNvSpPr>
            <a:spLocks noGrp="1"/>
          </p:cNvSpPr>
          <p:nvPr/>
        </p:nvSpPr>
        <p:spPr>
          <a:xfrm>
            <a:off x="12039480" y="5023440"/>
            <a:ext cx="158040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CRAG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CB4214E3-200A-41BD-94EA-301202C538A7}"/>
              </a:ext>
            </a:extLst>
          </p:cNvPr>
          <p:cNvSpPr>
            <a:spLocks noGrp="1"/>
          </p:cNvSpPr>
          <p:nvPr/>
        </p:nvSpPr>
        <p:spPr>
          <a:xfrm>
            <a:off x="12830040" y="4727880"/>
            <a:ext cx="360" cy="275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0478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5" name="直接连接符 154">
            <a:extLst>
              <a:ext uri="{FF2B5EF4-FFF2-40B4-BE49-F238E27FC236}">
                <a16:creationId xmlns:a16="http://schemas.microsoft.com/office/drawing/2014/main" id="{E2F52322-677B-4CA4-87DE-89FF6A6E143D}"/>
              </a:ext>
            </a:extLst>
          </p:cNvPr>
          <p:cNvSpPr>
            <a:spLocks noGrp="1"/>
          </p:cNvSpPr>
          <p:nvPr/>
        </p:nvSpPr>
        <p:spPr>
          <a:xfrm>
            <a:off x="11706120" y="5889960"/>
            <a:ext cx="219060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C77B75B1-72D6-47B3-A5A1-6A46336A7242}"/>
              </a:ext>
            </a:extLst>
          </p:cNvPr>
          <p:cNvSpPr>
            <a:spLocks noGrp="1"/>
          </p:cNvSpPr>
          <p:nvPr/>
        </p:nvSpPr>
        <p:spPr>
          <a:xfrm>
            <a:off x="11715840" y="6118560"/>
            <a:ext cx="218052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何时检索、查什么、查多少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3779E62A-63AB-40D6-933B-B9D51FD1F59C}"/>
              </a:ext>
            </a:extLst>
          </p:cNvPr>
          <p:cNvSpPr>
            <a:spLocks noGrp="1"/>
          </p:cNvSpPr>
          <p:nvPr/>
        </p:nvSpPr>
        <p:spPr>
          <a:xfrm>
            <a:off x="11715840" y="6423480"/>
            <a:ext cx="218052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自反思 / 纠错 / 验证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A3113CB9-EFB6-4DF9-92AA-34F4AD6339F9}"/>
              </a:ext>
            </a:extLst>
          </p:cNvPr>
          <p:cNvSpPr>
            <a:spLocks noGrp="1"/>
          </p:cNvSpPr>
          <p:nvPr/>
        </p:nvSpPr>
        <p:spPr>
          <a:xfrm>
            <a:off x="11715840" y="6728400"/>
            <a:ext cx="218052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3000"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从 Accuracy 到 Reliability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EDE74C2E-482B-4A40-BBCF-A0F54A37DCD9}"/>
              </a:ext>
            </a:extLst>
          </p:cNvPr>
          <p:cNvSpPr>
            <a:spLocks noGrp="1"/>
          </p:cNvSpPr>
          <p:nvPr/>
        </p:nvSpPr>
        <p:spPr>
          <a:xfrm>
            <a:off x="14287680" y="4099320"/>
            <a:ext cx="904320" cy="627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9271FE77-57F1-4B6E-84D7-0D3EBE060856}"/>
              </a:ext>
            </a:extLst>
          </p:cNvPr>
          <p:cNvSpPr>
            <a:spLocks noGrp="1"/>
          </p:cNvSpPr>
          <p:nvPr/>
        </p:nvSpPr>
        <p:spPr>
          <a:xfrm>
            <a:off x="14325480" y="4156560"/>
            <a:ext cx="82800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Planning /</a:t>
            </a:r>
            <a:endParaRPr sz="1200" b="0" spc="-1"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Routing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73E308BD-6AE8-46A4-9225-B749A08C38C8}"/>
              </a:ext>
            </a:extLst>
          </p:cNvPr>
          <p:cNvSpPr>
            <a:spLocks noGrp="1"/>
          </p:cNvSpPr>
          <p:nvPr/>
        </p:nvSpPr>
        <p:spPr>
          <a:xfrm>
            <a:off x="15535440" y="3327840"/>
            <a:ext cx="1113840" cy="4849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20857DB0-B16A-4D34-9791-F16D4A0FE867}"/>
              </a:ext>
            </a:extLst>
          </p:cNvPr>
          <p:cNvSpPr>
            <a:spLocks noGrp="1"/>
          </p:cNvSpPr>
          <p:nvPr/>
        </p:nvSpPr>
        <p:spPr>
          <a:xfrm>
            <a:off x="15554160" y="3346920"/>
            <a:ext cx="1075680" cy="44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Tool Use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14CD978D-6B40-4C67-AEDB-FC76D4FDCE7F}"/>
              </a:ext>
            </a:extLst>
          </p:cNvPr>
          <p:cNvSpPr>
            <a:spLocks noGrp="1"/>
          </p:cNvSpPr>
          <p:nvPr/>
        </p:nvSpPr>
        <p:spPr>
          <a:xfrm>
            <a:off x="15535440" y="3908880"/>
            <a:ext cx="1113840" cy="4849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88A7F41B-2298-4DF1-A8C5-556754DC729A}"/>
              </a:ext>
            </a:extLst>
          </p:cNvPr>
          <p:cNvSpPr>
            <a:spLocks noGrp="1"/>
          </p:cNvSpPr>
          <p:nvPr/>
        </p:nvSpPr>
        <p:spPr>
          <a:xfrm>
            <a:off x="15554160" y="3927960"/>
            <a:ext cx="1075680" cy="44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Memory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6AA50DD4-151E-4D4E-B324-0B81684394A6}"/>
              </a:ext>
            </a:extLst>
          </p:cNvPr>
          <p:cNvSpPr>
            <a:spLocks noGrp="1"/>
          </p:cNvSpPr>
          <p:nvPr/>
        </p:nvSpPr>
        <p:spPr>
          <a:xfrm>
            <a:off x="15535440" y="4489920"/>
            <a:ext cx="1113840" cy="4849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2AFDDD2D-DEB0-41F5-9FF6-29CC38B9CE92}"/>
              </a:ext>
            </a:extLst>
          </p:cNvPr>
          <p:cNvSpPr>
            <a:spLocks noGrp="1"/>
          </p:cNvSpPr>
          <p:nvPr/>
        </p:nvSpPr>
        <p:spPr>
          <a:xfrm>
            <a:off x="15554160" y="4509000"/>
            <a:ext cx="1075680" cy="44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Multimodal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FA7184C4-6EEF-4B06-AAF0-7A5AB2D5BBCF}"/>
              </a:ext>
            </a:extLst>
          </p:cNvPr>
          <p:cNvSpPr>
            <a:spLocks noGrp="1"/>
          </p:cNvSpPr>
          <p:nvPr/>
        </p:nvSpPr>
        <p:spPr>
          <a:xfrm>
            <a:off x="15535440" y="5070960"/>
            <a:ext cx="1113840" cy="4849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2602B07B-E1A5-4703-9C38-335A22A84BA9}"/>
              </a:ext>
            </a:extLst>
          </p:cNvPr>
          <p:cNvSpPr>
            <a:spLocks noGrp="1"/>
          </p:cNvSpPr>
          <p:nvPr/>
        </p:nvSpPr>
        <p:spPr>
          <a:xfrm>
            <a:off x="15554160" y="5090040"/>
            <a:ext cx="1075680" cy="44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Online Data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636A8533-DBDE-4155-8FAA-7D2059F04B8F}"/>
              </a:ext>
            </a:extLst>
          </p:cNvPr>
          <p:cNvSpPr>
            <a:spLocks noGrp="1"/>
          </p:cNvSpPr>
          <p:nvPr/>
        </p:nvSpPr>
        <p:spPr>
          <a:xfrm flipV="1">
            <a:off x="15192360" y="3570120"/>
            <a:ext cx="342360" cy="84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任意多边形: 形状 169">
            <a:extLst>
              <a:ext uri="{FF2B5EF4-FFF2-40B4-BE49-F238E27FC236}">
                <a16:creationId xmlns:a16="http://schemas.microsoft.com/office/drawing/2014/main" id="{AA593CAF-D45F-497C-A4D5-E2C4052F38A1}"/>
              </a:ext>
            </a:extLst>
          </p:cNvPr>
          <p:cNvSpPr>
            <a:spLocks noGrp="1"/>
          </p:cNvSpPr>
          <p:nvPr/>
        </p:nvSpPr>
        <p:spPr>
          <a:xfrm flipV="1">
            <a:off x="15192360" y="4151160"/>
            <a:ext cx="342360" cy="261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E83E32F1-DB99-4E0F-9654-1370E2D16C95}"/>
              </a:ext>
            </a:extLst>
          </p:cNvPr>
          <p:cNvSpPr>
            <a:spLocks noGrp="1"/>
          </p:cNvSpPr>
          <p:nvPr/>
        </p:nvSpPr>
        <p:spPr>
          <a:xfrm>
            <a:off x="15192360" y="4413600"/>
            <a:ext cx="342360" cy="318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2" name="任意多边形: 形状 171">
            <a:extLst>
              <a:ext uri="{FF2B5EF4-FFF2-40B4-BE49-F238E27FC236}">
                <a16:creationId xmlns:a16="http://schemas.microsoft.com/office/drawing/2014/main" id="{C3A9A1DB-1197-46E7-B9E3-793B94059692}"/>
              </a:ext>
            </a:extLst>
          </p:cNvPr>
          <p:cNvSpPr>
            <a:spLocks noGrp="1"/>
          </p:cNvSpPr>
          <p:nvPr/>
        </p:nvSpPr>
        <p:spPr>
          <a:xfrm>
            <a:off x="15192360" y="4413600"/>
            <a:ext cx="342360" cy="89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2383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3" name="直接连接符 172">
            <a:extLst>
              <a:ext uri="{FF2B5EF4-FFF2-40B4-BE49-F238E27FC236}">
                <a16:creationId xmlns:a16="http://schemas.microsoft.com/office/drawing/2014/main" id="{7BE57EBF-445B-4BDF-BC95-C7F948BB14B4}"/>
              </a:ext>
            </a:extLst>
          </p:cNvPr>
          <p:cNvSpPr>
            <a:spLocks noGrp="1"/>
          </p:cNvSpPr>
          <p:nvPr/>
        </p:nvSpPr>
        <p:spPr>
          <a:xfrm>
            <a:off x="14268240" y="5889960"/>
            <a:ext cx="2381400" cy="360"/>
          </a:xfrm>
          <a:prstGeom prst="line">
            <a:avLst/>
          </a:prstGeom>
          <a:ln w="9525">
            <a:solidFill>
              <a:srgbClr val="A5A5A5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6F3242CA-3E54-4985-97B5-83D03531A837}"/>
              </a:ext>
            </a:extLst>
          </p:cNvPr>
          <p:cNvSpPr>
            <a:spLocks noGrp="1"/>
          </p:cNvSpPr>
          <p:nvPr/>
        </p:nvSpPr>
        <p:spPr>
          <a:xfrm>
            <a:off x="14287680" y="6118560"/>
            <a:ext cx="23806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检索与推理交替进行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E09AB943-2624-4CAA-9174-BDB7CA123652}"/>
              </a:ext>
            </a:extLst>
          </p:cNvPr>
          <p:cNvSpPr>
            <a:spLocks noGrp="1"/>
          </p:cNvSpPr>
          <p:nvPr/>
        </p:nvSpPr>
        <p:spPr>
          <a:xfrm>
            <a:off x="14287680" y="6423480"/>
            <a:ext cx="23806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面向任务的动态知识访问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F02D7C44-E1F2-4746-8EB0-77F0E9102741}"/>
              </a:ext>
            </a:extLst>
          </p:cNvPr>
          <p:cNvSpPr>
            <a:spLocks noGrp="1"/>
          </p:cNvSpPr>
          <p:nvPr/>
        </p:nvSpPr>
        <p:spPr>
          <a:xfrm>
            <a:off x="14287680" y="6728400"/>
            <a:ext cx="23806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4000"/>
          </a:bodyPr>
          <a:lstStyle/>
          <a:p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RAG 成为 Agent 的知识基础设施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177" name="箭头: 右 176">
            <a:extLst>
              <a:ext uri="{FF2B5EF4-FFF2-40B4-BE49-F238E27FC236}">
                <a16:creationId xmlns:a16="http://schemas.microsoft.com/office/drawing/2014/main" id="{2AEE77D1-93F6-43A7-9EDD-6DECEDD89110}"/>
              </a:ext>
            </a:extLst>
          </p:cNvPr>
          <p:cNvSpPr>
            <a:spLocks noGrp="1"/>
          </p:cNvSpPr>
          <p:nvPr/>
        </p:nvSpPr>
        <p:spPr>
          <a:xfrm>
            <a:off x="2695680" y="4404240"/>
            <a:ext cx="294480" cy="313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箭头: 右 177">
            <a:extLst>
              <a:ext uri="{FF2B5EF4-FFF2-40B4-BE49-F238E27FC236}">
                <a16:creationId xmlns:a16="http://schemas.microsoft.com/office/drawing/2014/main" id="{C33D5767-6A45-4933-8A6D-E8FAF43705B0}"/>
              </a:ext>
            </a:extLst>
          </p:cNvPr>
          <p:cNvSpPr>
            <a:spLocks noGrp="1"/>
          </p:cNvSpPr>
          <p:nvPr/>
        </p:nvSpPr>
        <p:spPr>
          <a:xfrm>
            <a:off x="5267160" y="4404240"/>
            <a:ext cx="294480" cy="313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9" name="箭头: 右 178">
            <a:extLst>
              <a:ext uri="{FF2B5EF4-FFF2-40B4-BE49-F238E27FC236}">
                <a16:creationId xmlns:a16="http://schemas.microsoft.com/office/drawing/2014/main" id="{40D4AA0F-4C51-4AC0-AE86-2878AE8B398A}"/>
              </a:ext>
            </a:extLst>
          </p:cNvPr>
          <p:cNvSpPr>
            <a:spLocks noGrp="1"/>
          </p:cNvSpPr>
          <p:nvPr/>
        </p:nvSpPr>
        <p:spPr>
          <a:xfrm>
            <a:off x="8143920" y="4404240"/>
            <a:ext cx="294480" cy="313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箭头: 右 179">
            <a:extLst>
              <a:ext uri="{FF2B5EF4-FFF2-40B4-BE49-F238E27FC236}">
                <a16:creationId xmlns:a16="http://schemas.microsoft.com/office/drawing/2014/main" id="{C1F238DF-764C-47C1-94DF-FE33B5CA89C9}"/>
              </a:ext>
            </a:extLst>
          </p:cNvPr>
          <p:cNvSpPr>
            <a:spLocks noGrp="1"/>
          </p:cNvSpPr>
          <p:nvPr/>
        </p:nvSpPr>
        <p:spPr>
          <a:xfrm>
            <a:off x="11420640" y="4404240"/>
            <a:ext cx="294480" cy="313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1" name="箭头: 右 180">
            <a:extLst>
              <a:ext uri="{FF2B5EF4-FFF2-40B4-BE49-F238E27FC236}">
                <a16:creationId xmlns:a16="http://schemas.microsoft.com/office/drawing/2014/main" id="{2A7F4418-E8F0-4820-BBEF-E86B359938D1}"/>
              </a:ext>
            </a:extLst>
          </p:cNvPr>
          <p:cNvSpPr>
            <a:spLocks noGrp="1"/>
          </p:cNvSpPr>
          <p:nvPr/>
        </p:nvSpPr>
        <p:spPr>
          <a:xfrm>
            <a:off x="14040000" y="4404240"/>
            <a:ext cx="294480" cy="313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1E19BEA4-0378-49A2-BC27-3EB6F454C323}"/>
              </a:ext>
            </a:extLst>
          </p:cNvPr>
          <p:cNvSpPr>
            <a:spLocks noGrp="1"/>
          </p:cNvSpPr>
          <p:nvPr/>
        </p:nvSpPr>
        <p:spPr>
          <a:xfrm>
            <a:off x="142920" y="7614000"/>
            <a:ext cx="16610760" cy="637560"/>
          </a:xfrm>
          <a:prstGeom prst="roundRect">
            <a:avLst>
              <a:gd name="adj" fmla="val 20896"/>
            </a:avLst>
          </a:prstGeom>
          <a:solidFill>
            <a:srgbClr val="FFFFFF"/>
          </a:solidFill>
          <a:ln w="11906">
            <a:solidFill>
              <a:srgbClr val="11111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D37E7C9C-FBA1-415F-A69B-DE5926816035}"/>
              </a:ext>
            </a:extLst>
          </p:cNvPr>
          <p:cNvSpPr>
            <a:spLocks noGrp="1"/>
          </p:cNvSpPr>
          <p:nvPr/>
        </p:nvSpPr>
        <p:spPr>
          <a:xfrm>
            <a:off x="2571840" y="7709400"/>
            <a:ext cx="11753280" cy="42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结论：RAG 不是单线替代，而是检索能力、知识组织、流程控制、知识模态与可靠性五个维度的并行升级。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5123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C23BF221-EF09-4C31-ACDC-B8C61CF4D84F}"/>
              </a:ext>
            </a:extLst>
          </p:cNvPr>
          <p:cNvSpPr>
            <a:spLocks noGrp="1"/>
          </p:cNvSpPr>
          <p:nvPr/>
        </p:nvSpPr>
        <p:spPr>
          <a:xfrm>
            <a:off x="900000" y="360000"/>
            <a:ext cx="14586840" cy="335304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09EF1B48-CC60-43AD-834E-BC26616D46D2}"/>
              </a:ext>
            </a:extLst>
          </p:cNvPr>
          <p:cNvSpPr>
            <a:spLocks noGrp="1"/>
          </p:cNvSpPr>
          <p:nvPr/>
        </p:nvSpPr>
        <p:spPr>
          <a:xfrm>
            <a:off x="5717520" y="438120"/>
            <a:ext cx="4951800" cy="40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5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资料来源（重点确认）</a:t>
            </a:r>
            <a:endParaRPr sz="2550" b="0" spc="-1">
              <a:latin typeface="Arial"/>
              <a:ea typeface="Arial"/>
              <a:cs typeface="Arial"/>
            </a:endParaRPr>
          </a:p>
        </p:txBody>
      </p: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377482C7-450C-43A7-A1DB-2E2D23FAFD0E}"/>
              </a:ext>
            </a:extLst>
          </p:cNvPr>
          <p:cNvSpPr>
            <a:spLocks noGrp="1"/>
          </p:cNvSpPr>
          <p:nvPr/>
        </p:nvSpPr>
        <p:spPr>
          <a:xfrm>
            <a:off x="1016640" y="932400"/>
            <a:ext cx="1856520" cy="265968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1333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875029FD-FEDE-46B9-B960-EF414AFAB5E7}"/>
              </a:ext>
            </a:extLst>
          </p:cNvPr>
          <p:cNvSpPr>
            <a:spLocks noGrp="1"/>
          </p:cNvSpPr>
          <p:nvPr/>
        </p:nvSpPr>
        <p:spPr>
          <a:xfrm>
            <a:off x="174780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9352742A-855A-4778-B135-6449B1941B83}"/>
              </a:ext>
            </a:extLst>
          </p:cNvPr>
          <p:cNvSpPr>
            <a:spLocks noGrp="1"/>
          </p:cNvSpPr>
          <p:nvPr/>
        </p:nvSpPr>
        <p:spPr>
          <a:xfrm>
            <a:off x="174780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9" name="直接连接符 188">
            <a:extLst>
              <a:ext uri="{FF2B5EF4-FFF2-40B4-BE49-F238E27FC236}">
                <a16:creationId xmlns:a16="http://schemas.microsoft.com/office/drawing/2014/main" id="{FA6FDE58-5901-4AC8-9CD1-3450EE89B65B}"/>
              </a:ext>
            </a:extLst>
          </p:cNvPr>
          <p:cNvSpPr>
            <a:spLocks noGrp="1"/>
          </p:cNvSpPr>
          <p:nvPr/>
        </p:nvSpPr>
        <p:spPr>
          <a:xfrm>
            <a:off x="184608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0" name="直接连接符 189">
            <a:extLst>
              <a:ext uri="{FF2B5EF4-FFF2-40B4-BE49-F238E27FC236}">
                <a16:creationId xmlns:a16="http://schemas.microsoft.com/office/drawing/2014/main" id="{E97ECB59-856F-4A3F-B699-F7AE40E7B749}"/>
              </a:ext>
            </a:extLst>
          </p:cNvPr>
          <p:cNvSpPr>
            <a:spLocks noGrp="1"/>
          </p:cNvSpPr>
          <p:nvPr/>
        </p:nvSpPr>
        <p:spPr>
          <a:xfrm>
            <a:off x="184608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1" name="直接连接符 190">
            <a:extLst>
              <a:ext uri="{FF2B5EF4-FFF2-40B4-BE49-F238E27FC236}">
                <a16:creationId xmlns:a16="http://schemas.microsoft.com/office/drawing/2014/main" id="{94FE8834-CB63-4D41-BC07-1DF0B8920FCA}"/>
              </a:ext>
            </a:extLst>
          </p:cNvPr>
          <p:cNvSpPr>
            <a:spLocks noGrp="1"/>
          </p:cNvSpPr>
          <p:nvPr/>
        </p:nvSpPr>
        <p:spPr>
          <a:xfrm>
            <a:off x="184608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D740DA03-B386-4A7D-BC4D-FFF31F7D7FA1}"/>
              </a:ext>
            </a:extLst>
          </p:cNvPr>
          <p:cNvSpPr>
            <a:spLocks noGrp="1"/>
          </p:cNvSpPr>
          <p:nvPr/>
        </p:nvSpPr>
        <p:spPr>
          <a:xfrm>
            <a:off x="1088280" y="1616760"/>
            <a:ext cx="171288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设计报告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193" name="直接连接符 192">
            <a:extLst>
              <a:ext uri="{FF2B5EF4-FFF2-40B4-BE49-F238E27FC236}">
                <a16:creationId xmlns:a16="http://schemas.microsoft.com/office/drawing/2014/main" id="{80E975AF-FF0D-492F-9759-B71C0625964E}"/>
              </a:ext>
            </a:extLst>
          </p:cNvPr>
          <p:cNvSpPr>
            <a:spLocks noGrp="1"/>
          </p:cNvSpPr>
          <p:nvPr/>
        </p:nvSpPr>
        <p:spPr>
          <a:xfrm>
            <a:off x="1195560" y="2067120"/>
            <a:ext cx="1498680" cy="360"/>
          </a:xfrm>
          <a:prstGeom prst="line">
            <a:avLst/>
          </a:prstGeom>
          <a:ln w="7620">
            <a:solidFill>
              <a:srgbClr val="A9A9A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98F0EF4E-A284-4461-8C17-780BEE62EE4D}"/>
              </a:ext>
            </a:extLst>
          </p:cNvPr>
          <p:cNvSpPr>
            <a:spLocks noGrp="1"/>
          </p:cNvSpPr>
          <p:nvPr/>
        </p:nvSpPr>
        <p:spPr>
          <a:xfrm>
            <a:off x="1240920" y="2171520"/>
            <a:ext cx="1407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系统目标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CB2FD5B2-3510-40B3-BFB6-E94199CA1F63}"/>
              </a:ext>
            </a:extLst>
          </p:cNvPr>
          <p:cNvSpPr>
            <a:spLocks noGrp="1"/>
          </p:cNvSpPr>
          <p:nvPr/>
        </p:nvSpPr>
        <p:spPr>
          <a:xfrm>
            <a:off x="1240920" y="2422440"/>
            <a:ext cx="1407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设备组成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2238F1BE-8EE1-44AA-8107-E77E57B04355}"/>
              </a:ext>
            </a:extLst>
          </p:cNvPr>
          <p:cNvSpPr>
            <a:spLocks noGrp="1"/>
          </p:cNvSpPr>
          <p:nvPr/>
        </p:nvSpPr>
        <p:spPr>
          <a:xfrm>
            <a:off x="1240920" y="2674080"/>
            <a:ext cx="1407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信号链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5256DE8D-7B1C-43A1-879A-0166771ACA20}"/>
              </a:ext>
            </a:extLst>
          </p:cNvPr>
          <p:cNvSpPr>
            <a:spLocks noGrp="1"/>
          </p:cNvSpPr>
          <p:nvPr/>
        </p:nvSpPr>
        <p:spPr>
          <a:xfrm>
            <a:off x="1240920" y="2925360"/>
            <a:ext cx="1407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控制架构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4A27B852-3940-4F3B-B7C3-5BF1F9D470CC}"/>
              </a:ext>
            </a:extLst>
          </p:cNvPr>
          <p:cNvSpPr>
            <a:spLocks noGrp="1"/>
          </p:cNvSpPr>
          <p:nvPr/>
        </p:nvSpPr>
        <p:spPr>
          <a:xfrm>
            <a:off x="1124280" y="3202920"/>
            <a:ext cx="164088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454E71A7-0F19-4F12-AB20-D71E2E6D9A04}"/>
              </a:ext>
            </a:extLst>
          </p:cNvPr>
          <p:cNvSpPr>
            <a:spLocks noGrp="1"/>
          </p:cNvSpPr>
          <p:nvPr/>
        </p:nvSpPr>
        <p:spPr>
          <a:xfrm>
            <a:off x="1159920" y="3220200"/>
            <a:ext cx="156924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A2841943-32F8-49CA-B825-8395095BBD6D}"/>
              </a:ext>
            </a:extLst>
          </p:cNvPr>
          <p:cNvSpPr>
            <a:spLocks noGrp="1"/>
          </p:cNvSpPr>
          <p:nvPr/>
        </p:nvSpPr>
        <p:spPr>
          <a:xfrm>
            <a:off x="2972160" y="932400"/>
            <a:ext cx="1829520" cy="265968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333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10621D39-1485-4A37-9047-476C54EB2391}"/>
              </a:ext>
            </a:extLst>
          </p:cNvPr>
          <p:cNvSpPr>
            <a:spLocks noGrp="1"/>
          </p:cNvSpPr>
          <p:nvPr/>
        </p:nvSpPr>
        <p:spPr>
          <a:xfrm>
            <a:off x="369000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DB86D156-2280-499B-A955-3255330DF39C}"/>
              </a:ext>
            </a:extLst>
          </p:cNvPr>
          <p:cNvSpPr>
            <a:spLocks noGrp="1"/>
          </p:cNvSpPr>
          <p:nvPr/>
        </p:nvSpPr>
        <p:spPr>
          <a:xfrm>
            <a:off x="369000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3" name="直接连接符 202">
            <a:extLst>
              <a:ext uri="{FF2B5EF4-FFF2-40B4-BE49-F238E27FC236}">
                <a16:creationId xmlns:a16="http://schemas.microsoft.com/office/drawing/2014/main" id="{46EA6CBB-FCAD-485B-8879-8121E5870D7F}"/>
              </a:ext>
            </a:extLst>
          </p:cNvPr>
          <p:cNvSpPr>
            <a:spLocks noGrp="1"/>
          </p:cNvSpPr>
          <p:nvPr/>
        </p:nvSpPr>
        <p:spPr>
          <a:xfrm>
            <a:off x="378864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4" name="直接连接符 203">
            <a:extLst>
              <a:ext uri="{FF2B5EF4-FFF2-40B4-BE49-F238E27FC236}">
                <a16:creationId xmlns:a16="http://schemas.microsoft.com/office/drawing/2014/main" id="{B772422E-6628-4D1B-B31F-A7618BB755E2}"/>
              </a:ext>
            </a:extLst>
          </p:cNvPr>
          <p:cNvSpPr>
            <a:spLocks noGrp="1"/>
          </p:cNvSpPr>
          <p:nvPr/>
        </p:nvSpPr>
        <p:spPr>
          <a:xfrm>
            <a:off x="378864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5" name="直接连接符 204">
            <a:extLst>
              <a:ext uri="{FF2B5EF4-FFF2-40B4-BE49-F238E27FC236}">
                <a16:creationId xmlns:a16="http://schemas.microsoft.com/office/drawing/2014/main" id="{BF054F2A-BF6B-4E71-9422-6454FB59C013}"/>
              </a:ext>
            </a:extLst>
          </p:cNvPr>
          <p:cNvSpPr>
            <a:spLocks noGrp="1"/>
          </p:cNvSpPr>
          <p:nvPr/>
        </p:nvSpPr>
        <p:spPr>
          <a:xfrm>
            <a:off x="378864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148BDB4D-9FD1-4B73-BB19-235079AAAD77}"/>
              </a:ext>
            </a:extLst>
          </p:cNvPr>
          <p:cNvSpPr>
            <a:spLocks noGrp="1"/>
          </p:cNvSpPr>
          <p:nvPr/>
        </p:nvSpPr>
        <p:spPr>
          <a:xfrm>
            <a:off x="3044160" y="1616760"/>
            <a:ext cx="168588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操作手册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07" name="直接连接符 206">
            <a:extLst>
              <a:ext uri="{FF2B5EF4-FFF2-40B4-BE49-F238E27FC236}">
                <a16:creationId xmlns:a16="http://schemas.microsoft.com/office/drawing/2014/main" id="{76F2F170-619A-44CE-AFA3-E8BF8525AD46}"/>
              </a:ext>
            </a:extLst>
          </p:cNvPr>
          <p:cNvSpPr>
            <a:spLocks noGrp="1"/>
          </p:cNvSpPr>
          <p:nvPr/>
        </p:nvSpPr>
        <p:spPr>
          <a:xfrm>
            <a:off x="3151440" y="2067120"/>
            <a:ext cx="1471320" cy="360"/>
          </a:xfrm>
          <a:prstGeom prst="line">
            <a:avLst/>
          </a:prstGeom>
          <a:ln w="7620">
            <a:solidFill>
              <a:srgbClr val="A9A9A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D1DC73BF-9787-481B-8D60-AD8BC6B6BC34}"/>
              </a:ext>
            </a:extLst>
          </p:cNvPr>
          <p:cNvSpPr>
            <a:spLocks noGrp="1"/>
          </p:cNvSpPr>
          <p:nvPr/>
        </p:nvSpPr>
        <p:spPr>
          <a:xfrm>
            <a:off x="3196440" y="2171520"/>
            <a:ext cx="138132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操作步骤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85D8D77A-CD45-42BC-A4A7-36A9D0737695}"/>
              </a:ext>
            </a:extLst>
          </p:cNvPr>
          <p:cNvSpPr>
            <a:spLocks noGrp="1"/>
          </p:cNvSpPr>
          <p:nvPr/>
        </p:nvSpPr>
        <p:spPr>
          <a:xfrm>
            <a:off x="3196440" y="2422440"/>
            <a:ext cx="138132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前置条件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832E2761-5F9A-4039-BC9E-978D79DAC9A1}"/>
              </a:ext>
            </a:extLst>
          </p:cNvPr>
          <p:cNvSpPr>
            <a:spLocks noGrp="1"/>
          </p:cNvSpPr>
          <p:nvPr/>
        </p:nvSpPr>
        <p:spPr>
          <a:xfrm>
            <a:off x="3196440" y="2674080"/>
            <a:ext cx="138132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参数意义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F58B6111-5AD2-4D67-A241-22263E984C76}"/>
              </a:ext>
            </a:extLst>
          </p:cNvPr>
          <p:cNvSpPr>
            <a:spLocks noGrp="1"/>
          </p:cNvSpPr>
          <p:nvPr/>
        </p:nvSpPr>
        <p:spPr>
          <a:xfrm>
            <a:off x="3196440" y="2925360"/>
            <a:ext cx="138132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注意事项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12" name="矩形: 圆角 211">
            <a:extLst>
              <a:ext uri="{FF2B5EF4-FFF2-40B4-BE49-F238E27FC236}">
                <a16:creationId xmlns:a16="http://schemas.microsoft.com/office/drawing/2014/main" id="{7D30FE89-BF81-4982-B411-BEB9876707AA}"/>
              </a:ext>
            </a:extLst>
          </p:cNvPr>
          <p:cNvSpPr>
            <a:spLocks noGrp="1"/>
          </p:cNvSpPr>
          <p:nvPr/>
        </p:nvSpPr>
        <p:spPr>
          <a:xfrm>
            <a:off x="3079800" y="3202920"/>
            <a:ext cx="161460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287E8571-0EAC-4751-BA1C-27CA2F85C84C}"/>
              </a:ext>
            </a:extLst>
          </p:cNvPr>
          <p:cNvSpPr>
            <a:spLocks noGrp="1"/>
          </p:cNvSpPr>
          <p:nvPr/>
        </p:nvSpPr>
        <p:spPr>
          <a:xfrm>
            <a:off x="3115800" y="3220200"/>
            <a:ext cx="154260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14" name="矩形: 圆角 213">
            <a:extLst>
              <a:ext uri="{FF2B5EF4-FFF2-40B4-BE49-F238E27FC236}">
                <a16:creationId xmlns:a16="http://schemas.microsoft.com/office/drawing/2014/main" id="{3CC8B7EC-93B4-460D-9A69-8CEDD0114A73}"/>
              </a:ext>
            </a:extLst>
          </p:cNvPr>
          <p:cNvSpPr>
            <a:spLocks noGrp="1"/>
          </p:cNvSpPr>
          <p:nvPr/>
        </p:nvSpPr>
        <p:spPr>
          <a:xfrm>
            <a:off x="4892400" y="932400"/>
            <a:ext cx="2062440" cy="2659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33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AC80AFAC-693F-4A73-8696-ED8D431257A2}"/>
              </a:ext>
            </a:extLst>
          </p:cNvPr>
          <p:cNvSpPr>
            <a:spLocks noGrp="1"/>
          </p:cNvSpPr>
          <p:nvPr/>
        </p:nvSpPr>
        <p:spPr>
          <a:xfrm>
            <a:off x="572652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BC09A882-CDE5-4179-8425-858BEC086607}"/>
              </a:ext>
            </a:extLst>
          </p:cNvPr>
          <p:cNvSpPr>
            <a:spLocks noGrp="1"/>
          </p:cNvSpPr>
          <p:nvPr/>
        </p:nvSpPr>
        <p:spPr>
          <a:xfrm>
            <a:off x="572652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7" name="直接连接符 216">
            <a:extLst>
              <a:ext uri="{FF2B5EF4-FFF2-40B4-BE49-F238E27FC236}">
                <a16:creationId xmlns:a16="http://schemas.microsoft.com/office/drawing/2014/main" id="{AFD75C1F-B238-4861-B6B3-C1C3343D0067}"/>
              </a:ext>
            </a:extLst>
          </p:cNvPr>
          <p:cNvSpPr>
            <a:spLocks noGrp="1"/>
          </p:cNvSpPr>
          <p:nvPr/>
        </p:nvSpPr>
        <p:spPr>
          <a:xfrm>
            <a:off x="582516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8" name="直接连接符 217">
            <a:extLst>
              <a:ext uri="{FF2B5EF4-FFF2-40B4-BE49-F238E27FC236}">
                <a16:creationId xmlns:a16="http://schemas.microsoft.com/office/drawing/2014/main" id="{22470843-A647-497C-8281-AFAEC522FB0C}"/>
              </a:ext>
            </a:extLst>
          </p:cNvPr>
          <p:cNvSpPr>
            <a:spLocks noGrp="1"/>
          </p:cNvSpPr>
          <p:nvPr/>
        </p:nvSpPr>
        <p:spPr>
          <a:xfrm>
            <a:off x="582516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9" name="直接连接符 218">
            <a:extLst>
              <a:ext uri="{FF2B5EF4-FFF2-40B4-BE49-F238E27FC236}">
                <a16:creationId xmlns:a16="http://schemas.microsoft.com/office/drawing/2014/main" id="{EC1F8087-8435-434D-9775-08FA8755D52C}"/>
              </a:ext>
            </a:extLst>
          </p:cNvPr>
          <p:cNvSpPr>
            <a:spLocks noGrp="1"/>
          </p:cNvSpPr>
          <p:nvPr/>
        </p:nvSpPr>
        <p:spPr>
          <a:xfrm>
            <a:off x="582516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389A5044-0F21-4095-AA11-90C56BBBC1E6}"/>
              </a:ext>
            </a:extLst>
          </p:cNvPr>
          <p:cNvSpPr>
            <a:spLocks noGrp="1"/>
          </p:cNvSpPr>
          <p:nvPr/>
        </p:nvSpPr>
        <p:spPr>
          <a:xfrm>
            <a:off x="4964040" y="1616760"/>
            <a:ext cx="191916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PV 命名规范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21" name="直接连接符 220">
            <a:extLst>
              <a:ext uri="{FF2B5EF4-FFF2-40B4-BE49-F238E27FC236}">
                <a16:creationId xmlns:a16="http://schemas.microsoft.com/office/drawing/2014/main" id="{04F8E379-A722-47EF-A120-1F092A500E14}"/>
              </a:ext>
            </a:extLst>
          </p:cNvPr>
          <p:cNvSpPr>
            <a:spLocks noGrp="1"/>
          </p:cNvSpPr>
          <p:nvPr/>
        </p:nvSpPr>
        <p:spPr>
          <a:xfrm>
            <a:off x="5071320" y="2067120"/>
            <a:ext cx="1704600" cy="360"/>
          </a:xfrm>
          <a:prstGeom prst="line">
            <a:avLst/>
          </a:prstGeom>
          <a:ln w="7620">
            <a:solidFill>
              <a:srgbClr val="A9A9A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5CA86F48-359F-4AF1-A80A-3DD1F67EC46C}"/>
              </a:ext>
            </a:extLst>
          </p:cNvPr>
          <p:cNvSpPr>
            <a:spLocks noGrp="1"/>
          </p:cNvSpPr>
          <p:nvPr/>
        </p:nvSpPr>
        <p:spPr>
          <a:xfrm>
            <a:off x="5116320" y="2171520"/>
            <a:ext cx="1614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命名规则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05187598-A36E-4E7C-8145-00A722518C9A}"/>
              </a:ext>
            </a:extLst>
          </p:cNvPr>
          <p:cNvSpPr>
            <a:spLocks noGrp="1"/>
          </p:cNvSpPr>
          <p:nvPr/>
        </p:nvSpPr>
        <p:spPr>
          <a:xfrm>
            <a:off x="5116320" y="2422440"/>
            <a:ext cx="1614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缩写说明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BDA698C4-EC29-4409-8813-57B8C7D71619}"/>
              </a:ext>
            </a:extLst>
          </p:cNvPr>
          <p:cNvSpPr>
            <a:spLocks noGrp="1"/>
          </p:cNvSpPr>
          <p:nvPr/>
        </p:nvSpPr>
        <p:spPr>
          <a:xfrm>
            <a:off x="5116320" y="2674080"/>
            <a:ext cx="1614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区域与设备编码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D0438344-4BA2-4E7E-BEF2-193F49DF13D5}"/>
              </a:ext>
            </a:extLst>
          </p:cNvPr>
          <p:cNvSpPr>
            <a:spLocks noGrp="1"/>
          </p:cNvSpPr>
          <p:nvPr/>
        </p:nvSpPr>
        <p:spPr>
          <a:xfrm>
            <a:off x="4999680" y="3202920"/>
            <a:ext cx="184752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04EBE2DE-0AEB-435C-B68C-42B1C463879A}"/>
              </a:ext>
            </a:extLst>
          </p:cNvPr>
          <p:cNvSpPr>
            <a:spLocks noGrp="1"/>
          </p:cNvSpPr>
          <p:nvPr/>
        </p:nvSpPr>
        <p:spPr>
          <a:xfrm>
            <a:off x="5035680" y="3220200"/>
            <a:ext cx="177588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2911E7E6-3027-4A74-9CF9-ADA658C35987}"/>
              </a:ext>
            </a:extLst>
          </p:cNvPr>
          <p:cNvSpPr>
            <a:spLocks noGrp="1"/>
          </p:cNvSpPr>
          <p:nvPr/>
        </p:nvSpPr>
        <p:spPr>
          <a:xfrm>
            <a:off x="7045560" y="932400"/>
            <a:ext cx="2143440" cy="2659680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333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05C519BC-EE33-41DB-A5C4-17E98A6573FE}"/>
              </a:ext>
            </a:extLst>
          </p:cNvPr>
          <p:cNvSpPr>
            <a:spLocks noGrp="1"/>
          </p:cNvSpPr>
          <p:nvPr/>
        </p:nvSpPr>
        <p:spPr>
          <a:xfrm>
            <a:off x="792000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E968C9BC-5F5E-42BD-8988-106CBBB4BC9A}"/>
              </a:ext>
            </a:extLst>
          </p:cNvPr>
          <p:cNvSpPr>
            <a:spLocks noGrp="1"/>
          </p:cNvSpPr>
          <p:nvPr/>
        </p:nvSpPr>
        <p:spPr>
          <a:xfrm>
            <a:off x="792000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0" name="直接连接符 229">
            <a:extLst>
              <a:ext uri="{FF2B5EF4-FFF2-40B4-BE49-F238E27FC236}">
                <a16:creationId xmlns:a16="http://schemas.microsoft.com/office/drawing/2014/main" id="{E5CA8E04-5435-456A-938C-89F007618FD1}"/>
              </a:ext>
            </a:extLst>
          </p:cNvPr>
          <p:cNvSpPr>
            <a:spLocks noGrp="1"/>
          </p:cNvSpPr>
          <p:nvPr/>
        </p:nvSpPr>
        <p:spPr>
          <a:xfrm>
            <a:off x="801864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1" name="直接连接符 230">
            <a:extLst>
              <a:ext uri="{FF2B5EF4-FFF2-40B4-BE49-F238E27FC236}">
                <a16:creationId xmlns:a16="http://schemas.microsoft.com/office/drawing/2014/main" id="{D988BE5E-18D5-4E6C-A135-8C8EF31B4FF1}"/>
              </a:ext>
            </a:extLst>
          </p:cNvPr>
          <p:cNvSpPr>
            <a:spLocks noGrp="1"/>
          </p:cNvSpPr>
          <p:nvPr/>
        </p:nvSpPr>
        <p:spPr>
          <a:xfrm>
            <a:off x="801864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2" name="直接连接符 231">
            <a:extLst>
              <a:ext uri="{FF2B5EF4-FFF2-40B4-BE49-F238E27FC236}">
                <a16:creationId xmlns:a16="http://schemas.microsoft.com/office/drawing/2014/main" id="{C86F028E-D326-4211-8F7A-3E1DB60673D0}"/>
              </a:ext>
            </a:extLst>
          </p:cNvPr>
          <p:cNvSpPr>
            <a:spLocks noGrp="1"/>
          </p:cNvSpPr>
          <p:nvPr/>
        </p:nvSpPr>
        <p:spPr>
          <a:xfrm>
            <a:off x="801864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B848E4AC-FF7F-4D66-A198-9F48DEF4EE4B}"/>
              </a:ext>
            </a:extLst>
          </p:cNvPr>
          <p:cNvSpPr>
            <a:spLocks noGrp="1"/>
          </p:cNvSpPr>
          <p:nvPr/>
        </p:nvSpPr>
        <p:spPr>
          <a:xfrm>
            <a:off x="7117200" y="1616760"/>
            <a:ext cx="199980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 fontScale="95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IOC/EPICS</a:t>
            </a:r>
            <a:endParaRPr sz="1650" b="0" spc="-1"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配置说明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34" name="直接连接符 233">
            <a:extLst>
              <a:ext uri="{FF2B5EF4-FFF2-40B4-BE49-F238E27FC236}">
                <a16:creationId xmlns:a16="http://schemas.microsoft.com/office/drawing/2014/main" id="{7970E1A6-C13F-4870-8212-52AFE54874DE}"/>
              </a:ext>
            </a:extLst>
          </p:cNvPr>
          <p:cNvSpPr>
            <a:spLocks noGrp="1"/>
          </p:cNvSpPr>
          <p:nvPr/>
        </p:nvSpPr>
        <p:spPr>
          <a:xfrm>
            <a:off x="7224480" y="2067120"/>
            <a:ext cx="1785240" cy="360"/>
          </a:xfrm>
          <a:prstGeom prst="line">
            <a:avLst/>
          </a:prstGeom>
          <a:ln w="7620">
            <a:solidFill>
              <a:srgbClr val="A9A9A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CEFB85BD-9980-4095-BB5B-A360BA7B0078}"/>
              </a:ext>
            </a:extLst>
          </p:cNvPr>
          <p:cNvSpPr>
            <a:spLocks noGrp="1"/>
          </p:cNvSpPr>
          <p:nvPr/>
        </p:nvSpPr>
        <p:spPr>
          <a:xfrm>
            <a:off x="7269480" y="2171520"/>
            <a:ext cx="16952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0000"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IOC/Record/PV 关系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7F2CE6C7-CFBD-49D3-8A11-8602D88AC719}"/>
              </a:ext>
            </a:extLst>
          </p:cNvPr>
          <p:cNvSpPr>
            <a:spLocks noGrp="1"/>
          </p:cNvSpPr>
          <p:nvPr/>
        </p:nvSpPr>
        <p:spPr>
          <a:xfrm>
            <a:off x="7269480" y="2422440"/>
            <a:ext cx="16952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服务器信息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2A1F2B16-8FC6-43F9-81A5-3DA10DAA30A6}"/>
              </a:ext>
            </a:extLst>
          </p:cNvPr>
          <p:cNvSpPr>
            <a:spLocks noGrp="1"/>
          </p:cNvSpPr>
          <p:nvPr/>
        </p:nvSpPr>
        <p:spPr>
          <a:xfrm>
            <a:off x="7269480" y="2674080"/>
            <a:ext cx="16952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配置与连接说明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38" name="矩形: 圆角 237">
            <a:extLst>
              <a:ext uri="{FF2B5EF4-FFF2-40B4-BE49-F238E27FC236}">
                <a16:creationId xmlns:a16="http://schemas.microsoft.com/office/drawing/2014/main" id="{C950E99D-C095-4D2C-9B72-058DF4E47749}"/>
              </a:ext>
            </a:extLst>
          </p:cNvPr>
          <p:cNvSpPr>
            <a:spLocks noGrp="1"/>
          </p:cNvSpPr>
          <p:nvPr/>
        </p:nvSpPr>
        <p:spPr>
          <a:xfrm>
            <a:off x="7152840" y="3202920"/>
            <a:ext cx="192852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215BE5CD-9819-4D48-B6D1-135D922587CB}"/>
              </a:ext>
            </a:extLst>
          </p:cNvPr>
          <p:cNvSpPr>
            <a:spLocks noGrp="1"/>
          </p:cNvSpPr>
          <p:nvPr/>
        </p:nvSpPr>
        <p:spPr>
          <a:xfrm>
            <a:off x="7188840" y="3220200"/>
            <a:ext cx="185652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40" name="矩形: 圆角 239">
            <a:extLst>
              <a:ext uri="{FF2B5EF4-FFF2-40B4-BE49-F238E27FC236}">
                <a16:creationId xmlns:a16="http://schemas.microsoft.com/office/drawing/2014/main" id="{A41A2764-51DC-47AC-8729-A4E2CF6E7478}"/>
              </a:ext>
            </a:extLst>
          </p:cNvPr>
          <p:cNvSpPr>
            <a:spLocks noGrp="1"/>
          </p:cNvSpPr>
          <p:nvPr/>
        </p:nvSpPr>
        <p:spPr>
          <a:xfrm>
            <a:off x="9279360" y="932400"/>
            <a:ext cx="2026800" cy="2659680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333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1" name="任意多边形: 形状 240">
            <a:extLst>
              <a:ext uri="{FF2B5EF4-FFF2-40B4-BE49-F238E27FC236}">
                <a16:creationId xmlns:a16="http://schemas.microsoft.com/office/drawing/2014/main" id="{27BD8289-5396-4CDF-B00F-B56D31B9A9E9}"/>
              </a:ext>
            </a:extLst>
          </p:cNvPr>
          <p:cNvSpPr>
            <a:spLocks noGrp="1"/>
          </p:cNvSpPr>
          <p:nvPr/>
        </p:nvSpPr>
        <p:spPr>
          <a:xfrm>
            <a:off x="1009548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2" name="任意多边形: 形状 241">
            <a:extLst>
              <a:ext uri="{FF2B5EF4-FFF2-40B4-BE49-F238E27FC236}">
                <a16:creationId xmlns:a16="http://schemas.microsoft.com/office/drawing/2014/main" id="{B8038E55-6A30-4151-B8F2-D08B0A46AE41}"/>
              </a:ext>
            </a:extLst>
          </p:cNvPr>
          <p:cNvSpPr>
            <a:spLocks noGrp="1"/>
          </p:cNvSpPr>
          <p:nvPr/>
        </p:nvSpPr>
        <p:spPr>
          <a:xfrm>
            <a:off x="1009548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3" name="直接连接符 242">
            <a:extLst>
              <a:ext uri="{FF2B5EF4-FFF2-40B4-BE49-F238E27FC236}">
                <a16:creationId xmlns:a16="http://schemas.microsoft.com/office/drawing/2014/main" id="{815B85F9-8405-4E6F-988C-F0C6B55ED4F7}"/>
              </a:ext>
            </a:extLst>
          </p:cNvPr>
          <p:cNvSpPr>
            <a:spLocks noGrp="1"/>
          </p:cNvSpPr>
          <p:nvPr/>
        </p:nvSpPr>
        <p:spPr>
          <a:xfrm>
            <a:off x="1019412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4" name="直接连接符 243">
            <a:extLst>
              <a:ext uri="{FF2B5EF4-FFF2-40B4-BE49-F238E27FC236}">
                <a16:creationId xmlns:a16="http://schemas.microsoft.com/office/drawing/2014/main" id="{B81B0A50-159D-4F04-B94A-E60C1BD01168}"/>
              </a:ext>
            </a:extLst>
          </p:cNvPr>
          <p:cNvSpPr>
            <a:spLocks noGrp="1"/>
          </p:cNvSpPr>
          <p:nvPr/>
        </p:nvSpPr>
        <p:spPr>
          <a:xfrm>
            <a:off x="1019412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5" name="直接连接符 244">
            <a:extLst>
              <a:ext uri="{FF2B5EF4-FFF2-40B4-BE49-F238E27FC236}">
                <a16:creationId xmlns:a16="http://schemas.microsoft.com/office/drawing/2014/main" id="{179A5896-09EA-40EB-81E9-833861CE513E}"/>
              </a:ext>
            </a:extLst>
          </p:cNvPr>
          <p:cNvSpPr>
            <a:spLocks noGrp="1"/>
          </p:cNvSpPr>
          <p:nvPr/>
        </p:nvSpPr>
        <p:spPr>
          <a:xfrm>
            <a:off x="1019412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24DDCAAC-FDC3-4CCD-B8A3-EC6FE1B79790}"/>
              </a:ext>
            </a:extLst>
          </p:cNvPr>
          <p:cNvSpPr>
            <a:spLocks noGrp="1"/>
          </p:cNvSpPr>
          <p:nvPr/>
        </p:nvSpPr>
        <p:spPr>
          <a:xfrm>
            <a:off x="9351000" y="1616760"/>
            <a:ext cx="188316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 fontScale="97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设备接口/信号说明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47" name="直接连接符 246">
            <a:extLst>
              <a:ext uri="{FF2B5EF4-FFF2-40B4-BE49-F238E27FC236}">
                <a16:creationId xmlns:a16="http://schemas.microsoft.com/office/drawing/2014/main" id="{01CB0FCC-2B85-4EC7-9473-1C61AFAAD279}"/>
              </a:ext>
            </a:extLst>
          </p:cNvPr>
          <p:cNvSpPr>
            <a:spLocks noGrp="1"/>
          </p:cNvSpPr>
          <p:nvPr/>
        </p:nvSpPr>
        <p:spPr>
          <a:xfrm>
            <a:off x="9458280" y="2067120"/>
            <a:ext cx="1668960" cy="360"/>
          </a:xfrm>
          <a:prstGeom prst="line">
            <a:avLst/>
          </a:prstGeom>
          <a:ln w="7620">
            <a:solidFill>
              <a:srgbClr val="A9A9A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A1D42C0B-EFAC-4379-8EBC-99EC3068D1A0}"/>
              </a:ext>
            </a:extLst>
          </p:cNvPr>
          <p:cNvSpPr>
            <a:spLocks noGrp="1"/>
          </p:cNvSpPr>
          <p:nvPr/>
        </p:nvSpPr>
        <p:spPr>
          <a:xfrm>
            <a:off x="9503640" y="2171520"/>
            <a:ext cx="15782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设备与信号定义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45B94E23-A504-46E6-8C25-408C1ADC21B1}"/>
              </a:ext>
            </a:extLst>
          </p:cNvPr>
          <p:cNvSpPr>
            <a:spLocks noGrp="1"/>
          </p:cNvSpPr>
          <p:nvPr/>
        </p:nvSpPr>
        <p:spPr>
          <a:xfrm>
            <a:off x="9503640" y="2422440"/>
            <a:ext cx="15782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单位与读写方向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E7E042B5-730D-452B-9B30-E65BA464FF9F}"/>
              </a:ext>
            </a:extLst>
          </p:cNvPr>
          <p:cNvSpPr>
            <a:spLocks noGrp="1"/>
          </p:cNvSpPr>
          <p:nvPr/>
        </p:nvSpPr>
        <p:spPr>
          <a:xfrm>
            <a:off x="9503640" y="2674080"/>
            <a:ext cx="15782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device-signal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D9800988-E886-4FE4-8234-72C8C1B07428}"/>
              </a:ext>
            </a:extLst>
          </p:cNvPr>
          <p:cNvSpPr>
            <a:spLocks noGrp="1"/>
          </p:cNvSpPr>
          <p:nvPr/>
        </p:nvSpPr>
        <p:spPr>
          <a:xfrm>
            <a:off x="9503640" y="2925360"/>
            <a:ext cx="15782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qualifier 含义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52" name="矩形: 圆角 251">
            <a:extLst>
              <a:ext uri="{FF2B5EF4-FFF2-40B4-BE49-F238E27FC236}">
                <a16:creationId xmlns:a16="http://schemas.microsoft.com/office/drawing/2014/main" id="{B90D0411-3237-4CB0-8992-E802B4F4769F}"/>
              </a:ext>
            </a:extLst>
          </p:cNvPr>
          <p:cNvSpPr>
            <a:spLocks noGrp="1"/>
          </p:cNvSpPr>
          <p:nvPr/>
        </p:nvSpPr>
        <p:spPr>
          <a:xfrm>
            <a:off x="9387000" y="3202920"/>
            <a:ext cx="181152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E9618191-5351-46D6-A23A-3EA72F738059}"/>
              </a:ext>
            </a:extLst>
          </p:cNvPr>
          <p:cNvSpPr>
            <a:spLocks noGrp="1"/>
          </p:cNvSpPr>
          <p:nvPr/>
        </p:nvSpPr>
        <p:spPr>
          <a:xfrm>
            <a:off x="9422640" y="3220200"/>
            <a:ext cx="173988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C9A0459F-E209-4F5A-9C3C-6DD0369457C0}"/>
              </a:ext>
            </a:extLst>
          </p:cNvPr>
          <p:cNvSpPr>
            <a:spLocks noGrp="1"/>
          </p:cNvSpPr>
          <p:nvPr/>
        </p:nvSpPr>
        <p:spPr>
          <a:xfrm>
            <a:off x="11405520" y="932400"/>
            <a:ext cx="1972800" cy="2659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5" name="任意多边形: 形状 254">
            <a:extLst>
              <a:ext uri="{FF2B5EF4-FFF2-40B4-BE49-F238E27FC236}">
                <a16:creationId xmlns:a16="http://schemas.microsoft.com/office/drawing/2014/main" id="{6AF8462B-DC4F-42F3-B22C-FE31F40E72F1}"/>
              </a:ext>
            </a:extLst>
          </p:cNvPr>
          <p:cNvSpPr>
            <a:spLocks noGrp="1"/>
          </p:cNvSpPr>
          <p:nvPr/>
        </p:nvSpPr>
        <p:spPr>
          <a:xfrm>
            <a:off x="12195000" y="1062360"/>
            <a:ext cx="39420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6" name="任意多边形: 形状 255">
            <a:extLst>
              <a:ext uri="{FF2B5EF4-FFF2-40B4-BE49-F238E27FC236}">
                <a16:creationId xmlns:a16="http://schemas.microsoft.com/office/drawing/2014/main" id="{0F167E80-5CAB-4611-9D0C-1E8C83EA2411}"/>
              </a:ext>
            </a:extLst>
          </p:cNvPr>
          <p:cNvSpPr>
            <a:spLocks noGrp="1"/>
          </p:cNvSpPr>
          <p:nvPr/>
        </p:nvSpPr>
        <p:spPr>
          <a:xfrm>
            <a:off x="12195000" y="1062360"/>
            <a:ext cx="39420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7" name="直接连接符 256">
            <a:extLst>
              <a:ext uri="{FF2B5EF4-FFF2-40B4-BE49-F238E27FC236}">
                <a16:creationId xmlns:a16="http://schemas.microsoft.com/office/drawing/2014/main" id="{07D76755-8E64-4A87-8F30-686D952A433F}"/>
              </a:ext>
            </a:extLst>
          </p:cNvPr>
          <p:cNvSpPr>
            <a:spLocks noGrp="1"/>
          </p:cNvSpPr>
          <p:nvPr/>
        </p:nvSpPr>
        <p:spPr>
          <a:xfrm>
            <a:off x="12293280" y="1278360"/>
            <a:ext cx="19764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8" name="直接连接符 257">
            <a:extLst>
              <a:ext uri="{FF2B5EF4-FFF2-40B4-BE49-F238E27FC236}">
                <a16:creationId xmlns:a16="http://schemas.microsoft.com/office/drawing/2014/main" id="{16444066-CF21-42F3-A8F7-512D60FBDE4D}"/>
              </a:ext>
            </a:extLst>
          </p:cNvPr>
          <p:cNvSpPr>
            <a:spLocks noGrp="1"/>
          </p:cNvSpPr>
          <p:nvPr/>
        </p:nvSpPr>
        <p:spPr>
          <a:xfrm>
            <a:off x="12293280" y="1347840"/>
            <a:ext cx="19764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9" name="直接连接符 258">
            <a:extLst>
              <a:ext uri="{FF2B5EF4-FFF2-40B4-BE49-F238E27FC236}">
                <a16:creationId xmlns:a16="http://schemas.microsoft.com/office/drawing/2014/main" id="{58C068DD-9D43-4F80-9F42-D2688632F46B}"/>
              </a:ext>
            </a:extLst>
          </p:cNvPr>
          <p:cNvSpPr>
            <a:spLocks noGrp="1"/>
          </p:cNvSpPr>
          <p:nvPr/>
        </p:nvSpPr>
        <p:spPr>
          <a:xfrm>
            <a:off x="12293280" y="1417320"/>
            <a:ext cx="19764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E123EE07-1D1B-4A0F-AAE6-8C63D6AF0A12}"/>
              </a:ext>
            </a:extLst>
          </p:cNvPr>
          <p:cNvSpPr>
            <a:spLocks noGrp="1"/>
          </p:cNvSpPr>
          <p:nvPr/>
        </p:nvSpPr>
        <p:spPr>
          <a:xfrm>
            <a:off x="11477160" y="1616760"/>
            <a:ext cx="182988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调试说明与 FAQ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61" name="直接连接符 260">
            <a:extLst>
              <a:ext uri="{FF2B5EF4-FFF2-40B4-BE49-F238E27FC236}">
                <a16:creationId xmlns:a16="http://schemas.microsoft.com/office/drawing/2014/main" id="{EB061AC9-E547-4967-A67D-FE1D4253D541}"/>
              </a:ext>
            </a:extLst>
          </p:cNvPr>
          <p:cNvSpPr>
            <a:spLocks noGrp="1"/>
          </p:cNvSpPr>
          <p:nvPr/>
        </p:nvSpPr>
        <p:spPr>
          <a:xfrm>
            <a:off x="11584800" y="2067120"/>
            <a:ext cx="1614600" cy="360"/>
          </a:xfrm>
          <a:prstGeom prst="line">
            <a:avLst/>
          </a:prstGeom>
          <a:ln w="7620">
            <a:solidFill>
              <a:srgbClr val="A9A9A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6641A779-5D1E-4B20-9582-405A2B7B2114}"/>
              </a:ext>
            </a:extLst>
          </p:cNvPr>
          <p:cNvSpPr>
            <a:spLocks noGrp="1"/>
          </p:cNvSpPr>
          <p:nvPr/>
        </p:nvSpPr>
        <p:spPr>
          <a:xfrm>
            <a:off x="11629800" y="2171520"/>
            <a:ext cx="1524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常见问题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188E50FA-9A80-4EBF-8C80-EB5C109ACC2E}"/>
              </a:ext>
            </a:extLst>
          </p:cNvPr>
          <p:cNvSpPr>
            <a:spLocks noGrp="1"/>
          </p:cNvSpPr>
          <p:nvPr/>
        </p:nvSpPr>
        <p:spPr>
          <a:xfrm>
            <a:off x="11629800" y="2422440"/>
            <a:ext cx="1524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真实表达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383992E3-D15D-4112-BB8E-59C8B8465821}"/>
              </a:ext>
            </a:extLst>
          </p:cNvPr>
          <p:cNvSpPr>
            <a:spLocks noGrp="1"/>
          </p:cNvSpPr>
          <p:nvPr/>
        </p:nvSpPr>
        <p:spPr>
          <a:xfrm>
            <a:off x="11629800" y="2674080"/>
            <a:ext cx="1524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常见混淆场景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65" name="矩形: 圆角 264">
            <a:extLst>
              <a:ext uri="{FF2B5EF4-FFF2-40B4-BE49-F238E27FC236}">
                <a16:creationId xmlns:a16="http://schemas.microsoft.com/office/drawing/2014/main" id="{932F99A1-DCD7-4850-B503-A21EDE78CF86}"/>
              </a:ext>
            </a:extLst>
          </p:cNvPr>
          <p:cNvSpPr>
            <a:spLocks noGrp="1"/>
          </p:cNvSpPr>
          <p:nvPr/>
        </p:nvSpPr>
        <p:spPr>
          <a:xfrm>
            <a:off x="11513160" y="3202920"/>
            <a:ext cx="175788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F2CE55CB-CC01-4E46-A759-D8C07BF0DFA3}"/>
              </a:ext>
            </a:extLst>
          </p:cNvPr>
          <p:cNvSpPr>
            <a:spLocks noGrp="1"/>
          </p:cNvSpPr>
          <p:nvPr/>
        </p:nvSpPr>
        <p:spPr>
          <a:xfrm>
            <a:off x="11549160" y="3220200"/>
            <a:ext cx="168588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优先级：中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67" name="矩形: 圆角 266">
            <a:extLst>
              <a:ext uri="{FF2B5EF4-FFF2-40B4-BE49-F238E27FC236}">
                <a16:creationId xmlns:a16="http://schemas.microsoft.com/office/drawing/2014/main" id="{AB1F6815-08E0-4D7D-94C0-3711BB90F4E7}"/>
              </a:ext>
            </a:extLst>
          </p:cNvPr>
          <p:cNvSpPr>
            <a:spLocks noGrp="1"/>
          </p:cNvSpPr>
          <p:nvPr/>
        </p:nvSpPr>
        <p:spPr>
          <a:xfrm>
            <a:off x="13477680" y="932400"/>
            <a:ext cx="1928520" cy="2659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8" name="任意多边形: 形状 267">
            <a:extLst>
              <a:ext uri="{FF2B5EF4-FFF2-40B4-BE49-F238E27FC236}">
                <a16:creationId xmlns:a16="http://schemas.microsoft.com/office/drawing/2014/main" id="{21F6405B-900C-41B6-B0BE-3CB2EE4A44AD}"/>
              </a:ext>
            </a:extLst>
          </p:cNvPr>
          <p:cNvSpPr>
            <a:spLocks noGrp="1"/>
          </p:cNvSpPr>
          <p:nvPr/>
        </p:nvSpPr>
        <p:spPr>
          <a:xfrm>
            <a:off x="1424484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任意多边形: 形状 268">
            <a:extLst>
              <a:ext uri="{FF2B5EF4-FFF2-40B4-BE49-F238E27FC236}">
                <a16:creationId xmlns:a16="http://schemas.microsoft.com/office/drawing/2014/main" id="{3A3FA4AF-E4C3-4076-A511-CBFB021A8D01}"/>
              </a:ext>
            </a:extLst>
          </p:cNvPr>
          <p:cNvSpPr>
            <a:spLocks noGrp="1"/>
          </p:cNvSpPr>
          <p:nvPr/>
        </p:nvSpPr>
        <p:spPr>
          <a:xfrm>
            <a:off x="14244840" y="1062360"/>
            <a:ext cx="393840" cy="4672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0" name="直接连接符 269">
            <a:extLst>
              <a:ext uri="{FF2B5EF4-FFF2-40B4-BE49-F238E27FC236}">
                <a16:creationId xmlns:a16="http://schemas.microsoft.com/office/drawing/2014/main" id="{036B0717-195F-4035-8302-197645D1B4B4}"/>
              </a:ext>
            </a:extLst>
          </p:cNvPr>
          <p:cNvSpPr>
            <a:spLocks noGrp="1"/>
          </p:cNvSpPr>
          <p:nvPr/>
        </p:nvSpPr>
        <p:spPr>
          <a:xfrm>
            <a:off x="14343480" y="127836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1" name="直接连接符 270">
            <a:extLst>
              <a:ext uri="{FF2B5EF4-FFF2-40B4-BE49-F238E27FC236}">
                <a16:creationId xmlns:a16="http://schemas.microsoft.com/office/drawing/2014/main" id="{6A87EC9C-937B-40BD-A7F3-A0E72839DE64}"/>
              </a:ext>
            </a:extLst>
          </p:cNvPr>
          <p:cNvSpPr>
            <a:spLocks noGrp="1"/>
          </p:cNvSpPr>
          <p:nvPr/>
        </p:nvSpPr>
        <p:spPr>
          <a:xfrm>
            <a:off x="14343480" y="134784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2" name="直接连接符 271">
            <a:extLst>
              <a:ext uri="{FF2B5EF4-FFF2-40B4-BE49-F238E27FC236}">
                <a16:creationId xmlns:a16="http://schemas.microsoft.com/office/drawing/2014/main" id="{F3DC3085-8474-4B57-A6B5-F2CAC7D98AE4}"/>
              </a:ext>
            </a:extLst>
          </p:cNvPr>
          <p:cNvSpPr>
            <a:spLocks noGrp="1"/>
          </p:cNvSpPr>
          <p:nvPr/>
        </p:nvSpPr>
        <p:spPr>
          <a:xfrm>
            <a:off x="14343480" y="1417320"/>
            <a:ext cx="1972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BD309EA6-636E-47DB-B04E-E03F5BB884D4}"/>
              </a:ext>
            </a:extLst>
          </p:cNvPr>
          <p:cNvSpPr>
            <a:spLocks noGrp="1"/>
          </p:cNvSpPr>
          <p:nvPr/>
        </p:nvSpPr>
        <p:spPr>
          <a:xfrm>
            <a:off x="13549680" y="1616760"/>
            <a:ext cx="178452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 fontScale="95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维护或故障资料</a:t>
            </a:r>
            <a:endParaRPr sz="1650" b="0" spc="-1"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（可选）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74" name="直接连接符 273">
            <a:extLst>
              <a:ext uri="{FF2B5EF4-FFF2-40B4-BE49-F238E27FC236}">
                <a16:creationId xmlns:a16="http://schemas.microsoft.com/office/drawing/2014/main" id="{64B5998F-398E-4499-9477-7CFDDE57E5D0}"/>
              </a:ext>
            </a:extLst>
          </p:cNvPr>
          <p:cNvSpPr>
            <a:spLocks noGrp="1"/>
          </p:cNvSpPr>
          <p:nvPr/>
        </p:nvSpPr>
        <p:spPr>
          <a:xfrm>
            <a:off x="13657320" y="2067120"/>
            <a:ext cx="1569960" cy="360"/>
          </a:xfrm>
          <a:prstGeom prst="line">
            <a:avLst/>
          </a:prstGeom>
          <a:ln w="7620">
            <a:solidFill>
              <a:srgbClr val="A9A9A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6E58E810-CDF4-42A1-8BC2-2EC5BA8879A4}"/>
              </a:ext>
            </a:extLst>
          </p:cNvPr>
          <p:cNvSpPr>
            <a:spLocks noGrp="1"/>
          </p:cNvSpPr>
          <p:nvPr/>
        </p:nvSpPr>
        <p:spPr>
          <a:xfrm>
            <a:off x="13702320" y="2171520"/>
            <a:ext cx="1479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处置过程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5167B805-96D8-4E5C-8791-B5FFD3D6B838}"/>
              </a:ext>
            </a:extLst>
          </p:cNvPr>
          <p:cNvSpPr>
            <a:spLocks noGrp="1"/>
          </p:cNvSpPr>
          <p:nvPr/>
        </p:nvSpPr>
        <p:spPr>
          <a:xfrm>
            <a:off x="13702320" y="2422440"/>
            <a:ext cx="14796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历史案例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77" name="矩形: 圆角 276">
            <a:extLst>
              <a:ext uri="{FF2B5EF4-FFF2-40B4-BE49-F238E27FC236}">
                <a16:creationId xmlns:a16="http://schemas.microsoft.com/office/drawing/2014/main" id="{5F7723CD-12AE-4213-B1E0-F434E7B430F7}"/>
              </a:ext>
            </a:extLst>
          </p:cNvPr>
          <p:cNvSpPr>
            <a:spLocks noGrp="1"/>
          </p:cNvSpPr>
          <p:nvPr/>
        </p:nvSpPr>
        <p:spPr>
          <a:xfrm>
            <a:off x="13585680" y="3202920"/>
            <a:ext cx="1712880" cy="302400"/>
          </a:xfrm>
          <a:prstGeom prst="roundRect">
            <a:avLst>
              <a:gd name="adj" fmla="val 17143"/>
            </a:avLst>
          </a:prstGeom>
          <a:solidFill>
            <a:srgbClr val="E6E7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4FDA3B27-AA02-4D2E-B849-EEB6CDEE5B49}"/>
              </a:ext>
            </a:extLst>
          </p:cNvPr>
          <p:cNvSpPr>
            <a:spLocks noGrp="1"/>
          </p:cNvSpPr>
          <p:nvPr/>
        </p:nvSpPr>
        <p:spPr>
          <a:xfrm>
            <a:off x="13621320" y="3220200"/>
            <a:ext cx="164088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优先级：低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F618776B-DDF0-4575-B461-81CC36BD9EC9}"/>
              </a:ext>
            </a:extLst>
          </p:cNvPr>
          <p:cNvSpPr>
            <a:spLocks noGrp="1"/>
          </p:cNvSpPr>
          <p:nvPr/>
        </p:nvSpPr>
        <p:spPr>
          <a:xfrm>
            <a:off x="8166960" y="3714120"/>
            <a:ext cx="25920" cy="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0" name="矩形: 圆角 279">
            <a:extLst>
              <a:ext uri="{FF2B5EF4-FFF2-40B4-BE49-F238E27FC236}">
                <a16:creationId xmlns:a16="http://schemas.microsoft.com/office/drawing/2014/main" id="{9D21EC9D-09F7-4BD5-9BA9-1CD5ABFC6ABA}"/>
              </a:ext>
            </a:extLst>
          </p:cNvPr>
          <p:cNvSpPr>
            <a:spLocks noGrp="1"/>
          </p:cNvSpPr>
          <p:nvPr/>
        </p:nvSpPr>
        <p:spPr>
          <a:xfrm>
            <a:off x="926640" y="4060800"/>
            <a:ext cx="14524200" cy="2651040"/>
          </a:xfrm>
          <a:prstGeom prst="roundRect">
            <a:avLst>
              <a:gd name="adj" fmla="val 2614"/>
            </a:avLst>
          </a:prstGeom>
          <a:solidFill>
            <a:srgbClr val="F4F5F5"/>
          </a:solidFill>
          <a:ln w="10954">
            <a:solidFill>
              <a:srgbClr val="8585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1" name="任意多边形: 形状 280">
            <a:extLst>
              <a:ext uri="{FF2B5EF4-FFF2-40B4-BE49-F238E27FC236}">
                <a16:creationId xmlns:a16="http://schemas.microsoft.com/office/drawing/2014/main" id="{5EF76FD7-FB91-45E0-93AD-1D6ACA9A1BF3}"/>
              </a:ext>
            </a:extLst>
          </p:cNvPr>
          <p:cNvSpPr>
            <a:spLocks noGrp="1"/>
          </p:cNvSpPr>
          <p:nvPr/>
        </p:nvSpPr>
        <p:spPr>
          <a:xfrm flipH="1">
            <a:off x="8188920" y="3714120"/>
            <a:ext cx="3600" cy="345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7E5D1053-DAF9-4A0B-8660-4AF82047CA5C}"/>
              </a:ext>
            </a:extLst>
          </p:cNvPr>
          <p:cNvSpPr>
            <a:spLocks noGrp="1"/>
          </p:cNvSpPr>
          <p:nvPr/>
        </p:nvSpPr>
        <p:spPr>
          <a:xfrm>
            <a:off x="5986440" y="4138560"/>
            <a:ext cx="4413600" cy="36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02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数据处理与构建流程</a:t>
            </a:r>
            <a:endParaRPr sz="2020" b="0" spc="-1">
              <a:latin typeface="Arial"/>
              <a:ea typeface="Arial"/>
              <a:cs typeface="Arial"/>
            </a:endParaRPr>
          </a:p>
        </p:txBody>
      </p:sp>
      <p:sp>
        <p:nvSpPr>
          <p:cNvPr id="283" name="矩形: 圆角 282">
            <a:extLst>
              <a:ext uri="{FF2B5EF4-FFF2-40B4-BE49-F238E27FC236}">
                <a16:creationId xmlns:a16="http://schemas.microsoft.com/office/drawing/2014/main" id="{83EA0D1D-4710-4A60-B14B-57BD36FCFA58}"/>
              </a:ext>
            </a:extLst>
          </p:cNvPr>
          <p:cNvSpPr>
            <a:spLocks noGrp="1"/>
          </p:cNvSpPr>
          <p:nvPr/>
        </p:nvSpPr>
        <p:spPr>
          <a:xfrm>
            <a:off x="1142280" y="4528800"/>
            <a:ext cx="3192840" cy="20358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0478">
            <a:solidFill>
              <a:srgbClr val="74747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4" name="任意多边形: 形状 283">
            <a:extLst>
              <a:ext uri="{FF2B5EF4-FFF2-40B4-BE49-F238E27FC236}">
                <a16:creationId xmlns:a16="http://schemas.microsoft.com/office/drawing/2014/main" id="{4301DE4C-944D-43BA-A8FF-900B3C167DC9}"/>
              </a:ext>
            </a:extLst>
          </p:cNvPr>
          <p:cNvSpPr>
            <a:spLocks noGrp="1"/>
          </p:cNvSpPr>
          <p:nvPr/>
        </p:nvSpPr>
        <p:spPr>
          <a:xfrm>
            <a:off x="1456200" y="4658760"/>
            <a:ext cx="354600" cy="4204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5" name="任意多边形: 形状 284">
            <a:extLst>
              <a:ext uri="{FF2B5EF4-FFF2-40B4-BE49-F238E27FC236}">
                <a16:creationId xmlns:a16="http://schemas.microsoft.com/office/drawing/2014/main" id="{C9B0A8AE-F6B8-47A1-A9E1-0598D70751A4}"/>
              </a:ext>
            </a:extLst>
          </p:cNvPr>
          <p:cNvSpPr>
            <a:spLocks noGrp="1"/>
          </p:cNvSpPr>
          <p:nvPr/>
        </p:nvSpPr>
        <p:spPr>
          <a:xfrm>
            <a:off x="1456200" y="4658760"/>
            <a:ext cx="354600" cy="4204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6" name="直接连接符 285">
            <a:extLst>
              <a:ext uri="{FF2B5EF4-FFF2-40B4-BE49-F238E27FC236}">
                <a16:creationId xmlns:a16="http://schemas.microsoft.com/office/drawing/2014/main" id="{E3E7884D-B429-402F-82F9-C019501920CC}"/>
              </a:ext>
            </a:extLst>
          </p:cNvPr>
          <p:cNvSpPr>
            <a:spLocks noGrp="1"/>
          </p:cNvSpPr>
          <p:nvPr/>
        </p:nvSpPr>
        <p:spPr>
          <a:xfrm>
            <a:off x="1544760" y="4853520"/>
            <a:ext cx="1774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7" name="直接连接符 286">
            <a:extLst>
              <a:ext uri="{FF2B5EF4-FFF2-40B4-BE49-F238E27FC236}">
                <a16:creationId xmlns:a16="http://schemas.microsoft.com/office/drawing/2014/main" id="{61C6179B-3321-4F71-9ADC-8157BC3B09C7}"/>
              </a:ext>
            </a:extLst>
          </p:cNvPr>
          <p:cNvSpPr>
            <a:spLocks noGrp="1"/>
          </p:cNvSpPr>
          <p:nvPr/>
        </p:nvSpPr>
        <p:spPr>
          <a:xfrm>
            <a:off x="1544760" y="4915800"/>
            <a:ext cx="1774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8" name="直接连接符 287">
            <a:extLst>
              <a:ext uri="{FF2B5EF4-FFF2-40B4-BE49-F238E27FC236}">
                <a16:creationId xmlns:a16="http://schemas.microsoft.com/office/drawing/2014/main" id="{B21B56EA-2B4A-4254-B03D-5FD36715FFA4}"/>
              </a:ext>
            </a:extLst>
          </p:cNvPr>
          <p:cNvSpPr>
            <a:spLocks noGrp="1"/>
          </p:cNvSpPr>
          <p:nvPr/>
        </p:nvSpPr>
        <p:spPr>
          <a:xfrm>
            <a:off x="1544760" y="4978440"/>
            <a:ext cx="17748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21930E6F-DDEB-4584-863E-9AC40F4B6632}"/>
              </a:ext>
            </a:extLst>
          </p:cNvPr>
          <p:cNvSpPr>
            <a:spLocks noGrp="1"/>
          </p:cNvSpPr>
          <p:nvPr/>
        </p:nvSpPr>
        <p:spPr>
          <a:xfrm>
            <a:off x="1994040" y="4598280"/>
            <a:ext cx="2188440" cy="57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L0 原始资料层</a:t>
            </a:r>
            <a:endParaRPr sz="1500" b="0" spc="-1"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（只读保存）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290" name="直接连接符 289">
            <a:extLst>
              <a:ext uri="{FF2B5EF4-FFF2-40B4-BE49-F238E27FC236}">
                <a16:creationId xmlns:a16="http://schemas.microsoft.com/office/drawing/2014/main" id="{C8EBCFE9-C03E-477C-A5A9-954B02B10EB0}"/>
              </a:ext>
            </a:extLst>
          </p:cNvPr>
          <p:cNvSpPr>
            <a:spLocks noGrp="1"/>
          </p:cNvSpPr>
          <p:nvPr/>
        </p:nvSpPr>
        <p:spPr>
          <a:xfrm>
            <a:off x="1303560" y="5221800"/>
            <a:ext cx="2870640" cy="360"/>
          </a:xfrm>
          <a:prstGeom prst="line">
            <a:avLst/>
          </a:prstGeom>
          <a:ln w="7144">
            <a:solidFill>
              <a:srgbClr val="B3B3B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DF6CF765-C38A-40B9-B4F1-22978BDB09C2}"/>
              </a:ext>
            </a:extLst>
          </p:cNvPr>
          <p:cNvSpPr>
            <a:spLocks noGrp="1"/>
          </p:cNvSpPr>
          <p:nvPr/>
        </p:nvSpPr>
        <p:spPr>
          <a:xfrm>
            <a:off x="1348200" y="5274000"/>
            <a:ext cx="27806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原文档与 Registry 导出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D3EDECD9-B79A-4ABD-9663-32C4AB3D8C2D}"/>
              </a:ext>
            </a:extLst>
          </p:cNvPr>
          <p:cNvSpPr>
            <a:spLocks noGrp="1"/>
          </p:cNvSpPr>
          <p:nvPr/>
        </p:nvSpPr>
        <p:spPr>
          <a:xfrm>
            <a:off x="1348200" y="5508000"/>
            <a:ext cx="27806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来源、版本、日期、责任人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433FF2DE-9F84-44F7-88C1-63F80BC56D19}"/>
              </a:ext>
            </a:extLst>
          </p:cNvPr>
          <p:cNvSpPr>
            <a:spLocks noGrp="1"/>
          </p:cNvSpPr>
          <p:nvPr/>
        </p:nvSpPr>
        <p:spPr>
          <a:xfrm>
            <a:off x="1348200" y="5742000"/>
            <a:ext cx="27806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敏感级别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294" name="矩形: 圆角 293">
            <a:extLst>
              <a:ext uri="{FF2B5EF4-FFF2-40B4-BE49-F238E27FC236}">
                <a16:creationId xmlns:a16="http://schemas.microsoft.com/office/drawing/2014/main" id="{BC0C54AC-6BE4-49FC-A450-EE504F6CC3D9}"/>
              </a:ext>
            </a:extLst>
          </p:cNvPr>
          <p:cNvSpPr>
            <a:spLocks noGrp="1"/>
          </p:cNvSpPr>
          <p:nvPr/>
        </p:nvSpPr>
        <p:spPr>
          <a:xfrm>
            <a:off x="1258920" y="6192720"/>
            <a:ext cx="2959560" cy="302400"/>
          </a:xfrm>
          <a:prstGeom prst="roundRect">
            <a:avLst>
              <a:gd name="adj" fmla="val 17143"/>
            </a:avLst>
          </a:prstGeom>
          <a:solidFill>
            <a:srgbClr val="E5E6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FAF0D475-7B44-4D35-A71C-837E5F0A9C52}"/>
              </a:ext>
            </a:extLst>
          </p:cNvPr>
          <p:cNvSpPr>
            <a:spLocks noGrp="1"/>
          </p:cNvSpPr>
          <p:nvPr/>
        </p:nvSpPr>
        <p:spPr>
          <a:xfrm>
            <a:off x="1294560" y="6201360"/>
            <a:ext cx="28882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验收目标：能够回到原文复核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296" name="矩形: 圆角 295">
            <a:extLst>
              <a:ext uri="{FF2B5EF4-FFF2-40B4-BE49-F238E27FC236}">
                <a16:creationId xmlns:a16="http://schemas.microsoft.com/office/drawing/2014/main" id="{9C021EF5-BED9-49D0-B810-BE81945A31AC}"/>
              </a:ext>
            </a:extLst>
          </p:cNvPr>
          <p:cNvSpPr>
            <a:spLocks noGrp="1"/>
          </p:cNvSpPr>
          <p:nvPr/>
        </p:nvSpPr>
        <p:spPr>
          <a:xfrm>
            <a:off x="4820400" y="4528800"/>
            <a:ext cx="3121560" cy="20358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0478">
            <a:solidFill>
              <a:srgbClr val="74747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7" name="圆柱体 296">
            <a:extLst>
              <a:ext uri="{FF2B5EF4-FFF2-40B4-BE49-F238E27FC236}">
                <a16:creationId xmlns:a16="http://schemas.microsoft.com/office/drawing/2014/main" id="{A5C36C51-8E39-4748-9400-5E382F7D1B53}"/>
              </a:ext>
            </a:extLst>
          </p:cNvPr>
          <p:cNvSpPr>
            <a:spLocks noGrp="1"/>
          </p:cNvSpPr>
          <p:nvPr/>
        </p:nvSpPr>
        <p:spPr>
          <a:xfrm>
            <a:off x="5125320" y="4658760"/>
            <a:ext cx="456840" cy="46728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46177DCC-7CDE-47AA-B17E-E84AFA4874D0}"/>
              </a:ext>
            </a:extLst>
          </p:cNvPr>
          <p:cNvSpPr>
            <a:spLocks noGrp="1"/>
          </p:cNvSpPr>
          <p:nvPr/>
        </p:nvSpPr>
        <p:spPr>
          <a:xfrm>
            <a:off x="5672520" y="4598280"/>
            <a:ext cx="2116440" cy="57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L1 规范化实体层</a:t>
            </a:r>
            <a:endParaRPr sz="1500" b="0" spc="-1"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（结构化处理）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299" name="直接连接符 298">
            <a:extLst>
              <a:ext uri="{FF2B5EF4-FFF2-40B4-BE49-F238E27FC236}">
                <a16:creationId xmlns:a16="http://schemas.microsoft.com/office/drawing/2014/main" id="{6950B3B8-7F33-4099-9462-F18E0AFEC228}"/>
              </a:ext>
            </a:extLst>
          </p:cNvPr>
          <p:cNvSpPr>
            <a:spLocks noGrp="1"/>
          </p:cNvSpPr>
          <p:nvPr/>
        </p:nvSpPr>
        <p:spPr>
          <a:xfrm>
            <a:off x="4981680" y="5221800"/>
            <a:ext cx="2799360" cy="360"/>
          </a:xfrm>
          <a:prstGeom prst="line">
            <a:avLst/>
          </a:prstGeom>
          <a:ln w="7144">
            <a:solidFill>
              <a:srgbClr val="B3B3B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6EB5B428-FA17-435A-ACDF-7DB7B9016F05}"/>
              </a:ext>
            </a:extLst>
          </p:cNvPr>
          <p:cNvSpPr>
            <a:spLocks noGrp="1"/>
          </p:cNvSpPr>
          <p:nvPr/>
        </p:nvSpPr>
        <p:spPr>
          <a:xfrm>
            <a:off x="5026680" y="5274000"/>
            <a:ext cx="27086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56000"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PV、IOC、区域、子系统、</a:t>
            </a:r>
            <a:endParaRPr sz="1320" b="0" spc="-1"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设备、信号统一解析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ED70AC62-B161-41B3-B579-B4F673BE4E8E}"/>
              </a:ext>
            </a:extLst>
          </p:cNvPr>
          <p:cNvSpPr>
            <a:spLocks noGrp="1"/>
          </p:cNvSpPr>
          <p:nvPr/>
        </p:nvSpPr>
        <p:spPr>
          <a:xfrm>
            <a:off x="5026680" y="5508000"/>
            <a:ext cx="27086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原始值与规范值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76FB739D-347B-40E2-8A05-AFAEBC0BADC6}"/>
              </a:ext>
            </a:extLst>
          </p:cNvPr>
          <p:cNvSpPr>
            <a:spLocks noGrp="1"/>
          </p:cNvSpPr>
          <p:nvPr/>
        </p:nvSpPr>
        <p:spPr>
          <a:xfrm>
            <a:off x="5026680" y="5742000"/>
            <a:ext cx="27086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解析规则版本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03" name="矩形: 圆角 302">
            <a:extLst>
              <a:ext uri="{FF2B5EF4-FFF2-40B4-BE49-F238E27FC236}">
                <a16:creationId xmlns:a16="http://schemas.microsoft.com/office/drawing/2014/main" id="{7CB5824E-9CC1-497B-9232-AE2E761F4115}"/>
              </a:ext>
            </a:extLst>
          </p:cNvPr>
          <p:cNvSpPr>
            <a:spLocks noGrp="1"/>
          </p:cNvSpPr>
          <p:nvPr/>
        </p:nvSpPr>
        <p:spPr>
          <a:xfrm>
            <a:off x="4937040" y="6192720"/>
            <a:ext cx="2888280" cy="302400"/>
          </a:xfrm>
          <a:prstGeom prst="roundRect">
            <a:avLst>
              <a:gd name="adj" fmla="val 17143"/>
            </a:avLst>
          </a:prstGeom>
          <a:solidFill>
            <a:srgbClr val="E5E6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FB289AA6-AE78-47EA-8D31-6DD4EB9D9D24}"/>
              </a:ext>
            </a:extLst>
          </p:cNvPr>
          <p:cNvSpPr>
            <a:spLocks noGrp="1"/>
          </p:cNvSpPr>
          <p:nvPr/>
        </p:nvSpPr>
        <p:spPr>
          <a:xfrm>
            <a:off x="4973040" y="6201360"/>
            <a:ext cx="28162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验收目标：实体可稳定连接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05" name="矩形: 圆角 304">
            <a:extLst>
              <a:ext uri="{FF2B5EF4-FFF2-40B4-BE49-F238E27FC236}">
                <a16:creationId xmlns:a16="http://schemas.microsoft.com/office/drawing/2014/main" id="{77793D55-CD7F-4CF8-AEAD-07620832723C}"/>
              </a:ext>
            </a:extLst>
          </p:cNvPr>
          <p:cNvSpPr>
            <a:spLocks noGrp="1"/>
          </p:cNvSpPr>
          <p:nvPr/>
        </p:nvSpPr>
        <p:spPr>
          <a:xfrm>
            <a:off x="8444880" y="4528800"/>
            <a:ext cx="3121560" cy="20358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0478">
            <a:solidFill>
              <a:srgbClr val="74747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6" name="任意多边形: 形状 305">
            <a:extLst>
              <a:ext uri="{FF2B5EF4-FFF2-40B4-BE49-F238E27FC236}">
                <a16:creationId xmlns:a16="http://schemas.microsoft.com/office/drawing/2014/main" id="{EDB1B922-2E4B-4B05-A873-78B25F4F7510}"/>
              </a:ext>
            </a:extLst>
          </p:cNvPr>
          <p:cNvSpPr>
            <a:spLocks noGrp="1"/>
          </p:cNvSpPr>
          <p:nvPr/>
        </p:nvSpPr>
        <p:spPr>
          <a:xfrm>
            <a:off x="8732160" y="4641480"/>
            <a:ext cx="374400" cy="4438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7" name="任意多边形: 形状 306">
            <a:extLst>
              <a:ext uri="{FF2B5EF4-FFF2-40B4-BE49-F238E27FC236}">
                <a16:creationId xmlns:a16="http://schemas.microsoft.com/office/drawing/2014/main" id="{34C0D803-0C23-45BD-AF79-9BDB86054AD1}"/>
              </a:ext>
            </a:extLst>
          </p:cNvPr>
          <p:cNvSpPr>
            <a:spLocks noGrp="1"/>
          </p:cNvSpPr>
          <p:nvPr/>
        </p:nvSpPr>
        <p:spPr>
          <a:xfrm>
            <a:off x="8732160" y="4641480"/>
            <a:ext cx="374400" cy="443880"/>
          </a:xfrm>
          <a:custGeom>
            <a:avLst/>
            <a:gdLst/>
            <a:ahLst/>
            <a:cxnLst/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/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8" name="直接连接符 307">
            <a:extLst>
              <a:ext uri="{FF2B5EF4-FFF2-40B4-BE49-F238E27FC236}">
                <a16:creationId xmlns:a16="http://schemas.microsoft.com/office/drawing/2014/main" id="{41FAC5E8-0168-4E7B-A3A3-4E7921CF1A20}"/>
              </a:ext>
            </a:extLst>
          </p:cNvPr>
          <p:cNvSpPr>
            <a:spLocks noGrp="1"/>
          </p:cNvSpPr>
          <p:nvPr/>
        </p:nvSpPr>
        <p:spPr>
          <a:xfrm>
            <a:off x="8825760" y="4847040"/>
            <a:ext cx="18756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9" name="直接连接符 308">
            <a:extLst>
              <a:ext uri="{FF2B5EF4-FFF2-40B4-BE49-F238E27FC236}">
                <a16:creationId xmlns:a16="http://schemas.microsoft.com/office/drawing/2014/main" id="{A714B256-2253-4E86-AB2F-954482178B1A}"/>
              </a:ext>
            </a:extLst>
          </p:cNvPr>
          <p:cNvSpPr>
            <a:spLocks noGrp="1"/>
          </p:cNvSpPr>
          <p:nvPr/>
        </p:nvSpPr>
        <p:spPr>
          <a:xfrm>
            <a:off x="8825760" y="4912920"/>
            <a:ext cx="18756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0" name="直接连接符 309">
            <a:extLst>
              <a:ext uri="{FF2B5EF4-FFF2-40B4-BE49-F238E27FC236}">
                <a16:creationId xmlns:a16="http://schemas.microsoft.com/office/drawing/2014/main" id="{8297549C-FBA1-4C91-B3DD-DF5CE5092881}"/>
              </a:ext>
            </a:extLst>
          </p:cNvPr>
          <p:cNvSpPr>
            <a:spLocks noGrp="1"/>
          </p:cNvSpPr>
          <p:nvPr/>
        </p:nvSpPr>
        <p:spPr>
          <a:xfrm>
            <a:off x="8825760" y="4978800"/>
            <a:ext cx="187560" cy="3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椭圆 310">
            <a:extLst>
              <a:ext uri="{FF2B5EF4-FFF2-40B4-BE49-F238E27FC236}">
                <a16:creationId xmlns:a16="http://schemas.microsoft.com/office/drawing/2014/main" id="{EFBFD680-42AD-474B-AF85-90D6FA001522}"/>
              </a:ext>
            </a:extLst>
          </p:cNvPr>
          <p:cNvSpPr>
            <a:spLocks noGrp="1"/>
          </p:cNvSpPr>
          <p:nvPr/>
        </p:nvSpPr>
        <p:spPr>
          <a:xfrm>
            <a:off x="8974080" y="4884120"/>
            <a:ext cx="205920" cy="19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2" name="直接连接符 311">
            <a:extLst>
              <a:ext uri="{FF2B5EF4-FFF2-40B4-BE49-F238E27FC236}">
                <a16:creationId xmlns:a16="http://schemas.microsoft.com/office/drawing/2014/main" id="{7EB43ED2-AA41-4887-B3B2-18D2D1B2EDE1}"/>
              </a:ext>
            </a:extLst>
          </p:cNvPr>
          <p:cNvSpPr>
            <a:spLocks noGrp="1"/>
          </p:cNvSpPr>
          <p:nvPr/>
        </p:nvSpPr>
        <p:spPr>
          <a:xfrm>
            <a:off x="9135720" y="5048640"/>
            <a:ext cx="125280" cy="1209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1B9A13B9-8261-4066-A498-1400473B980C}"/>
              </a:ext>
            </a:extLst>
          </p:cNvPr>
          <p:cNvSpPr>
            <a:spLocks noGrp="1"/>
          </p:cNvSpPr>
          <p:nvPr/>
        </p:nvSpPr>
        <p:spPr>
          <a:xfrm>
            <a:off x="9297360" y="4598280"/>
            <a:ext cx="2116440" cy="57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L2 文档证据层</a:t>
            </a:r>
            <a:endParaRPr sz="1500" b="0" spc="-1"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（可检索证据单元）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314" name="直接连接符 313">
            <a:extLst>
              <a:ext uri="{FF2B5EF4-FFF2-40B4-BE49-F238E27FC236}">
                <a16:creationId xmlns:a16="http://schemas.microsoft.com/office/drawing/2014/main" id="{57A91A64-931B-4284-8369-93E00372AE96}"/>
              </a:ext>
            </a:extLst>
          </p:cNvPr>
          <p:cNvSpPr>
            <a:spLocks noGrp="1"/>
          </p:cNvSpPr>
          <p:nvPr/>
        </p:nvSpPr>
        <p:spPr>
          <a:xfrm>
            <a:off x="8606160" y="5221800"/>
            <a:ext cx="2799360" cy="360"/>
          </a:xfrm>
          <a:prstGeom prst="line">
            <a:avLst/>
          </a:prstGeom>
          <a:ln w="7144">
            <a:solidFill>
              <a:srgbClr val="B3B3B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14D07832-15DD-42F2-8FD3-8F0C804D4D6F}"/>
              </a:ext>
            </a:extLst>
          </p:cNvPr>
          <p:cNvSpPr>
            <a:spLocks noGrp="1"/>
          </p:cNvSpPr>
          <p:nvPr/>
        </p:nvSpPr>
        <p:spPr>
          <a:xfrm>
            <a:off x="8651520" y="5274000"/>
            <a:ext cx="270828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1000"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文档切块（按标题/表格/步骤）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F3091C77-1781-4AD6-8355-A96FAE9E8171}"/>
              </a:ext>
            </a:extLst>
          </p:cNvPr>
          <p:cNvSpPr>
            <a:spLocks noGrp="1"/>
          </p:cNvSpPr>
          <p:nvPr/>
        </p:nvSpPr>
        <p:spPr>
          <a:xfrm>
            <a:off x="8651520" y="5508000"/>
            <a:ext cx="270828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页码、章节路径、表格标题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33001A79-EC7E-4D4D-8008-601F9E8866A5}"/>
              </a:ext>
            </a:extLst>
          </p:cNvPr>
          <p:cNvSpPr>
            <a:spLocks noGrp="1"/>
          </p:cNvSpPr>
          <p:nvPr/>
        </p:nvSpPr>
        <p:spPr>
          <a:xfrm>
            <a:off x="8651520" y="5742000"/>
            <a:ext cx="270828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56000"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关联实体（area/subsystem/</a:t>
            </a:r>
            <a:endParaRPr sz="1320" b="0" spc="-1"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device/signal/PV）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18" name="矩形: 圆角 317">
            <a:extLst>
              <a:ext uri="{FF2B5EF4-FFF2-40B4-BE49-F238E27FC236}">
                <a16:creationId xmlns:a16="http://schemas.microsoft.com/office/drawing/2014/main" id="{1DBE3F3C-61BC-43F1-B36B-5A8F03665C8D}"/>
              </a:ext>
            </a:extLst>
          </p:cNvPr>
          <p:cNvSpPr>
            <a:spLocks noGrp="1"/>
          </p:cNvSpPr>
          <p:nvPr/>
        </p:nvSpPr>
        <p:spPr>
          <a:xfrm>
            <a:off x="8561520" y="6192720"/>
            <a:ext cx="2888280" cy="302400"/>
          </a:xfrm>
          <a:prstGeom prst="roundRect">
            <a:avLst>
              <a:gd name="adj" fmla="val 17143"/>
            </a:avLst>
          </a:prstGeom>
          <a:solidFill>
            <a:srgbClr val="E5E6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E237FF5B-8DD9-4F78-8E72-E9B683D80BB7}"/>
              </a:ext>
            </a:extLst>
          </p:cNvPr>
          <p:cNvSpPr>
            <a:spLocks noGrp="1"/>
          </p:cNvSpPr>
          <p:nvPr/>
        </p:nvSpPr>
        <p:spPr>
          <a:xfrm>
            <a:off x="8597520" y="6201360"/>
            <a:ext cx="28162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验收目标：答案可追溯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20" name="矩形: 圆角 319">
            <a:extLst>
              <a:ext uri="{FF2B5EF4-FFF2-40B4-BE49-F238E27FC236}">
                <a16:creationId xmlns:a16="http://schemas.microsoft.com/office/drawing/2014/main" id="{AD386215-B9F8-42CD-8520-C63AD0BFA5A3}"/>
              </a:ext>
            </a:extLst>
          </p:cNvPr>
          <p:cNvSpPr>
            <a:spLocks noGrp="1"/>
          </p:cNvSpPr>
          <p:nvPr/>
        </p:nvSpPr>
        <p:spPr>
          <a:xfrm>
            <a:off x="12060360" y="4528800"/>
            <a:ext cx="3184200" cy="203580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0478">
            <a:solidFill>
              <a:srgbClr val="74747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1" name="矩形: 圆角 320">
            <a:extLst>
              <a:ext uri="{FF2B5EF4-FFF2-40B4-BE49-F238E27FC236}">
                <a16:creationId xmlns:a16="http://schemas.microsoft.com/office/drawing/2014/main" id="{A8E9FFBD-15DF-4F65-B63E-BB372F2CCCD9}"/>
              </a:ext>
            </a:extLst>
          </p:cNvPr>
          <p:cNvSpPr>
            <a:spLocks noGrp="1"/>
          </p:cNvSpPr>
          <p:nvPr/>
        </p:nvSpPr>
        <p:spPr>
          <a:xfrm>
            <a:off x="12392280" y="4693320"/>
            <a:ext cx="385200" cy="43272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2" name="矩形: 圆角 321">
            <a:extLst>
              <a:ext uri="{FF2B5EF4-FFF2-40B4-BE49-F238E27FC236}">
                <a16:creationId xmlns:a16="http://schemas.microsoft.com/office/drawing/2014/main" id="{45265DE0-D2A7-4553-9774-E7681EA9232F}"/>
              </a:ext>
            </a:extLst>
          </p:cNvPr>
          <p:cNvSpPr>
            <a:spLocks noGrp="1"/>
          </p:cNvSpPr>
          <p:nvPr/>
        </p:nvSpPr>
        <p:spPr>
          <a:xfrm>
            <a:off x="12490920" y="4641480"/>
            <a:ext cx="187920" cy="103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3" name="任意多边形: 形状 322">
            <a:extLst>
              <a:ext uri="{FF2B5EF4-FFF2-40B4-BE49-F238E27FC236}">
                <a16:creationId xmlns:a16="http://schemas.microsoft.com/office/drawing/2014/main" id="{5A05F3EB-BC9D-4005-8409-5761CDE2E83B}"/>
              </a:ext>
            </a:extLst>
          </p:cNvPr>
          <p:cNvSpPr>
            <a:spLocks noGrp="1"/>
          </p:cNvSpPr>
          <p:nvPr/>
        </p:nvSpPr>
        <p:spPr>
          <a:xfrm>
            <a:off x="12455280" y="4840560"/>
            <a:ext cx="97920" cy="77400"/>
          </a:xfrm>
          <a:custGeom>
            <a:avLst/>
            <a:gdLst/>
            <a:ahLst/>
            <a:cxnLst/>
            <a:rect l="l" t="t" r="r" b="b"/>
            <a:pathLst>
              <a:path w="104775" h="85725">
                <a:moveTo>
                  <a:pt x="0" y="38100"/>
                </a:moveTo>
                <a:lnTo>
                  <a:pt x="38100" y="76200"/>
                </a:lnTo>
                <a:lnTo>
                  <a:pt x="104775" y="0"/>
                </a:lnTo>
              </a:path>
            </a:pathLst>
          </a:custGeom>
          <a:noFill/>
          <a:ln w="23813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4" name="直接连接符 323">
            <a:extLst>
              <a:ext uri="{FF2B5EF4-FFF2-40B4-BE49-F238E27FC236}">
                <a16:creationId xmlns:a16="http://schemas.microsoft.com/office/drawing/2014/main" id="{A91C2D78-F488-4D35-A29D-EE862BCB2740}"/>
              </a:ext>
            </a:extLst>
          </p:cNvPr>
          <p:cNvSpPr>
            <a:spLocks noGrp="1"/>
          </p:cNvSpPr>
          <p:nvPr/>
        </p:nvSpPr>
        <p:spPr>
          <a:xfrm>
            <a:off x="12589560" y="4866480"/>
            <a:ext cx="125640" cy="360"/>
          </a:xfrm>
          <a:prstGeom prst="line">
            <a:avLst/>
          </a:prstGeom>
          <a:ln w="23813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5" name="任意多边形: 形状 324">
            <a:extLst>
              <a:ext uri="{FF2B5EF4-FFF2-40B4-BE49-F238E27FC236}">
                <a16:creationId xmlns:a16="http://schemas.microsoft.com/office/drawing/2014/main" id="{3BE6F677-0934-4618-8E68-7C6FCA5F7760}"/>
              </a:ext>
            </a:extLst>
          </p:cNvPr>
          <p:cNvSpPr>
            <a:spLocks noGrp="1"/>
          </p:cNvSpPr>
          <p:nvPr/>
        </p:nvSpPr>
        <p:spPr>
          <a:xfrm>
            <a:off x="12455280" y="4970520"/>
            <a:ext cx="97920" cy="77400"/>
          </a:xfrm>
          <a:custGeom>
            <a:avLst/>
            <a:gdLst/>
            <a:ahLst/>
            <a:cxnLst/>
            <a:rect l="l" t="t" r="r" b="b"/>
            <a:pathLst>
              <a:path w="104775" h="85725">
                <a:moveTo>
                  <a:pt x="0" y="38100"/>
                </a:moveTo>
                <a:lnTo>
                  <a:pt x="38100" y="76200"/>
                </a:lnTo>
                <a:lnTo>
                  <a:pt x="104775" y="0"/>
                </a:lnTo>
              </a:path>
            </a:pathLst>
          </a:custGeom>
          <a:noFill/>
          <a:ln w="23813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6" name="直接连接符 325">
            <a:extLst>
              <a:ext uri="{FF2B5EF4-FFF2-40B4-BE49-F238E27FC236}">
                <a16:creationId xmlns:a16="http://schemas.microsoft.com/office/drawing/2014/main" id="{89E0FF57-AB9F-417D-919C-02D3E61C42E1}"/>
              </a:ext>
            </a:extLst>
          </p:cNvPr>
          <p:cNvSpPr>
            <a:spLocks noGrp="1"/>
          </p:cNvSpPr>
          <p:nvPr/>
        </p:nvSpPr>
        <p:spPr>
          <a:xfrm>
            <a:off x="12589560" y="4996440"/>
            <a:ext cx="125640" cy="360"/>
          </a:xfrm>
          <a:prstGeom prst="line">
            <a:avLst/>
          </a:prstGeom>
          <a:ln w="23813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76951569-FEBE-4F7B-B4BF-955EDDFBBE63}"/>
              </a:ext>
            </a:extLst>
          </p:cNvPr>
          <p:cNvSpPr>
            <a:spLocks noGrp="1"/>
          </p:cNvSpPr>
          <p:nvPr/>
        </p:nvSpPr>
        <p:spPr>
          <a:xfrm>
            <a:off x="12912480" y="4598280"/>
            <a:ext cx="2179440" cy="57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L3 监督评测层</a:t>
            </a:r>
            <a:endParaRPr sz="1500" b="0" spc="-1"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（Benchmark 标注）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328" name="直接连接符 327">
            <a:extLst>
              <a:ext uri="{FF2B5EF4-FFF2-40B4-BE49-F238E27FC236}">
                <a16:creationId xmlns:a16="http://schemas.microsoft.com/office/drawing/2014/main" id="{F3E2F240-F0F4-477C-BDBC-194E94157462}"/>
              </a:ext>
            </a:extLst>
          </p:cNvPr>
          <p:cNvSpPr>
            <a:spLocks noGrp="1"/>
          </p:cNvSpPr>
          <p:nvPr/>
        </p:nvSpPr>
        <p:spPr>
          <a:xfrm>
            <a:off x="12221640" y="5221800"/>
            <a:ext cx="2862000" cy="360"/>
          </a:xfrm>
          <a:prstGeom prst="line">
            <a:avLst/>
          </a:prstGeom>
          <a:ln w="7144">
            <a:solidFill>
              <a:srgbClr val="B3B3B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900943C0-4DDB-4D74-8D6C-2EDA44C9C4BD}"/>
              </a:ext>
            </a:extLst>
          </p:cNvPr>
          <p:cNvSpPr>
            <a:spLocks noGrp="1"/>
          </p:cNvSpPr>
          <p:nvPr/>
        </p:nvSpPr>
        <p:spPr>
          <a:xfrm>
            <a:off x="12266640" y="5274000"/>
            <a:ext cx="27716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问题、标准答案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E5B94A7D-8869-42C7-B697-8F9192985962}"/>
              </a:ext>
            </a:extLst>
          </p:cNvPr>
          <p:cNvSpPr>
            <a:spLocks noGrp="1"/>
          </p:cNvSpPr>
          <p:nvPr/>
        </p:nvSpPr>
        <p:spPr>
          <a:xfrm>
            <a:off x="12266640" y="5508000"/>
            <a:ext cx="27716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危险近邻与风险类型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E335AE0E-8C98-4744-9CC4-4529A48D60C3}"/>
              </a:ext>
            </a:extLst>
          </p:cNvPr>
          <p:cNvSpPr>
            <a:spLocks noGrp="1"/>
          </p:cNvSpPr>
          <p:nvPr/>
        </p:nvSpPr>
        <p:spPr>
          <a:xfrm>
            <a:off x="12266640" y="5742000"/>
            <a:ext cx="27716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1000"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split 划分（随机/结构 OOD/时间）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275B52C0-CE66-4DF7-B0FB-169EFB921423}"/>
              </a:ext>
            </a:extLst>
          </p:cNvPr>
          <p:cNvSpPr>
            <a:spLocks noGrp="1"/>
          </p:cNvSpPr>
          <p:nvPr/>
        </p:nvSpPr>
        <p:spPr>
          <a:xfrm>
            <a:off x="12266640" y="5976000"/>
            <a:ext cx="277164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审核状态与数据快照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33" name="矩形: 圆角 332">
            <a:extLst>
              <a:ext uri="{FF2B5EF4-FFF2-40B4-BE49-F238E27FC236}">
                <a16:creationId xmlns:a16="http://schemas.microsoft.com/office/drawing/2014/main" id="{872B37F7-3E10-4120-9E8F-30049C402208}"/>
              </a:ext>
            </a:extLst>
          </p:cNvPr>
          <p:cNvSpPr>
            <a:spLocks noGrp="1"/>
          </p:cNvSpPr>
          <p:nvPr/>
        </p:nvSpPr>
        <p:spPr>
          <a:xfrm>
            <a:off x="12177000" y="6192720"/>
            <a:ext cx="2950920" cy="302400"/>
          </a:xfrm>
          <a:prstGeom prst="roundRect">
            <a:avLst>
              <a:gd name="adj" fmla="val 17143"/>
            </a:avLst>
          </a:prstGeom>
          <a:solidFill>
            <a:srgbClr val="E5E6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C9FBBAE4-7388-4737-BCC1-C6DD9A69F9F5}"/>
              </a:ext>
            </a:extLst>
          </p:cNvPr>
          <p:cNvSpPr>
            <a:spLocks noGrp="1"/>
          </p:cNvSpPr>
          <p:nvPr/>
        </p:nvSpPr>
        <p:spPr>
          <a:xfrm>
            <a:off x="12213000" y="6201360"/>
            <a:ext cx="28792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验收目标：训练与测试可复现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35" name="任意多边形: 形状 334">
            <a:extLst>
              <a:ext uri="{FF2B5EF4-FFF2-40B4-BE49-F238E27FC236}">
                <a16:creationId xmlns:a16="http://schemas.microsoft.com/office/drawing/2014/main" id="{D8EDBC46-CBAF-4966-BB61-89B6774C9669}"/>
              </a:ext>
            </a:extLst>
          </p:cNvPr>
          <p:cNvSpPr>
            <a:spLocks noGrp="1"/>
          </p:cNvSpPr>
          <p:nvPr/>
        </p:nvSpPr>
        <p:spPr>
          <a:xfrm>
            <a:off x="4335840" y="5547240"/>
            <a:ext cx="4838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6" name="任意多边形: 形状 335">
            <a:extLst>
              <a:ext uri="{FF2B5EF4-FFF2-40B4-BE49-F238E27FC236}">
                <a16:creationId xmlns:a16="http://schemas.microsoft.com/office/drawing/2014/main" id="{198B7FD6-1BD9-4DF9-8540-9BBB382ED3F5}"/>
              </a:ext>
            </a:extLst>
          </p:cNvPr>
          <p:cNvSpPr>
            <a:spLocks noGrp="1"/>
          </p:cNvSpPr>
          <p:nvPr/>
        </p:nvSpPr>
        <p:spPr>
          <a:xfrm>
            <a:off x="7942320" y="5547240"/>
            <a:ext cx="5018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7" name="任意多边形: 形状 336">
            <a:extLst>
              <a:ext uri="{FF2B5EF4-FFF2-40B4-BE49-F238E27FC236}">
                <a16:creationId xmlns:a16="http://schemas.microsoft.com/office/drawing/2014/main" id="{1FE24E1F-A557-4CF4-9F29-6C0413B69FF0}"/>
              </a:ext>
            </a:extLst>
          </p:cNvPr>
          <p:cNvSpPr>
            <a:spLocks noGrp="1"/>
          </p:cNvSpPr>
          <p:nvPr/>
        </p:nvSpPr>
        <p:spPr>
          <a:xfrm>
            <a:off x="11567160" y="5547240"/>
            <a:ext cx="492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8" name="矩形: 圆角 337">
            <a:extLst>
              <a:ext uri="{FF2B5EF4-FFF2-40B4-BE49-F238E27FC236}">
                <a16:creationId xmlns:a16="http://schemas.microsoft.com/office/drawing/2014/main" id="{62576326-E01D-4DBF-B48A-F737DB7ADEBA}"/>
              </a:ext>
            </a:extLst>
          </p:cNvPr>
          <p:cNvSpPr>
            <a:spLocks noGrp="1"/>
          </p:cNvSpPr>
          <p:nvPr/>
        </p:nvSpPr>
        <p:spPr>
          <a:xfrm>
            <a:off x="3205440" y="6972480"/>
            <a:ext cx="4601520" cy="11779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85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D7BA8A17-C17F-45B5-A8CE-CE276944A0A4}"/>
              </a:ext>
            </a:extLst>
          </p:cNvPr>
          <p:cNvSpPr>
            <a:spLocks noGrp="1"/>
          </p:cNvSpPr>
          <p:nvPr/>
        </p:nvSpPr>
        <p:spPr>
          <a:xfrm>
            <a:off x="8570160" y="6972480"/>
            <a:ext cx="4610880" cy="11779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859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6E55702F-947D-44B0-BF4D-A30E264272A2}"/>
              </a:ext>
            </a:extLst>
          </p:cNvPr>
          <p:cNvSpPr>
            <a:spLocks noGrp="1"/>
          </p:cNvSpPr>
          <p:nvPr/>
        </p:nvSpPr>
        <p:spPr>
          <a:xfrm>
            <a:off x="5672520" y="6799320"/>
            <a:ext cx="26280" cy="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397C98C8-F177-4CBB-82F8-01ED0AF91CDD}"/>
              </a:ext>
            </a:extLst>
          </p:cNvPr>
          <p:cNvSpPr>
            <a:spLocks noGrp="1"/>
          </p:cNvSpPr>
          <p:nvPr/>
        </p:nvSpPr>
        <p:spPr>
          <a:xfrm>
            <a:off x="10660680" y="6799320"/>
            <a:ext cx="26280" cy="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6580623B-2490-4801-8DB7-F4D964827814}"/>
              </a:ext>
            </a:extLst>
          </p:cNvPr>
          <p:cNvSpPr>
            <a:spLocks noGrp="1"/>
          </p:cNvSpPr>
          <p:nvPr/>
        </p:nvSpPr>
        <p:spPr>
          <a:xfrm>
            <a:off x="13505040" y="6573960"/>
            <a:ext cx="25920" cy="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3" name="直接连接符 342">
            <a:extLst>
              <a:ext uri="{FF2B5EF4-FFF2-40B4-BE49-F238E27FC236}">
                <a16:creationId xmlns:a16="http://schemas.microsoft.com/office/drawing/2014/main" id="{95BCA26C-C3DA-4DEA-8CEA-387F5D688274}"/>
              </a:ext>
            </a:extLst>
          </p:cNvPr>
          <p:cNvSpPr>
            <a:spLocks noGrp="1"/>
          </p:cNvSpPr>
          <p:nvPr/>
        </p:nvSpPr>
        <p:spPr>
          <a:xfrm>
            <a:off x="5690520" y="6798960"/>
            <a:ext cx="7832160" cy="360"/>
          </a:xfrm>
          <a:prstGeom prst="line">
            <a:avLst/>
          </a:prstGeom>
          <a:ln w="1714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直接连接符 343">
            <a:extLst>
              <a:ext uri="{FF2B5EF4-FFF2-40B4-BE49-F238E27FC236}">
                <a16:creationId xmlns:a16="http://schemas.microsoft.com/office/drawing/2014/main" id="{C7A1EE18-7858-435E-9B6B-85EF1B7EBD95}"/>
              </a:ext>
            </a:extLst>
          </p:cNvPr>
          <p:cNvSpPr>
            <a:spLocks noGrp="1"/>
          </p:cNvSpPr>
          <p:nvPr/>
        </p:nvSpPr>
        <p:spPr>
          <a:xfrm>
            <a:off x="13522680" y="6573960"/>
            <a:ext cx="360" cy="225000"/>
          </a:xfrm>
          <a:prstGeom prst="line">
            <a:avLst/>
          </a:prstGeom>
          <a:ln w="1714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5" name="任意多边形: 形状 344">
            <a:extLst>
              <a:ext uri="{FF2B5EF4-FFF2-40B4-BE49-F238E27FC236}">
                <a16:creationId xmlns:a16="http://schemas.microsoft.com/office/drawing/2014/main" id="{B0BD8224-91FF-490E-B78A-F3755E42C8DE}"/>
              </a:ext>
            </a:extLst>
          </p:cNvPr>
          <p:cNvSpPr>
            <a:spLocks noGrp="1"/>
          </p:cNvSpPr>
          <p:nvPr/>
        </p:nvSpPr>
        <p:spPr>
          <a:xfrm flipH="1">
            <a:off x="5505840" y="6825240"/>
            <a:ext cx="178920" cy="146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6" name="任意多边形: 形状 345">
            <a:extLst>
              <a:ext uri="{FF2B5EF4-FFF2-40B4-BE49-F238E27FC236}">
                <a16:creationId xmlns:a16="http://schemas.microsoft.com/office/drawing/2014/main" id="{CECF9371-1091-4BBA-94B2-CC7024489B19}"/>
              </a:ext>
            </a:extLst>
          </p:cNvPr>
          <p:cNvSpPr>
            <a:spLocks noGrp="1"/>
          </p:cNvSpPr>
          <p:nvPr/>
        </p:nvSpPr>
        <p:spPr>
          <a:xfrm>
            <a:off x="10674360" y="6825240"/>
            <a:ext cx="200880" cy="146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BF403307-6BB9-44FD-8F23-81F3D0010E5D}"/>
              </a:ext>
            </a:extLst>
          </p:cNvPr>
          <p:cNvSpPr>
            <a:spLocks noGrp="1"/>
          </p:cNvSpPr>
          <p:nvPr/>
        </p:nvSpPr>
        <p:spPr>
          <a:xfrm>
            <a:off x="3456720" y="7501320"/>
            <a:ext cx="115920" cy="25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E7F568EA-2A0B-4C62-A80A-B72749A7CDF0}"/>
              </a:ext>
            </a:extLst>
          </p:cNvPr>
          <p:cNvSpPr>
            <a:spLocks noGrp="1"/>
          </p:cNvSpPr>
          <p:nvPr/>
        </p:nvSpPr>
        <p:spPr>
          <a:xfrm>
            <a:off x="3636000" y="7362720"/>
            <a:ext cx="115920" cy="39780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4EF63E3E-B1BD-4F32-809C-4D961E2B0C2B}"/>
              </a:ext>
            </a:extLst>
          </p:cNvPr>
          <p:cNvSpPr>
            <a:spLocks noGrp="1"/>
          </p:cNvSpPr>
          <p:nvPr/>
        </p:nvSpPr>
        <p:spPr>
          <a:xfrm>
            <a:off x="3815640" y="7241040"/>
            <a:ext cx="115920" cy="51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FDAAE04C-3697-47E4-BEA2-7547EBFC1888}"/>
              </a:ext>
            </a:extLst>
          </p:cNvPr>
          <p:cNvSpPr>
            <a:spLocks noGrp="1"/>
          </p:cNvSpPr>
          <p:nvPr/>
        </p:nvSpPr>
        <p:spPr>
          <a:xfrm>
            <a:off x="4345200" y="7015680"/>
            <a:ext cx="27802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Benchmark 构建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D94A6DE8-9643-4D39-91EC-AB583538AF69}"/>
              </a:ext>
            </a:extLst>
          </p:cNvPr>
          <p:cNvSpPr>
            <a:spLocks noGrp="1"/>
          </p:cNvSpPr>
          <p:nvPr/>
        </p:nvSpPr>
        <p:spPr>
          <a:xfrm>
            <a:off x="4353840" y="7293240"/>
            <a:ext cx="31392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多类型问题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E8B0F46C-DAA1-40E2-B092-800CD804DF20}"/>
              </a:ext>
            </a:extLst>
          </p:cNvPr>
          <p:cNvSpPr>
            <a:spLocks noGrp="1"/>
          </p:cNvSpPr>
          <p:nvPr/>
        </p:nvSpPr>
        <p:spPr>
          <a:xfrm>
            <a:off x="4353840" y="7484040"/>
            <a:ext cx="31392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标注正确证据、正确控制对象、危险近邻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353" name="矩形 352">
            <a:extLst>
              <a:ext uri="{FF2B5EF4-FFF2-40B4-BE49-F238E27FC236}">
                <a16:creationId xmlns:a16="http://schemas.microsoft.com/office/drawing/2014/main" id="{D6862114-ACEB-488A-A097-4B23061969E1}"/>
              </a:ext>
            </a:extLst>
          </p:cNvPr>
          <p:cNvSpPr>
            <a:spLocks noGrp="1"/>
          </p:cNvSpPr>
          <p:nvPr/>
        </p:nvSpPr>
        <p:spPr>
          <a:xfrm>
            <a:off x="4353840" y="7674480"/>
            <a:ext cx="31392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结构 OOD 划分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262C47CA-2124-4455-B478-E5AE378BC321}"/>
              </a:ext>
            </a:extLst>
          </p:cNvPr>
          <p:cNvSpPr>
            <a:spLocks noGrp="1"/>
          </p:cNvSpPr>
          <p:nvPr/>
        </p:nvSpPr>
        <p:spPr>
          <a:xfrm>
            <a:off x="4353840" y="7865280"/>
            <a:ext cx="31392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指标体系（不能只看回答准确率）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355" name="形状 354">
            <a:extLst>
              <a:ext uri="{FF2B5EF4-FFF2-40B4-BE49-F238E27FC236}">
                <a16:creationId xmlns:a16="http://schemas.microsoft.com/office/drawing/2014/main" id="{1639C246-EAFF-40BD-BC2F-64F521E9D3B7}"/>
              </a:ext>
            </a:extLst>
          </p:cNvPr>
          <p:cNvSpPr>
            <a:spLocks noGrp="1"/>
          </p:cNvSpPr>
          <p:nvPr/>
        </p:nvSpPr>
        <p:spPr>
          <a:xfrm>
            <a:off x="8992080" y="7171920"/>
            <a:ext cx="411840" cy="398160"/>
          </a:xfrm>
          <a:prstGeom prst="gear6">
            <a:avLst>
              <a:gd name="adj1" fmla="val 15000"/>
              <a:gd name="adj2" fmla="val 3526"/>
            </a:avLst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6" name="椭圆 355">
            <a:extLst>
              <a:ext uri="{FF2B5EF4-FFF2-40B4-BE49-F238E27FC236}">
                <a16:creationId xmlns:a16="http://schemas.microsoft.com/office/drawing/2014/main" id="{06D3CF59-FADB-4C63-99AD-85573590A266}"/>
              </a:ext>
            </a:extLst>
          </p:cNvPr>
          <p:cNvSpPr>
            <a:spLocks noGrp="1"/>
          </p:cNvSpPr>
          <p:nvPr/>
        </p:nvSpPr>
        <p:spPr>
          <a:xfrm>
            <a:off x="9126720" y="7302240"/>
            <a:ext cx="142920" cy="1378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7" name="形状 356">
            <a:extLst>
              <a:ext uri="{FF2B5EF4-FFF2-40B4-BE49-F238E27FC236}">
                <a16:creationId xmlns:a16="http://schemas.microsoft.com/office/drawing/2014/main" id="{654D1F52-3E31-4668-BAF2-B1B832516AE5}"/>
              </a:ext>
            </a:extLst>
          </p:cNvPr>
          <p:cNvSpPr>
            <a:spLocks noGrp="1"/>
          </p:cNvSpPr>
          <p:nvPr/>
        </p:nvSpPr>
        <p:spPr>
          <a:xfrm>
            <a:off x="8750160" y="7458120"/>
            <a:ext cx="411840" cy="397800"/>
          </a:xfrm>
          <a:prstGeom prst="gear6">
            <a:avLst>
              <a:gd name="adj1" fmla="val 15000"/>
              <a:gd name="adj2" fmla="val 3526"/>
            </a:avLst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8" name="椭圆 357">
            <a:extLst>
              <a:ext uri="{FF2B5EF4-FFF2-40B4-BE49-F238E27FC236}">
                <a16:creationId xmlns:a16="http://schemas.microsoft.com/office/drawing/2014/main" id="{18621FD5-7BA9-4162-B828-15777A061089}"/>
              </a:ext>
            </a:extLst>
          </p:cNvPr>
          <p:cNvSpPr>
            <a:spLocks noGrp="1"/>
          </p:cNvSpPr>
          <p:nvPr/>
        </p:nvSpPr>
        <p:spPr>
          <a:xfrm>
            <a:off x="8884440" y="7588080"/>
            <a:ext cx="142560" cy="1378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矩形 358">
            <a:extLst>
              <a:ext uri="{FF2B5EF4-FFF2-40B4-BE49-F238E27FC236}">
                <a16:creationId xmlns:a16="http://schemas.microsoft.com/office/drawing/2014/main" id="{09E5C302-528D-4A93-9C56-B944326A359D}"/>
              </a:ext>
            </a:extLst>
          </p:cNvPr>
          <p:cNvSpPr>
            <a:spLocks noGrp="1"/>
          </p:cNvSpPr>
          <p:nvPr/>
        </p:nvSpPr>
        <p:spPr>
          <a:xfrm>
            <a:off x="9691920" y="7015680"/>
            <a:ext cx="269100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440" tIns="0" rIns="2844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模型与实验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B3CA0BD6-3F77-4A21-8EDF-07C163668559}"/>
              </a:ext>
            </a:extLst>
          </p:cNvPr>
          <p:cNvSpPr>
            <a:spLocks noGrp="1"/>
          </p:cNvSpPr>
          <p:nvPr/>
        </p:nvSpPr>
        <p:spPr>
          <a:xfrm>
            <a:off x="9700920" y="7293240"/>
            <a:ext cx="31842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0000"/>
          </a:bodyPr>
          <a:lstStyle/>
          <a:p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检索方法（BM25 / Dense / Registry / Metadata 等）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361" name="矩形 360">
            <a:extLst>
              <a:ext uri="{FF2B5EF4-FFF2-40B4-BE49-F238E27FC236}">
                <a16:creationId xmlns:a16="http://schemas.microsoft.com/office/drawing/2014/main" id="{BFF9F7C0-A478-4D5C-B20C-AA35DC7A61EE}"/>
              </a:ext>
            </a:extLst>
          </p:cNvPr>
          <p:cNvSpPr>
            <a:spLocks noGrp="1"/>
          </p:cNvSpPr>
          <p:nvPr/>
        </p:nvSpPr>
        <p:spPr>
          <a:xfrm>
            <a:off x="9700920" y="7484040"/>
            <a:ext cx="31842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0000"/>
          </a:bodyPr>
          <a:lstStyle/>
          <a:p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学习式专家路由（由 Oracle Gap 决定是否保留）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95A78A11-D443-4049-BB6D-D6F7CD295E81}"/>
              </a:ext>
            </a:extLst>
          </p:cNvPr>
          <p:cNvSpPr>
            <a:spLocks noGrp="1"/>
          </p:cNvSpPr>
          <p:nvPr/>
        </p:nvSpPr>
        <p:spPr>
          <a:xfrm>
            <a:off x="9700920" y="7674480"/>
            <a:ext cx="31842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消融实验与基线对比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363" name="矩形 362">
            <a:extLst>
              <a:ext uri="{FF2B5EF4-FFF2-40B4-BE49-F238E27FC236}">
                <a16:creationId xmlns:a16="http://schemas.microsoft.com/office/drawing/2014/main" id="{A4D3C9C1-B076-48FF-BCDB-CCF4AB069408}"/>
              </a:ext>
            </a:extLst>
          </p:cNvPr>
          <p:cNvSpPr>
            <a:spLocks noGrp="1"/>
          </p:cNvSpPr>
          <p:nvPr/>
        </p:nvSpPr>
        <p:spPr>
          <a:xfrm>
            <a:off x="9700920" y="7865280"/>
            <a:ext cx="3184200" cy="2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结构泛化与风险控制评测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259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E578EC54-61D3-40F2-BE88-363ACFE6217B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6516350" cy="4467225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75319C-3799-495F-A321-F2341F9BD4FC}"/>
              </a:ext>
            </a:extLst>
          </p:cNvPr>
          <p:cNvSpPr>
            <a:spLocks noGrp="1"/>
          </p:cNvSpPr>
          <p:nvPr/>
        </p:nvSpPr>
        <p:spPr>
          <a:xfrm>
            <a:off x="400050" y="314325"/>
            <a:ext cx="571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Online inference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C908E5E-C47F-4C5C-9AC5-DB59D58737D4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2047875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2915895-E0CD-4785-B44C-569E03052470}"/>
              </a:ext>
            </a:extLst>
          </p:cNvPr>
          <p:cNvSpPr>
            <a:spLocks noGrp="1"/>
          </p:cNvSpPr>
          <p:nvPr/>
        </p:nvSpPr>
        <p:spPr>
          <a:xfrm>
            <a:off x="3057525" y="2019300"/>
            <a:ext cx="2571750" cy="1619250"/>
          </a:xfrm>
          <a:prstGeom prst="roundRect">
            <a:avLst>
              <a:gd name="adj" fmla="val 4706"/>
            </a:avLst>
          </a:prstGeom>
          <a:solidFill>
            <a:srgbClr val="F1F1F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9334919-1CE4-4B5E-97FD-4E66A1956005}"/>
              </a:ext>
            </a:extLst>
          </p:cNvPr>
          <p:cNvSpPr>
            <a:spLocks noGrp="1"/>
          </p:cNvSpPr>
          <p:nvPr/>
        </p:nvSpPr>
        <p:spPr>
          <a:xfrm>
            <a:off x="6238875" y="981075"/>
            <a:ext cx="2952750" cy="322897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9488F77-B4AD-427C-A748-6E3017DD01E3}"/>
              </a:ext>
            </a:extLst>
          </p:cNvPr>
          <p:cNvSpPr>
            <a:spLocks noGrp="1"/>
          </p:cNvSpPr>
          <p:nvPr/>
        </p:nvSpPr>
        <p:spPr>
          <a:xfrm>
            <a:off x="9810750" y="1457325"/>
            <a:ext cx="3571875" cy="2686050"/>
          </a:xfrm>
          <a:prstGeom prst="roundRect">
            <a:avLst>
              <a:gd name="adj" fmla="val 2837"/>
            </a:avLst>
          </a:prstGeom>
          <a:solidFill>
            <a:srgbClr val="F1F1F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04F7522-4D48-4AE4-BDB1-F06D7A49211F}"/>
              </a:ext>
            </a:extLst>
          </p:cNvPr>
          <p:cNvSpPr>
            <a:spLocks noGrp="1"/>
          </p:cNvSpPr>
          <p:nvPr/>
        </p:nvSpPr>
        <p:spPr>
          <a:xfrm>
            <a:off x="14001750" y="2019300"/>
            <a:ext cx="2486025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E6A894-93DD-4931-8953-37427536A49A}"/>
              </a:ext>
            </a:extLst>
          </p:cNvPr>
          <p:cNvSpPr>
            <a:spLocks noGrp="1"/>
          </p:cNvSpPr>
          <p:nvPr/>
        </p:nvSpPr>
        <p:spPr>
          <a:xfrm>
            <a:off x="523875" y="2171700"/>
            <a:ext cx="18002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Query parsing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F54EFC-01AB-4C70-BB86-B26CEE75D820}"/>
              </a:ext>
            </a:extLst>
          </p:cNvPr>
          <p:cNvSpPr>
            <a:spLocks noGrp="1"/>
          </p:cNvSpPr>
          <p:nvPr/>
        </p:nvSpPr>
        <p:spPr>
          <a:xfrm>
            <a:off x="523875" y="2771775"/>
            <a:ext cx="18002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Natural language</a:t>
            </a:r>
          </a:p>
          <a:p>
            <a:pPr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Control entities</a:t>
            </a:r>
          </a:p>
          <a:p>
            <a:pPr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Lexical features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C4ADE9-BF80-4A6D-AF01-BA5D80A1567B}"/>
              </a:ext>
            </a:extLst>
          </p:cNvPr>
          <p:cNvSpPr>
            <a:spLocks noGrp="1"/>
          </p:cNvSpPr>
          <p:nvPr/>
        </p:nvSpPr>
        <p:spPr>
          <a:xfrm>
            <a:off x="3190875" y="2171700"/>
            <a:ext cx="22955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C. Learned router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B4B2F1-5FFA-41BF-B00E-585218F1308B}"/>
              </a:ext>
            </a:extLst>
          </p:cNvPr>
          <p:cNvSpPr>
            <a:spLocks noGrp="1"/>
          </p:cNvSpPr>
          <p:nvPr/>
        </p:nvSpPr>
        <p:spPr>
          <a:xfrm>
            <a:off x="3190875" y="2771775"/>
            <a:ext cx="2295525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Control features</a:t>
            </a:r>
          </a:p>
          <a:p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Expert weights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CFBC21-B075-4D68-8596-EE38A2AFDA16}"/>
              </a:ext>
            </a:extLst>
          </p:cNvPr>
          <p:cNvSpPr>
            <a:spLocks noGrp="1"/>
          </p:cNvSpPr>
          <p:nvPr/>
        </p:nvSpPr>
        <p:spPr>
          <a:xfrm>
            <a:off x="6362700" y="1057275"/>
            <a:ext cx="26955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Retriever experts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7440636-D023-4A78-BAFA-03E103C81B5D}"/>
              </a:ext>
            </a:extLst>
          </p:cNvPr>
          <p:cNvSpPr>
            <a:spLocks noGrp="1"/>
          </p:cNvSpPr>
          <p:nvPr/>
        </p:nvSpPr>
        <p:spPr>
          <a:xfrm>
            <a:off x="6419850" y="1524000"/>
            <a:ext cx="25908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636725-26CD-43CD-8666-7F3E5A175617}"/>
              </a:ext>
            </a:extLst>
          </p:cNvPr>
          <p:cNvSpPr>
            <a:spLocks noGrp="1"/>
          </p:cNvSpPr>
          <p:nvPr/>
        </p:nvSpPr>
        <p:spPr>
          <a:xfrm>
            <a:off x="6534150" y="159067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BM25: lexical match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E724A37-8225-42E5-96CA-4C95083C6EB5}"/>
              </a:ext>
            </a:extLst>
          </p:cNvPr>
          <p:cNvSpPr>
            <a:spLocks noGrp="1"/>
          </p:cNvSpPr>
          <p:nvPr/>
        </p:nvSpPr>
        <p:spPr>
          <a:xfrm>
            <a:off x="6419850" y="2162175"/>
            <a:ext cx="25908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A5833F-B432-464B-A7B7-8A2CF7133B7F}"/>
              </a:ext>
            </a:extLst>
          </p:cNvPr>
          <p:cNvSpPr>
            <a:spLocks noGrp="1"/>
          </p:cNvSpPr>
          <p:nvPr/>
        </p:nvSpPr>
        <p:spPr>
          <a:xfrm>
            <a:off x="6534150" y="222885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Dense: semantic match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E1B3215-C7E9-4A06-97A9-9A03BB45A9A9}"/>
              </a:ext>
            </a:extLst>
          </p:cNvPr>
          <p:cNvSpPr>
            <a:spLocks noGrp="1"/>
          </p:cNvSpPr>
          <p:nvPr/>
        </p:nvSpPr>
        <p:spPr>
          <a:xfrm>
            <a:off x="6419850" y="2800350"/>
            <a:ext cx="25908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AA9908-8328-4D7A-A7EE-ECD4900A72E7}"/>
              </a:ext>
            </a:extLst>
          </p:cNvPr>
          <p:cNvSpPr>
            <a:spLocks noGrp="1"/>
          </p:cNvSpPr>
          <p:nvPr/>
        </p:nvSpPr>
        <p:spPr>
          <a:xfrm>
            <a:off x="6534150" y="286702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Registry: object lookup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4B6221F-DB83-42CB-8B2B-949E4438A02B}"/>
              </a:ext>
            </a:extLst>
          </p:cNvPr>
          <p:cNvSpPr>
            <a:spLocks noGrp="1"/>
          </p:cNvSpPr>
          <p:nvPr/>
        </p:nvSpPr>
        <p:spPr>
          <a:xfrm>
            <a:off x="6419850" y="3438525"/>
            <a:ext cx="25908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540876-F0A1-4F14-9C3A-E805BD65451A}"/>
              </a:ext>
            </a:extLst>
          </p:cNvPr>
          <p:cNvSpPr>
            <a:spLocks noGrp="1"/>
          </p:cNvSpPr>
          <p:nvPr/>
        </p:nvSpPr>
        <p:spPr>
          <a:xfrm>
            <a:off x="6534150" y="35052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Metadata: scope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7B72D0F-58F0-462C-82D5-F0F4A182AFA3}"/>
              </a:ext>
            </a:extLst>
          </p:cNvPr>
          <p:cNvSpPr>
            <a:spLocks noGrp="1"/>
          </p:cNvSpPr>
          <p:nvPr/>
        </p:nvSpPr>
        <p:spPr>
          <a:xfrm>
            <a:off x="9982200" y="1609725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A. Query-conditioned risk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9289ABD-175C-4FFF-AB1B-BE090E206418}"/>
              </a:ext>
            </a:extLst>
          </p:cNvPr>
          <p:cNvSpPr>
            <a:spLocks noGrp="1"/>
          </p:cNvSpPr>
          <p:nvPr/>
        </p:nvSpPr>
        <p:spPr>
          <a:xfrm>
            <a:off x="9982200" y="2266950"/>
            <a:ext cx="32385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Area / device / signal</a:t>
            </a:r>
          </a:p>
          <a:p>
            <a:pPr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Qualifier / identifier validity</a:t>
            </a:r>
          </a:p>
          <a:p>
            <a:pPr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Query–candidate mismatch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4F9526F-6C78-40F8-880B-E80852A7EB27}"/>
              </a:ext>
            </a:extLst>
          </p:cNvPr>
          <p:cNvSpPr>
            <a:spLocks noGrp="1"/>
          </p:cNvSpPr>
          <p:nvPr/>
        </p:nvSpPr>
        <p:spPr>
          <a:xfrm>
            <a:off x="9982200" y="3371850"/>
            <a:ext cx="32385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Risk-aware ranking</a:t>
            </a:r>
          </a:p>
          <a:p>
            <a:pPr>
              <a:def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Relevance minus risk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88C935-8A8B-4D11-80A8-A6046A10BE9F}"/>
              </a:ext>
            </a:extLst>
          </p:cNvPr>
          <p:cNvSpPr>
            <a:spLocks noGrp="1"/>
          </p:cNvSpPr>
          <p:nvPr/>
        </p:nvSpPr>
        <p:spPr>
          <a:xfrm>
            <a:off x="14135100" y="2171700"/>
            <a:ext cx="22193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Selective output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67E20A1-580B-46A7-9BE8-EEF754408DF3}"/>
              </a:ext>
            </a:extLst>
          </p:cNvPr>
          <p:cNvSpPr>
            <a:spLocks noGrp="1"/>
          </p:cNvSpPr>
          <p:nvPr/>
        </p:nvSpPr>
        <p:spPr>
          <a:xfrm>
            <a:off x="14135100" y="2771775"/>
            <a:ext cx="2219325" cy="771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Cited answer</a:t>
            </a:r>
          </a:p>
          <a:p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Clarify / abstain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5DCC224-DA33-4D67-97B9-5C92417C6F96}"/>
              </a:ext>
            </a:extLst>
          </p:cNvPr>
          <p:cNvSpPr>
            <a:spLocks noGrp="1"/>
          </p:cNvSpPr>
          <p:nvPr/>
        </p:nvSpPr>
        <p:spPr>
          <a:xfrm>
            <a:off x="2447925" y="2828925"/>
            <a:ext cx="609600" cy="9525"/>
          </a:xfrm>
          <a:custGeom>
            <a:avLst/>
            <a:gdLst/>
            <a:ahLst/>
            <a:cxnLst/>
            <a:rect l="0" t="0" r="0" b="0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27" name="等腰三角形 26">
            <a:extLst>
              <a:ext uri="{FF2B5EF4-FFF2-40B4-BE49-F238E27FC236}">
                <a16:creationId xmlns:a16="http://schemas.microsoft.com/office/drawing/2014/main" id="{F1B63021-5205-4385-AFF3-C71100ED3978}"/>
              </a:ext>
            </a:extLst>
          </p:cNvPr>
          <p:cNvSpPr>
            <a:spLocks noGrp="1"/>
          </p:cNvSpPr>
          <p:nvPr/>
        </p:nvSpPr>
        <p:spPr>
          <a:xfrm rot="5400000">
            <a:off x="3009900" y="2781300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825452E7-4B8D-4881-AB39-95DDFA44EFBF}"/>
              </a:ext>
            </a:extLst>
          </p:cNvPr>
          <p:cNvSpPr>
            <a:spLocks noGrp="1"/>
          </p:cNvSpPr>
          <p:nvPr/>
        </p:nvSpPr>
        <p:spPr>
          <a:xfrm>
            <a:off x="5629275" y="2828925"/>
            <a:ext cx="609600" cy="9525"/>
          </a:xfrm>
          <a:custGeom>
            <a:avLst/>
            <a:gdLst/>
            <a:ahLst/>
            <a:cxnLst/>
            <a:rect l="0" t="0" r="0" b="0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29" name="等腰三角形 28">
            <a:extLst>
              <a:ext uri="{FF2B5EF4-FFF2-40B4-BE49-F238E27FC236}">
                <a16:creationId xmlns:a16="http://schemas.microsoft.com/office/drawing/2014/main" id="{E56194A8-21A7-4B97-8E9D-B1ACCD29E667}"/>
              </a:ext>
            </a:extLst>
          </p:cNvPr>
          <p:cNvSpPr>
            <a:spLocks noGrp="1"/>
          </p:cNvSpPr>
          <p:nvPr/>
        </p:nvSpPr>
        <p:spPr>
          <a:xfrm rot="5400000">
            <a:off x="6191250" y="2781300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5DE57EA6-25B6-469D-8797-5F91F636A8FE}"/>
              </a:ext>
            </a:extLst>
          </p:cNvPr>
          <p:cNvSpPr>
            <a:spLocks noGrp="1"/>
          </p:cNvSpPr>
          <p:nvPr/>
        </p:nvSpPr>
        <p:spPr>
          <a:xfrm>
            <a:off x="9191625" y="2595563"/>
            <a:ext cx="619125" cy="9525"/>
          </a:xfrm>
          <a:custGeom>
            <a:avLst/>
            <a:gdLst/>
            <a:ahLst/>
            <a:cxnLst/>
            <a:rect l="0" t="0" r="0" b="0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31" name="等腰三角形 30">
            <a:extLst>
              <a:ext uri="{FF2B5EF4-FFF2-40B4-BE49-F238E27FC236}">
                <a16:creationId xmlns:a16="http://schemas.microsoft.com/office/drawing/2014/main" id="{2A212D4E-C3BE-4520-906B-F6BC84A32443}"/>
              </a:ext>
            </a:extLst>
          </p:cNvPr>
          <p:cNvSpPr>
            <a:spLocks noGrp="1"/>
          </p:cNvSpPr>
          <p:nvPr/>
        </p:nvSpPr>
        <p:spPr>
          <a:xfrm rot="5400000">
            <a:off x="9763125" y="2547938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56FD9ED1-E829-4E13-ABFA-72AC50FD8652}"/>
              </a:ext>
            </a:extLst>
          </p:cNvPr>
          <p:cNvSpPr>
            <a:spLocks noGrp="1"/>
          </p:cNvSpPr>
          <p:nvPr/>
        </p:nvSpPr>
        <p:spPr>
          <a:xfrm>
            <a:off x="13382625" y="2800350"/>
            <a:ext cx="619125" cy="9525"/>
          </a:xfrm>
          <a:custGeom>
            <a:avLst/>
            <a:gdLst/>
            <a:ahLst/>
            <a:cxnLst/>
            <a:rect l="0" t="0" r="0" b="0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646F7D2F-915E-4FD2-B259-EC59AEB35EAF}"/>
              </a:ext>
            </a:extLst>
          </p:cNvPr>
          <p:cNvSpPr>
            <a:spLocks noGrp="1"/>
          </p:cNvSpPr>
          <p:nvPr/>
        </p:nvSpPr>
        <p:spPr>
          <a:xfrm rot="5400000">
            <a:off x="13954125" y="2752725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F25FDA-6059-4C82-A500-683FB87A6698}"/>
              </a:ext>
            </a:extLst>
          </p:cNvPr>
          <p:cNvSpPr>
            <a:spLocks noGrp="1"/>
          </p:cNvSpPr>
          <p:nvPr/>
        </p:nvSpPr>
        <p:spPr>
          <a:xfrm>
            <a:off x="5524500" y="431482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Candidates are merged and normalized before scoring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77FF024-7B84-4CF3-B8FE-B0A1EAC2871C}"/>
              </a:ext>
            </a:extLst>
          </p:cNvPr>
          <p:cNvSpPr>
            <a:spLocks noGrp="1"/>
          </p:cNvSpPr>
          <p:nvPr/>
        </p:nvSpPr>
        <p:spPr>
          <a:xfrm>
            <a:off x="190500" y="4943475"/>
            <a:ext cx="16516350" cy="2733675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025A134-0F52-4887-AFC4-21579EE39CAA}"/>
              </a:ext>
            </a:extLst>
          </p:cNvPr>
          <p:cNvSpPr>
            <a:spLocks noGrp="1"/>
          </p:cNvSpPr>
          <p:nvPr/>
        </p:nvSpPr>
        <p:spPr>
          <a:xfrm>
            <a:off x="400050" y="5057775"/>
            <a:ext cx="36671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Offline supervision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8EC6DDD-F67C-4E10-A7BE-E5BA993BCE70}"/>
              </a:ext>
            </a:extLst>
          </p:cNvPr>
          <p:cNvSpPr>
            <a:spLocks noGrp="1"/>
          </p:cNvSpPr>
          <p:nvPr/>
        </p:nvSpPr>
        <p:spPr>
          <a:xfrm>
            <a:off x="409575" y="5743575"/>
            <a:ext cx="3324225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B90831BB-2C1A-446B-A827-8C424DE18FC3}"/>
              </a:ext>
            </a:extLst>
          </p:cNvPr>
          <p:cNvSpPr>
            <a:spLocks noGrp="1"/>
          </p:cNvSpPr>
          <p:nvPr/>
        </p:nvSpPr>
        <p:spPr>
          <a:xfrm>
            <a:off x="4343400" y="5743575"/>
            <a:ext cx="3267075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E9A9E89-DBFA-4664-8D48-595E06E9327E}"/>
              </a:ext>
            </a:extLst>
          </p:cNvPr>
          <p:cNvSpPr>
            <a:spLocks noGrp="1"/>
          </p:cNvSpPr>
          <p:nvPr/>
        </p:nvSpPr>
        <p:spPr>
          <a:xfrm>
            <a:off x="8220075" y="5591175"/>
            <a:ext cx="3914775" cy="1657350"/>
          </a:xfrm>
          <a:prstGeom prst="roundRect">
            <a:avLst>
              <a:gd name="adj" fmla="val 4598"/>
            </a:avLst>
          </a:prstGeom>
          <a:solidFill>
            <a:srgbClr val="F1F1F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C50F701-A0D5-4422-A082-76E3D0A518E6}"/>
              </a:ext>
            </a:extLst>
          </p:cNvPr>
          <p:cNvSpPr>
            <a:spLocks noGrp="1"/>
          </p:cNvSpPr>
          <p:nvPr/>
        </p:nvSpPr>
        <p:spPr>
          <a:xfrm>
            <a:off x="12744450" y="5743575"/>
            <a:ext cx="3743325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9E5477A-831E-4D9A-880E-53BFC93B7C7E}"/>
              </a:ext>
            </a:extLst>
          </p:cNvPr>
          <p:cNvSpPr>
            <a:spLocks noGrp="1"/>
          </p:cNvSpPr>
          <p:nvPr/>
        </p:nvSpPr>
        <p:spPr>
          <a:xfrm>
            <a:off x="533400" y="5867400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Versioned data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4274BE0-0186-40DE-AEFC-A01656F5940F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306705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Indexes and evidence links</a:t>
            </a:r>
          </a:p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Grouped splits and reviewed labels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781A3AF-3ED2-49E0-9136-E880EE4E5B95}"/>
              </a:ext>
            </a:extLst>
          </p:cNvPr>
          <p:cNvSpPr>
            <a:spLocks noGrp="1"/>
          </p:cNvSpPr>
          <p:nvPr/>
        </p:nvSpPr>
        <p:spPr>
          <a:xfrm>
            <a:off x="4467225" y="5867400"/>
            <a:ext cx="30194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Router training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799B902-1B61-43EA-B98F-775FF54932E3}"/>
              </a:ext>
            </a:extLst>
          </p:cNvPr>
          <p:cNvSpPr>
            <a:spLocks noGrp="1"/>
          </p:cNvSpPr>
          <p:nvPr/>
        </p:nvSpPr>
        <p:spPr>
          <a:xfrm>
            <a:off x="4467225" y="6362700"/>
            <a:ext cx="30194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Quality–risk–cost utility</a:t>
            </a:r>
          </a:p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Supervised expert weighting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84CFDED-07DB-4FA2-9CE6-31C38D609EE2}"/>
              </a:ext>
            </a:extLst>
          </p:cNvPr>
          <p:cNvSpPr>
            <a:spLocks noGrp="1"/>
          </p:cNvSpPr>
          <p:nvPr/>
        </p:nvSpPr>
        <p:spPr>
          <a:xfrm>
            <a:off x="8353425" y="5724525"/>
            <a:ext cx="36671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B. Structural counterfactuals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BAD8B23-A1DF-40C7-A509-7DDFE1E6BBE1}"/>
              </a:ext>
            </a:extLst>
          </p:cNvPr>
          <p:cNvSpPr>
            <a:spLocks noGrp="1"/>
          </p:cNvSpPr>
          <p:nvPr/>
        </p:nvSpPr>
        <p:spPr>
          <a:xfrm>
            <a:off x="8353425" y="6276975"/>
            <a:ext cx="366712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Change one decisive field</a:t>
            </a:r>
          </a:p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Separate wrong objects from invalid IDs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21344CF-1A0B-4B2D-A5B3-03276DC9C67F}"/>
              </a:ext>
            </a:extLst>
          </p:cNvPr>
          <p:cNvSpPr>
            <a:spLocks noGrp="1"/>
          </p:cNvSpPr>
          <p:nvPr/>
        </p:nvSpPr>
        <p:spPr>
          <a:xfrm>
            <a:off x="12877800" y="5867400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Risk and ranking training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184BE2E-3FD8-405B-88D4-F29954CDEC00}"/>
              </a:ext>
            </a:extLst>
          </p:cNvPr>
          <p:cNvSpPr>
            <a:spLocks noGrp="1"/>
          </p:cNvSpPr>
          <p:nvPr/>
        </p:nvSpPr>
        <p:spPr>
          <a:xfrm>
            <a:off x="12877800" y="6372225"/>
            <a:ext cx="3476625" cy="771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Field-level mismatch labels</a:t>
            </a:r>
          </a:p>
          <a:p>
            <a:pPr>
              <a:def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Contrastive ranking and margins</a:t>
            </a: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6BA45B47-F117-46F1-B242-C33B79F09336}"/>
              </a:ext>
            </a:extLst>
          </p:cNvPr>
          <p:cNvSpPr>
            <a:spLocks noGrp="1"/>
          </p:cNvSpPr>
          <p:nvPr/>
        </p:nvSpPr>
        <p:spPr>
          <a:xfrm>
            <a:off x="3733800" y="6496050"/>
            <a:ext cx="609600" cy="9525"/>
          </a:xfrm>
          <a:custGeom>
            <a:avLst/>
            <a:gdLst/>
            <a:ahLst/>
            <a:cxnLst/>
            <a:rect l="0" t="0" r="0" b="0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50" name="等腰三角形 49">
            <a:extLst>
              <a:ext uri="{FF2B5EF4-FFF2-40B4-BE49-F238E27FC236}">
                <a16:creationId xmlns:a16="http://schemas.microsoft.com/office/drawing/2014/main" id="{EF6FB890-BE26-43A0-815E-B22EFAAE77F2}"/>
              </a:ext>
            </a:extLst>
          </p:cNvPr>
          <p:cNvSpPr>
            <a:spLocks noGrp="1"/>
          </p:cNvSpPr>
          <p:nvPr/>
        </p:nvSpPr>
        <p:spPr>
          <a:xfrm rot="5400000">
            <a:off x="4295775" y="6448425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C32478F9-9CB3-4964-96D9-14C96F695E75}"/>
              </a:ext>
            </a:extLst>
          </p:cNvPr>
          <p:cNvSpPr>
            <a:spLocks noGrp="1"/>
          </p:cNvSpPr>
          <p:nvPr/>
        </p:nvSpPr>
        <p:spPr>
          <a:xfrm>
            <a:off x="2071688" y="7248525"/>
            <a:ext cx="8105775" cy="219075"/>
          </a:xfrm>
          <a:custGeom>
            <a:avLst/>
            <a:gdLst/>
            <a:ahLst/>
            <a:cxnLst/>
            <a:rect l="0" t="0" r="0" b="0"/>
            <a:pathLst>
              <a:path w="8105775" h="219075">
                <a:moveTo>
                  <a:pt x="0" y="0"/>
                </a:moveTo>
                <a:lnTo>
                  <a:pt x="0" y="219075"/>
                </a:lnTo>
                <a:lnTo>
                  <a:pt x="8105775" y="219075"/>
                </a:lnTo>
                <a:lnTo>
                  <a:pt x="8105775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52" name="等腰三角形 51">
            <a:extLst>
              <a:ext uri="{FF2B5EF4-FFF2-40B4-BE49-F238E27FC236}">
                <a16:creationId xmlns:a16="http://schemas.microsoft.com/office/drawing/2014/main" id="{EC2E0983-E6BD-457B-B891-928332AFB4CA}"/>
              </a:ext>
            </a:extLst>
          </p:cNvPr>
          <p:cNvSpPr>
            <a:spLocks noGrp="1"/>
          </p:cNvSpPr>
          <p:nvPr/>
        </p:nvSpPr>
        <p:spPr>
          <a:xfrm>
            <a:off x="10129838" y="7248525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1CC31359-2D6B-4ADD-9BFB-9E5352C31158}"/>
              </a:ext>
            </a:extLst>
          </p:cNvPr>
          <p:cNvSpPr>
            <a:spLocks noGrp="1"/>
          </p:cNvSpPr>
          <p:nvPr/>
        </p:nvSpPr>
        <p:spPr>
          <a:xfrm>
            <a:off x="12134850" y="6419850"/>
            <a:ext cx="609600" cy="9525"/>
          </a:xfrm>
          <a:custGeom>
            <a:avLst/>
            <a:gdLst/>
            <a:ahLst/>
            <a:cxnLst/>
            <a:rect l="0" t="0" r="0" b="0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CE5692F2-4550-4F4C-B6CF-0173F7E4D6A1}"/>
              </a:ext>
            </a:extLst>
          </p:cNvPr>
          <p:cNvSpPr>
            <a:spLocks noGrp="1"/>
          </p:cNvSpPr>
          <p:nvPr/>
        </p:nvSpPr>
        <p:spPr>
          <a:xfrm rot="5400000">
            <a:off x="12696825" y="6372225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E7E6DB2E-4E52-4D20-BB68-A712CA91B52D}"/>
              </a:ext>
            </a:extLst>
          </p:cNvPr>
          <p:cNvSpPr>
            <a:spLocks noGrp="1"/>
          </p:cNvSpPr>
          <p:nvPr/>
        </p:nvSpPr>
        <p:spPr>
          <a:xfrm>
            <a:off x="4343400" y="3638550"/>
            <a:ext cx="1633538" cy="2105025"/>
          </a:xfrm>
          <a:custGeom>
            <a:avLst/>
            <a:gdLst/>
            <a:ahLst/>
            <a:cxnLst/>
            <a:rect l="0" t="0" r="0" b="0"/>
            <a:pathLst>
              <a:path w="1633538" h="2105025">
                <a:moveTo>
                  <a:pt x="1633538" y="2105025"/>
                </a:moveTo>
                <a:lnTo>
                  <a:pt x="1633538" y="1152525"/>
                </a:lnTo>
                <a:lnTo>
                  <a:pt x="0" y="1152525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dash"/>
          </a:ln>
        </p:spPr>
      </p:sp>
      <p:sp>
        <p:nvSpPr>
          <p:cNvPr id="56" name="等腰三角形 55">
            <a:extLst>
              <a:ext uri="{FF2B5EF4-FFF2-40B4-BE49-F238E27FC236}">
                <a16:creationId xmlns:a16="http://schemas.microsoft.com/office/drawing/2014/main" id="{D4DF3A15-1F68-4F1B-AD55-BC1792B6F44F}"/>
              </a:ext>
            </a:extLst>
          </p:cNvPr>
          <p:cNvSpPr>
            <a:spLocks noGrp="1"/>
          </p:cNvSpPr>
          <p:nvPr/>
        </p:nvSpPr>
        <p:spPr>
          <a:xfrm>
            <a:off x="4295775" y="3638550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55FCAB3E-77D6-4F3F-A651-1B482504BEA4}"/>
              </a:ext>
            </a:extLst>
          </p:cNvPr>
          <p:cNvSpPr>
            <a:spLocks noGrp="1"/>
          </p:cNvSpPr>
          <p:nvPr/>
        </p:nvSpPr>
        <p:spPr>
          <a:xfrm>
            <a:off x="11596688" y="4143375"/>
            <a:ext cx="3019425" cy="1600200"/>
          </a:xfrm>
          <a:custGeom>
            <a:avLst/>
            <a:gdLst/>
            <a:ahLst/>
            <a:cxnLst/>
            <a:rect l="0" t="0" r="0" b="0"/>
            <a:pathLst>
              <a:path w="3019425" h="1600200">
                <a:moveTo>
                  <a:pt x="3019425" y="1600200"/>
                </a:moveTo>
                <a:lnTo>
                  <a:pt x="3019425" y="647700"/>
                </a:lnTo>
                <a:lnTo>
                  <a:pt x="0" y="64770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dash"/>
          </a:ln>
        </p:spPr>
      </p:sp>
      <p:sp>
        <p:nvSpPr>
          <p:cNvPr id="58" name="等腰三角形 57">
            <a:extLst>
              <a:ext uri="{FF2B5EF4-FFF2-40B4-BE49-F238E27FC236}">
                <a16:creationId xmlns:a16="http://schemas.microsoft.com/office/drawing/2014/main" id="{FE550468-F9F0-496F-8B83-D9ADA6AA6D21}"/>
              </a:ext>
            </a:extLst>
          </p:cNvPr>
          <p:cNvSpPr>
            <a:spLocks noGrp="1"/>
          </p:cNvSpPr>
          <p:nvPr/>
        </p:nvSpPr>
        <p:spPr>
          <a:xfrm>
            <a:off x="11549063" y="4143375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DF53AF0-145A-4CD2-9E92-796587D84D08}"/>
              </a:ext>
            </a:extLst>
          </p:cNvPr>
          <p:cNvSpPr>
            <a:spLocks noGrp="1"/>
          </p:cNvSpPr>
          <p:nvPr/>
        </p:nvSpPr>
        <p:spPr>
          <a:xfrm>
            <a:off x="419100" y="7896225"/>
            <a:ext cx="16192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Solid arrows: data flow     Dashed arrows: offline training     A/B: core proposed contributions     C: conditional extension</a:t>
            </a:r>
          </a:p>
        </p:txBody>
      </p:sp>
    </p:spTree>
    <p:extLst>
      <p:ext uri="{BB962C8B-B14F-4D97-AF65-F5344CB8AC3E}">
        <p14:creationId xmlns:p14="http://schemas.microsoft.com/office/powerpoint/2010/main" val="155114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4F5B0FEE-9695-491A-8DCC-9486A5F4FF1A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6516350" cy="4467225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798717-683A-4380-B430-10510CC90DB3}"/>
              </a:ext>
            </a:extLst>
          </p:cNvPr>
          <p:cNvSpPr>
            <a:spLocks noGrp="1"/>
          </p:cNvSpPr>
          <p:nvPr/>
        </p:nvSpPr>
        <p:spPr>
          <a:xfrm>
            <a:off x="400050" y="314325"/>
            <a:ext cx="571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3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在线推理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7262375-D1A8-4048-B86E-12A9DA02A0DF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2047875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8DBE29B-2159-4915-99BD-5F7C10DC20DA}"/>
              </a:ext>
            </a:extLst>
          </p:cNvPr>
          <p:cNvSpPr>
            <a:spLocks noGrp="1"/>
          </p:cNvSpPr>
          <p:nvPr/>
        </p:nvSpPr>
        <p:spPr>
          <a:xfrm>
            <a:off x="3057525" y="2019300"/>
            <a:ext cx="2571750" cy="1619250"/>
          </a:xfrm>
          <a:prstGeom prst="roundRect">
            <a:avLst>
              <a:gd name="adj" fmla="val 4706"/>
            </a:avLst>
          </a:prstGeom>
          <a:solidFill>
            <a:srgbClr val="F1F1F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C3734A-A61E-4E7D-9EA2-EF27BEB233F0}"/>
              </a:ext>
            </a:extLst>
          </p:cNvPr>
          <p:cNvSpPr>
            <a:spLocks noGrp="1"/>
          </p:cNvSpPr>
          <p:nvPr/>
        </p:nvSpPr>
        <p:spPr>
          <a:xfrm>
            <a:off x="6238875" y="981075"/>
            <a:ext cx="2952750" cy="322897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7AC8791-7AD0-42D9-AF87-02D9BE16162A}"/>
              </a:ext>
            </a:extLst>
          </p:cNvPr>
          <p:cNvSpPr>
            <a:spLocks noGrp="1"/>
          </p:cNvSpPr>
          <p:nvPr/>
        </p:nvSpPr>
        <p:spPr>
          <a:xfrm>
            <a:off x="9810750" y="1457325"/>
            <a:ext cx="3571875" cy="2686050"/>
          </a:xfrm>
          <a:prstGeom prst="roundRect">
            <a:avLst>
              <a:gd name="adj" fmla="val 2837"/>
            </a:avLst>
          </a:prstGeom>
          <a:solidFill>
            <a:srgbClr val="F1F1F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F579E84-96CB-4600-A4EF-0BD8893CDEA5}"/>
              </a:ext>
            </a:extLst>
          </p:cNvPr>
          <p:cNvSpPr>
            <a:spLocks noGrp="1"/>
          </p:cNvSpPr>
          <p:nvPr/>
        </p:nvSpPr>
        <p:spPr>
          <a:xfrm>
            <a:off x="14001750" y="2019300"/>
            <a:ext cx="2486025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FFF426-24B4-4B0D-9DDD-61F709EFB82E}"/>
              </a:ext>
            </a:extLst>
          </p:cNvPr>
          <p:cNvSpPr>
            <a:spLocks noGrp="1"/>
          </p:cNvSpPr>
          <p:nvPr/>
        </p:nvSpPr>
        <p:spPr>
          <a:xfrm>
            <a:off x="523875" y="2171700"/>
            <a:ext cx="18002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查询与解析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378213-7C9F-4BC6-A7D9-D295E1EB34FB}"/>
              </a:ext>
            </a:extLst>
          </p:cNvPr>
          <p:cNvSpPr>
            <a:spLocks noGrp="1"/>
          </p:cNvSpPr>
          <p:nvPr/>
        </p:nvSpPr>
        <p:spPr>
          <a:xfrm>
            <a:off x="523875" y="2771775"/>
            <a:ext cx="18002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自然语言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控制实体与词法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B924E1-2E14-4B48-BA97-456B1E977E98}"/>
              </a:ext>
            </a:extLst>
          </p:cNvPr>
          <p:cNvSpPr>
            <a:spLocks noGrp="1"/>
          </p:cNvSpPr>
          <p:nvPr/>
        </p:nvSpPr>
        <p:spPr>
          <a:xfrm>
            <a:off x="3190875" y="2171700"/>
            <a:ext cx="229552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C  学习式路由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89101A-FCBC-41D6-BD5B-872B6FF4F7A3}"/>
              </a:ext>
            </a:extLst>
          </p:cNvPr>
          <p:cNvSpPr>
            <a:spLocks noGrp="1"/>
          </p:cNvSpPr>
          <p:nvPr/>
        </p:nvSpPr>
        <p:spPr>
          <a:xfrm>
            <a:off x="3190875" y="2771775"/>
            <a:ext cx="2295525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控制特征输入</a:t>
            </a:r>
          </a:p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专家权重输出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4AEAF8-7A9C-412E-8605-204068ACF372}"/>
              </a:ext>
            </a:extLst>
          </p:cNvPr>
          <p:cNvSpPr>
            <a:spLocks noGrp="1"/>
          </p:cNvSpPr>
          <p:nvPr/>
        </p:nvSpPr>
        <p:spPr>
          <a:xfrm>
            <a:off x="6362700" y="1057275"/>
            <a:ext cx="26955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检索器专家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CAB8A58-C2D3-4572-8399-9509BACE1D79}"/>
              </a:ext>
            </a:extLst>
          </p:cNvPr>
          <p:cNvSpPr>
            <a:spLocks noGrp="1"/>
          </p:cNvSpPr>
          <p:nvPr/>
        </p:nvSpPr>
        <p:spPr>
          <a:xfrm>
            <a:off x="6419850" y="1524000"/>
            <a:ext cx="25908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F955F9-E996-480E-9DB6-7CF807A7167B}"/>
              </a:ext>
            </a:extLst>
          </p:cNvPr>
          <p:cNvSpPr>
            <a:spLocks noGrp="1"/>
          </p:cNvSpPr>
          <p:nvPr/>
        </p:nvSpPr>
        <p:spPr>
          <a:xfrm>
            <a:off x="6534150" y="159067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BM25：术语与缩写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AAAE8BA-3D8D-481A-9D59-62E79BCF21BA}"/>
              </a:ext>
            </a:extLst>
          </p:cNvPr>
          <p:cNvSpPr>
            <a:spLocks noGrp="1"/>
          </p:cNvSpPr>
          <p:nvPr/>
        </p:nvSpPr>
        <p:spPr>
          <a:xfrm>
            <a:off x="6419850" y="2162175"/>
            <a:ext cx="25908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7AE58D1-F883-458A-9144-6035862840F5}"/>
              </a:ext>
            </a:extLst>
          </p:cNvPr>
          <p:cNvSpPr>
            <a:spLocks noGrp="1"/>
          </p:cNvSpPr>
          <p:nvPr/>
        </p:nvSpPr>
        <p:spPr>
          <a:xfrm>
            <a:off x="6534150" y="222885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Dense：语义召回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F523FD6-F3C6-4465-B46A-5FDE25A3E909}"/>
              </a:ext>
            </a:extLst>
          </p:cNvPr>
          <p:cNvSpPr>
            <a:spLocks noGrp="1"/>
          </p:cNvSpPr>
          <p:nvPr/>
        </p:nvSpPr>
        <p:spPr>
          <a:xfrm>
            <a:off x="6419850" y="2800350"/>
            <a:ext cx="25908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45AA6A-424F-4EC0-ABD7-A0B791E6E018}"/>
              </a:ext>
            </a:extLst>
          </p:cNvPr>
          <p:cNvSpPr>
            <a:spLocks noGrp="1"/>
          </p:cNvSpPr>
          <p:nvPr/>
        </p:nvSpPr>
        <p:spPr>
          <a:xfrm>
            <a:off x="6534150" y="286702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Registry：对象定位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6D723D9-C9F0-43DF-BFD8-8D8BB3078DE7}"/>
              </a:ext>
            </a:extLst>
          </p:cNvPr>
          <p:cNvSpPr>
            <a:spLocks noGrp="1"/>
          </p:cNvSpPr>
          <p:nvPr/>
        </p:nvSpPr>
        <p:spPr>
          <a:xfrm>
            <a:off x="6419850" y="3438525"/>
            <a:ext cx="25908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4FEEAD2-BF38-4396-BC98-0E19F3352B7F}"/>
              </a:ext>
            </a:extLst>
          </p:cNvPr>
          <p:cNvSpPr>
            <a:spLocks noGrp="1"/>
          </p:cNvSpPr>
          <p:nvPr/>
        </p:nvSpPr>
        <p:spPr>
          <a:xfrm>
            <a:off x="6534150" y="35052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Metadata：范围与版本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78ED6C-B0D2-48A3-AC38-D4B66D0CAE28}"/>
              </a:ext>
            </a:extLst>
          </p:cNvPr>
          <p:cNvSpPr>
            <a:spLocks noGrp="1"/>
          </p:cNvSpPr>
          <p:nvPr/>
        </p:nvSpPr>
        <p:spPr>
          <a:xfrm>
            <a:off x="9982200" y="1609725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  查询条件化风险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FEF7242-05DA-47DA-9035-C5DA1BE531D5}"/>
              </a:ext>
            </a:extLst>
          </p:cNvPr>
          <p:cNvSpPr>
            <a:spLocks noGrp="1"/>
          </p:cNvSpPr>
          <p:nvPr/>
        </p:nvSpPr>
        <p:spPr>
          <a:xfrm>
            <a:off x="9982200" y="2266950"/>
            <a:ext cx="32385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区域 / 设备 / 信号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限定符 / 标识符有效性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查询—候选逐字段评分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CD31011-3D6A-49B6-8F48-944B982FAABD}"/>
              </a:ext>
            </a:extLst>
          </p:cNvPr>
          <p:cNvSpPr>
            <a:spLocks noGrp="1"/>
          </p:cNvSpPr>
          <p:nvPr/>
        </p:nvSpPr>
        <p:spPr>
          <a:xfrm>
            <a:off x="9982200" y="3371850"/>
            <a:ext cx="32385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风险感知融合与重排</a:t>
            </a:r>
          </a:p>
          <a:p>
            <a:pPr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相关性得分扣除错配代价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9F66673-DED0-41DC-BD18-94A6DE72DCAA}"/>
              </a:ext>
            </a:extLst>
          </p:cNvPr>
          <p:cNvSpPr>
            <a:spLocks noGrp="1"/>
          </p:cNvSpPr>
          <p:nvPr/>
        </p:nvSpPr>
        <p:spPr>
          <a:xfrm>
            <a:off x="14135100" y="2171700"/>
            <a:ext cx="22193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可信证据输出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33A0B50-EF44-4A00-9BC5-9DDDE204522D}"/>
              </a:ext>
            </a:extLst>
          </p:cNvPr>
          <p:cNvSpPr>
            <a:spLocks noGrp="1"/>
          </p:cNvSpPr>
          <p:nvPr/>
        </p:nvSpPr>
        <p:spPr>
          <a:xfrm>
            <a:off x="14135100" y="2771775"/>
            <a:ext cx="2219325" cy="771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带引用回答</a:t>
            </a:r>
          </a:p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澄清 / 拒答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8EFBA458-42C5-42AB-AF41-3BFD2A364895}"/>
              </a:ext>
            </a:extLst>
          </p:cNvPr>
          <p:cNvSpPr>
            <a:spLocks noGrp="1"/>
          </p:cNvSpPr>
          <p:nvPr/>
        </p:nvSpPr>
        <p:spPr>
          <a:xfrm>
            <a:off x="2447925" y="2828925"/>
            <a:ext cx="609600" cy="9525"/>
          </a:xfrm>
          <a:custGeom>
            <a:avLst/>
            <a:gdLst/>
            <a:ahLst/>
            <a:cxnLst/>
            <a:rect l="0" t="0" r="0" b="0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27" name="等腰三角形 26">
            <a:extLst>
              <a:ext uri="{FF2B5EF4-FFF2-40B4-BE49-F238E27FC236}">
                <a16:creationId xmlns:a16="http://schemas.microsoft.com/office/drawing/2014/main" id="{1344439D-10CC-40BA-B28A-4E57D2C47E83}"/>
              </a:ext>
            </a:extLst>
          </p:cNvPr>
          <p:cNvSpPr>
            <a:spLocks noGrp="1"/>
          </p:cNvSpPr>
          <p:nvPr/>
        </p:nvSpPr>
        <p:spPr>
          <a:xfrm rot="5400000">
            <a:off x="3009900" y="2781300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0782AD5E-6675-46E0-B5C9-5A76C6AEC180}"/>
              </a:ext>
            </a:extLst>
          </p:cNvPr>
          <p:cNvSpPr>
            <a:spLocks noGrp="1"/>
          </p:cNvSpPr>
          <p:nvPr/>
        </p:nvSpPr>
        <p:spPr>
          <a:xfrm>
            <a:off x="5629275" y="2828925"/>
            <a:ext cx="609600" cy="9525"/>
          </a:xfrm>
          <a:custGeom>
            <a:avLst/>
            <a:gdLst/>
            <a:ahLst/>
            <a:cxnLst/>
            <a:rect l="0" t="0" r="0" b="0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29" name="等腰三角形 28">
            <a:extLst>
              <a:ext uri="{FF2B5EF4-FFF2-40B4-BE49-F238E27FC236}">
                <a16:creationId xmlns:a16="http://schemas.microsoft.com/office/drawing/2014/main" id="{332ECF1B-796E-47A7-853B-761A6483A5DE}"/>
              </a:ext>
            </a:extLst>
          </p:cNvPr>
          <p:cNvSpPr>
            <a:spLocks noGrp="1"/>
          </p:cNvSpPr>
          <p:nvPr/>
        </p:nvSpPr>
        <p:spPr>
          <a:xfrm rot="5400000">
            <a:off x="6191250" y="2781300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9D14111E-1E23-486A-9E06-B7F0C91547A4}"/>
              </a:ext>
            </a:extLst>
          </p:cNvPr>
          <p:cNvSpPr>
            <a:spLocks noGrp="1"/>
          </p:cNvSpPr>
          <p:nvPr/>
        </p:nvSpPr>
        <p:spPr>
          <a:xfrm>
            <a:off x="9191625" y="2595563"/>
            <a:ext cx="619125" cy="9525"/>
          </a:xfrm>
          <a:custGeom>
            <a:avLst/>
            <a:gdLst/>
            <a:ahLst/>
            <a:cxnLst/>
            <a:rect l="0" t="0" r="0" b="0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31" name="等腰三角形 30">
            <a:extLst>
              <a:ext uri="{FF2B5EF4-FFF2-40B4-BE49-F238E27FC236}">
                <a16:creationId xmlns:a16="http://schemas.microsoft.com/office/drawing/2014/main" id="{84B40691-DA3D-42BB-AB4D-4A180937368D}"/>
              </a:ext>
            </a:extLst>
          </p:cNvPr>
          <p:cNvSpPr>
            <a:spLocks noGrp="1"/>
          </p:cNvSpPr>
          <p:nvPr/>
        </p:nvSpPr>
        <p:spPr>
          <a:xfrm rot="5400000">
            <a:off x="9763125" y="2547938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A91D83EE-AA3F-453E-AEBA-B2DAA9F32259}"/>
              </a:ext>
            </a:extLst>
          </p:cNvPr>
          <p:cNvSpPr>
            <a:spLocks noGrp="1"/>
          </p:cNvSpPr>
          <p:nvPr/>
        </p:nvSpPr>
        <p:spPr>
          <a:xfrm>
            <a:off x="13382625" y="2800350"/>
            <a:ext cx="619125" cy="9525"/>
          </a:xfrm>
          <a:custGeom>
            <a:avLst/>
            <a:gdLst/>
            <a:ahLst/>
            <a:cxnLst/>
            <a:rect l="0" t="0" r="0" b="0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12F2759A-BF95-427C-AFF1-D00EF3665E00}"/>
              </a:ext>
            </a:extLst>
          </p:cNvPr>
          <p:cNvSpPr>
            <a:spLocks noGrp="1"/>
          </p:cNvSpPr>
          <p:nvPr/>
        </p:nvSpPr>
        <p:spPr>
          <a:xfrm rot="5400000">
            <a:off x="13954125" y="2752725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243BEDB-4884-4218-90E6-927D66F01D70}"/>
              </a:ext>
            </a:extLst>
          </p:cNvPr>
          <p:cNvSpPr>
            <a:spLocks noGrp="1"/>
          </p:cNvSpPr>
          <p:nvPr/>
        </p:nvSpPr>
        <p:spPr>
          <a:xfrm>
            <a:off x="5524500" y="431482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候选合并与证据归一化后评分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91BFD25-7091-4041-A12E-845618B9C709}"/>
              </a:ext>
            </a:extLst>
          </p:cNvPr>
          <p:cNvSpPr>
            <a:spLocks noGrp="1"/>
          </p:cNvSpPr>
          <p:nvPr/>
        </p:nvSpPr>
        <p:spPr>
          <a:xfrm>
            <a:off x="190500" y="4943475"/>
            <a:ext cx="16516350" cy="2733675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ECB67A2-9404-4B50-903A-3DCD528B4779}"/>
              </a:ext>
            </a:extLst>
          </p:cNvPr>
          <p:cNvSpPr>
            <a:spLocks noGrp="1"/>
          </p:cNvSpPr>
          <p:nvPr/>
        </p:nvSpPr>
        <p:spPr>
          <a:xfrm>
            <a:off x="400050" y="5057775"/>
            <a:ext cx="36671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3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离线构建与监督训练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E0B72D0-2F14-47F5-A574-5D8FB54FEB8F}"/>
              </a:ext>
            </a:extLst>
          </p:cNvPr>
          <p:cNvSpPr>
            <a:spLocks noGrp="1"/>
          </p:cNvSpPr>
          <p:nvPr/>
        </p:nvSpPr>
        <p:spPr>
          <a:xfrm>
            <a:off x="409575" y="5743575"/>
            <a:ext cx="3324225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B199D77-4931-48B6-82CA-D8918E9F54F6}"/>
              </a:ext>
            </a:extLst>
          </p:cNvPr>
          <p:cNvSpPr>
            <a:spLocks noGrp="1"/>
          </p:cNvSpPr>
          <p:nvPr/>
        </p:nvSpPr>
        <p:spPr>
          <a:xfrm>
            <a:off x="4343400" y="5743575"/>
            <a:ext cx="3267075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596C572C-0465-438C-AB75-711A4FC8AFD9}"/>
              </a:ext>
            </a:extLst>
          </p:cNvPr>
          <p:cNvSpPr>
            <a:spLocks noGrp="1"/>
          </p:cNvSpPr>
          <p:nvPr/>
        </p:nvSpPr>
        <p:spPr>
          <a:xfrm>
            <a:off x="8220075" y="5591175"/>
            <a:ext cx="3914775" cy="1657350"/>
          </a:xfrm>
          <a:prstGeom prst="roundRect">
            <a:avLst>
              <a:gd name="adj" fmla="val 4598"/>
            </a:avLst>
          </a:prstGeom>
          <a:solidFill>
            <a:srgbClr val="F1F1F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A4F1058-A4DD-408D-AC3D-804A10C1F648}"/>
              </a:ext>
            </a:extLst>
          </p:cNvPr>
          <p:cNvSpPr>
            <a:spLocks noGrp="1"/>
          </p:cNvSpPr>
          <p:nvPr/>
        </p:nvSpPr>
        <p:spPr>
          <a:xfrm>
            <a:off x="12744450" y="5743575"/>
            <a:ext cx="3743325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43D1905-9D8E-4137-A7AB-B4C8CDBA4DFB}"/>
              </a:ext>
            </a:extLst>
          </p:cNvPr>
          <p:cNvSpPr>
            <a:spLocks noGrp="1"/>
          </p:cNvSpPr>
          <p:nvPr/>
        </p:nvSpPr>
        <p:spPr>
          <a:xfrm>
            <a:off x="533400" y="5867400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文档与版本化注册表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469C8F8-D8E4-4377-BB2E-D91CD4E9EB08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306705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建立索引、关联证据</a:t>
            </a:r>
          </a:p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分组划分并审核标签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AC6B860-82E9-4154-B1DD-A464CCC2616A}"/>
              </a:ext>
            </a:extLst>
          </p:cNvPr>
          <p:cNvSpPr>
            <a:spLocks noGrp="1"/>
          </p:cNvSpPr>
          <p:nvPr/>
        </p:nvSpPr>
        <p:spPr>
          <a:xfrm>
            <a:off x="4467225" y="5867400"/>
            <a:ext cx="30194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路由训练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78FA694-BB36-461A-931B-F8B6C25EAEF8}"/>
              </a:ext>
            </a:extLst>
          </p:cNvPr>
          <p:cNvSpPr>
            <a:spLocks noGrp="1"/>
          </p:cNvSpPr>
          <p:nvPr/>
        </p:nvSpPr>
        <p:spPr>
          <a:xfrm>
            <a:off x="4467225" y="6362700"/>
            <a:ext cx="30194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质量—风险—成本效用</a:t>
            </a:r>
          </a:p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监督专家权重预测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135650-CCCF-4895-9A51-86B30C0AE2D7}"/>
              </a:ext>
            </a:extLst>
          </p:cNvPr>
          <p:cNvSpPr>
            <a:spLocks noGrp="1"/>
          </p:cNvSpPr>
          <p:nvPr/>
        </p:nvSpPr>
        <p:spPr>
          <a:xfrm>
            <a:off x="8353425" y="5724525"/>
            <a:ext cx="36671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B  结构反事实样本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4302F0B-0A57-41BA-A304-7B67A1F0DC4D}"/>
              </a:ext>
            </a:extLst>
          </p:cNvPr>
          <p:cNvSpPr>
            <a:spLocks noGrp="1"/>
          </p:cNvSpPr>
          <p:nvPr/>
        </p:nvSpPr>
        <p:spPr>
          <a:xfrm>
            <a:off x="8353425" y="6276975"/>
            <a:ext cx="366712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只替换一个决定性字段</a:t>
            </a:r>
          </a:p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真实错对象与无效标识符分组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05DC56A-DC2E-4968-988F-8F3CC8F33073}"/>
              </a:ext>
            </a:extLst>
          </p:cNvPr>
          <p:cNvSpPr>
            <a:spLocks noGrp="1"/>
          </p:cNvSpPr>
          <p:nvPr/>
        </p:nvSpPr>
        <p:spPr>
          <a:xfrm>
            <a:off x="12877800" y="5867400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风险与排序训练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AA2A050-A289-409F-9A9F-B7292C0FC791}"/>
              </a:ext>
            </a:extLst>
          </p:cNvPr>
          <p:cNvSpPr>
            <a:spLocks noGrp="1"/>
          </p:cNvSpPr>
          <p:nvPr/>
        </p:nvSpPr>
        <p:spPr>
          <a:xfrm>
            <a:off x="12877800" y="6372225"/>
            <a:ext cx="3476625" cy="771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逐字段风险标签</a:t>
            </a:r>
          </a:p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对比排序与反事实间隔</a:t>
            </a: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D08C5AD-4E16-41FF-97D4-726A4507B254}"/>
              </a:ext>
            </a:extLst>
          </p:cNvPr>
          <p:cNvSpPr>
            <a:spLocks noGrp="1"/>
          </p:cNvSpPr>
          <p:nvPr/>
        </p:nvSpPr>
        <p:spPr>
          <a:xfrm>
            <a:off x="3733800" y="6496050"/>
            <a:ext cx="609600" cy="9525"/>
          </a:xfrm>
          <a:custGeom>
            <a:avLst/>
            <a:gdLst/>
            <a:ahLst/>
            <a:cxnLst/>
            <a:rect l="0" t="0" r="0" b="0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50" name="等腰三角形 49">
            <a:extLst>
              <a:ext uri="{FF2B5EF4-FFF2-40B4-BE49-F238E27FC236}">
                <a16:creationId xmlns:a16="http://schemas.microsoft.com/office/drawing/2014/main" id="{10032B8E-F1B3-462E-A934-2571D8CEEA52}"/>
              </a:ext>
            </a:extLst>
          </p:cNvPr>
          <p:cNvSpPr>
            <a:spLocks noGrp="1"/>
          </p:cNvSpPr>
          <p:nvPr/>
        </p:nvSpPr>
        <p:spPr>
          <a:xfrm rot="5400000">
            <a:off x="4295775" y="6448425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6454B0E4-318B-4949-ADDB-6C2D4981AE3F}"/>
              </a:ext>
            </a:extLst>
          </p:cNvPr>
          <p:cNvSpPr>
            <a:spLocks noGrp="1"/>
          </p:cNvSpPr>
          <p:nvPr/>
        </p:nvSpPr>
        <p:spPr>
          <a:xfrm>
            <a:off x="2071688" y="7248525"/>
            <a:ext cx="8105775" cy="219075"/>
          </a:xfrm>
          <a:custGeom>
            <a:avLst/>
            <a:gdLst/>
            <a:ahLst/>
            <a:cxnLst/>
            <a:rect l="0" t="0" r="0" b="0"/>
            <a:pathLst>
              <a:path w="8105775" h="219075">
                <a:moveTo>
                  <a:pt x="0" y="0"/>
                </a:moveTo>
                <a:lnTo>
                  <a:pt x="0" y="219075"/>
                </a:lnTo>
                <a:lnTo>
                  <a:pt x="8105775" y="219075"/>
                </a:lnTo>
                <a:lnTo>
                  <a:pt x="8105775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52" name="等腰三角形 51">
            <a:extLst>
              <a:ext uri="{FF2B5EF4-FFF2-40B4-BE49-F238E27FC236}">
                <a16:creationId xmlns:a16="http://schemas.microsoft.com/office/drawing/2014/main" id="{0F75AA3D-CEE4-4BD6-AE58-610E3CF0C538}"/>
              </a:ext>
            </a:extLst>
          </p:cNvPr>
          <p:cNvSpPr>
            <a:spLocks noGrp="1"/>
          </p:cNvSpPr>
          <p:nvPr/>
        </p:nvSpPr>
        <p:spPr>
          <a:xfrm>
            <a:off x="10129838" y="7248525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9C743980-7D59-45A3-A171-AE32F434B2AC}"/>
              </a:ext>
            </a:extLst>
          </p:cNvPr>
          <p:cNvSpPr>
            <a:spLocks noGrp="1"/>
          </p:cNvSpPr>
          <p:nvPr/>
        </p:nvSpPr>
        <p:spPr>
          <a:xfrm>
            <a:off x="12134850" y="6419850"/>
            <a:ext cx="609600" cy="9525"/>
          </a:xfrm>
          <a:custGeom>
            <a:avLst/>
            <a:gdLst/>
            <a:ahLst/>
            <a:cxnLst/>
            <a:rect l="0" t="0" r="0" b="0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EA3AD840-2270-4B84-B8E2-E5EBFC08F596}"/>
              </a:ext>
            </a:extLst>
          </p:cNvPr>
          <p:cNvSpPr>
            <a:spLocks noGrp="1"/>
          </p:cNvSpPr>
          <p:nvPr/>
        </p:nvSpPr>
        <p:spPr>
          <a:xfrm rot="5400000">
            <a:off x="12696825" y="6372225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46B91235-6653-4F67-AAA7-1959F4E16153}"/>
              </a:ext>
            </a:extLst>
          </p:cNvPr>
          <p:cNvSpPr>
            <a:spLocks noGrp="1"/>
          </p:cNvSpPr>
          <p:nvPr/>
        </p:nvSpPr>
        <p:spPr>
          <a:xfrm>
            <a:off x="4343400" y="3638550"/>
            <a:ext cx="1633538" cy="2105025"/>
          </a:xfrm>
          <a:custGeom>
            <a:avLst/>
            <a:gdLst/>
            <a:ahLst/>
            <a:cxnLst/>
            <a:rect l="0" t="0" r="0" b="0"/>
            <a:pathLst>
              <a:path w="1633538" h="2105025">
                <a:moveTo>
                  <a:pt x="1633538" y="2105025"/>
                </a:moveTo>
                <a:lnTo>
                  <a:pt x="1633538" y="1152525"/>
                </a:lnTo>
                <a:lnTo>
                  <a:pt x="0" y="1152525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dash"/>
          </a:ln>
        </p:spPr>
      </p:sp>
      <p:sp>
        <p:nvSpPr>
          <p:cNvPr id="56" name="等腰三角形 55">
            <a:extLst>
              <a:ext uri="{FF2B5EF4-FFF2-40B4-BE49-F238E27FC236}">
                <a16:creationId xmlns:a16="http://schemas.microsoft.com/office/drawing/2014/main" id="{7DB83B68-A6BD-40AF-A568-B2AA09D746AE}"/>
              </a:ext>
            </a:extLst>
          </p:cNvPr>
          <p:cNvSpPr>
            <a:spLocks noGrp="1"/>
          </p:cNvSpPr>
          <p:nvPr/>
        </p:nvSpPr>
        <p:spPr>
          <a:xfrm>
            <a:off x="4295775" y="3638550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7B9BBF1A-AA81-4C7C-A532-861210BCFFF7}"/>
              </a:ext>
            </a:extLst>
          </p:cNvPr>
          <p:cNvSpPr>
            <a:spLocks noGrp="1"/>
          </p:cNvSpPr>
          <p:nvPr/>
        </p:nvSpPr>
        <p:spPr>
          <a:xfrm>
            <a:off x="11596688" y="4143375"/>
            <a:ext cx="3019425" cy="1600200"/>
          </a:xfrm>
          <a:custGeom>
            <a:avLst/>
            <a:gdLst/>
            <a:ahLst/>
            <a:cxnLst/>
            <a:rect l="0" t="0" r="0" b="0"/>
            <a:pathLst>
              <a:path w="3019425" h="1600200">
                <a:moveTo>
                  <a:pt x="3019425" y="1600200"/>
                </a:moveTo>
                <a:lnTo>
                  <a:pt x="3019425" y="647700"/>
                </a:lnTo>
                <a:lnTo>
                  <a:pt x="0" y="64770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dash"/>
          </a:ln>
        </p:spPr>
      </p:sp>
      <p:sp>
        <p:nvSpPr>
          <p:cNvPr id="58" name="等腰三角形 57">
            <a:extLst>
              <a:ext uri="{FF2B5EF4-FFF2-40B4-BE49-F238E27FC236}">
                <a16:creationId xmlns:a16="http://schemas.microsoft.com/office/drawing/2014/main" id="{05B6DE5A-B096-4EE7-9CC3-756C864DB10B}"/>
              </a:ext>
            </a:extLst>
          </p:cNvPr>
          <p:cNvSpPr>
            <a:spLocks noGrp="1"/>
          </p:cNvSpPr>
          <p:nvPr/>
        </p:nvSpPr>
        <p:spPr>
          <a:xfrm>
            <a:off x="11549063" y="4143375"/>
            <a:ext cx="95250" cy="95250"/>
          </a:xfrm>
          <a:prstGeom prst="triangle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A7931FF-45A3-4F4D-BD9C-47EB3AB8F5A1}"/>
              </a:ext>
            </a:extLst>
          </p:cNvPr>
          <p:cNvSpPr>
            <a:spLocks noGrp="1"/>
          </p:cNvSpPr>
          <p:nvPr/>
        </p:nvSpPr>
        <p:spPr>
          <a:xfrm>
            <a:off x="419100" y="7896225"/>
            <a:ext cx="16192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实线：数据流     虚线：离线训练关系     A/B：核心拟贡献     C：条件性扩展</a:t>
            </a:r>
          </a:p>
        </p:txBody>
      </p:sp>
    </p:spTree>
    <p:extLst>
      <p:ext uri="{BB962C8B-B14F-4D97-AF65-F5344CB8AC3E}">
        <p14:creationId xmlns:p14="http://schemas.microsoft.com/office/powerpoint/2010/main" val="1092397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8406279-02A8-4A74-87EC-417BC49651F7}"/>
              </a:ext>
            </a:extLst>
          </p:cNvPr>
          <p:cNvSpPr>
            <a:spLocks noGrp="1"/>
          </p:cNvSpPr>
          <p:nvPr/>
        </p:nvSpPr>
        <p:spPr>
          <a:xfrm>
            <a:off x="133350" y="133350"/>
            <a:ext cx="16630650" cy="8172450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0E8D5D-4665-4DCF-8C20-3D79C1308F75}"/>
              </a:ext>
            </a:extLst>
          </p:cNvPr>
          <p:cNvSpPr>
            <a:spLocks noGrp="1"/>
          </p:cNvSpPr>
          <p:nvPr/>
        </p:nvSpPr>
        <p:spPr>
          <a:xfrm>
            <a:off x="381000" y="285750"/>
            <a:ext cx="16002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拟创新点：风险定义、反事实训练与学习式路由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713B7-AFDB-468C-8227-C474E1D10AD0}"/>
              </a:ext>
            </a:extLst>
          </p:cNvPr>
          <p:cNvSpPr>
            <a:spLocks noGrp="1"/>
          </p:cNvSpPr>
          <p:nvPr/>
        </p:nvSpPr>
        <p:spPr>
          <a:xfrm>
            <a:off x="400050" y="828675"/>
            <a:ext cx="15859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55555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核心问题：检索结果语义很像，但可能指向错误的区域、设备或信号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DB7853-C5E3-4175-A8E6-9B830D609BF1}"/>
              </a:ext>
            </a:extLst>
          </p:cNvPr>
          <p:cNvSpPr>
            <a:spLocks noGrp="1"/>
          </p:cNvSpPr>
          <p:nvPr/>
        </p:nvSpPr>
        <p:spPr>
          <a:xfrm>
            <a:off x="15973425" y="7915275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2C4AAA2-BB45-41FC-AC69-A94296E3AB27}"/>
              </a:ext>
            </a:extLst>
          </p:cNvPr>
          <p:cNvSpPr>
            <a:spLocks noGrp="1"/>
          </p:cNvSpPr>
          <p:nvPr/>
        </p:nvSpPr>
        <p:spPr>
          <a:xfrm>
            <a:off x="381000" y="1400175"/>
            <a:ext cx="5219700" cy="5372100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9525">
            <a:solidFill>
              <a:srgbClr val="999999"/>
            </a:solidFill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383BB69-FD1D-4377-9B35-B2C10048FC57}"/>
              </a:ext>
            </a:extLst>
          </p:cNvPr>
          <p:cNvSpPr>
            <a:spLocks noGrp="1"/>
          </p:cNvSpPr>
          <p:nvPr/>
        </p:nvSpPr>
        <p:spPr>
          <a:xfrm>
            <a:off x="476250" y="1504950"/>
            <a:ext cx="502920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1F9B83-BFB9-45B5-9BA3-1D752DAF74B5}"/>
              </a:ext>
            </a:extLst>
          </p:cNvPr>
          <p:cNvSpPr>
            <a:spLocks noGrp="1"/>
          </p:cNvSpPr>
          <p:nvPr/>
        </p:nvSpPr>
        <p:spPr>
          <a:xfrm>
            <a:off x="628650" y="1590675"/>
            <a:ext cx="47244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  查询条件化控制对象风险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AABD08-53FE-479F-A348-2C0EEF283E25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4800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做什么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BB2711-9F9E-4AC1-9621-1D1EAD124437}"/>
              </a:ext>
            </a:extLst>
          </p:cNvPr>
          <p:cNvSpPr>
            <a:spLocks noGrp="1"/>
          </p:cNvSpPr>
          <p:nvPr/>
        </p:nvSpPr>
        <p:spPr>
          <a:xfrm>
            <a:off x="590550" y="2667000"/>
            <a:ext cx="48006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对查询—候选逐项识别区域、设备、信号、限定符和有效性冲突。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7E671E-B2CA-4170-8270-9B70BF5975DB}"/>
              </a:ext>
            </a:extLst>
          </p:cNvPr>
          <p:cNvSpPr>
            <a:spLocks noGrp="1"/>
          </p:cNvSpPr>
          <p:nvPr/>
        </p:nvSpPr>
        <p:spPr>
          <a:xfrm>
            <a:off x="590550" y="3657600"/>
            <a:ext cx="4800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新增在哪里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43CEE3-ABA2-47CD-AD41-240B44C252BC}"/>
              </a:ext>
            </a:extLst>
          </p:cNvPr>
          <p:cNvSpPr>
            <a:spLocks noGrp="1"/>
          </p:cNvSpPr>
          <p:nvPr/>
        </p:nvSpPr>
        <p:spPr>
          <a:xfrm>
            <a:off x="590550" y="4076700"/>
            <a:ext cx="48006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把对象错配代价纳入候选排序，纠正同一检索通道内部的危险近邻。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D7613E-26CD-4D61-AED3-AE6A2E70473E}"/>
              </a:ext>
            </a:extLst>
          </p:cNvPr>
          <p:cNvSpPr>
            <a:spLocks noGrp="1"/>
          </p:cNvSpPr>
          <p:nvPr/>
        </p:nvSpPr>
        <p:spPr>
          <a:xfrm>
            <a:off x="590550" y="5067300"/>
            <a:ext cx="4800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成立条件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DF072F-D070-4F37-8A1E-5A53BAD038BE}"/>
              </a:ext>
            </a:extLst>
          </p:cNvPr>
          <p:cNvSpPr>
            <a:spLocks noGrp="1"/>
          </p:cNvSpPr>
          <p:nvPr/>
        </p:nvSpPr>
        <p:spPr>
          <a:xfrm>
            <a:off x="590550" y="5486400"/>
            <a:ext cx="48006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在召回损失受控时，优于相关性重排与 Registry 规则过滤。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43E656D-9B84-42B8-8671-45DEF9EDFE8E}"/>
              </a:ext>
            </a:extLst>
          </p:cNvPr>
          <p:cNvSpPr>
            <a:spLocks noGrp="1"/>
          </p:cNvSpPr>
          <p:nvPr/>
        </p:nvSpPr>
        <p:spPr>
          <a:xfrm>
            <a:off x="5838825" y="1400175"/>
            <a:ext cx="5219700" cy="5372100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9525">
            <a:solidFill>
              <a:srgbClr val="999999"/>
            </a:solidFill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8168B26-6A52-477E-92B1-E42F2DAB569C}"/>
              </a:ext>
            </a:extLst>
          </p:cNvPr>
          <p:cNvSpPr>
            <a:spLocks noGrp="1"/>
          </p:cNvSpPr>
          <p:nvPr/>
        </p:nvSpPr>
        <p:spPr>
          <a:xfrm>
            <a:off x="5934075" y="1504950"/>
            <a:ext cx="502920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046629-34A2-45D5-8B53-4C3844002124}"/>
              </a:ext>
            </a:extLst>
          </p:cNvPr>
          <p:cNvSpPr>
            <a:spLocks noGrp="1"/>
          </p:cNvSpPr>
          <p:nvPr/>
        </p:nvSpPr>
        <p:spPr>
          <a:xfrm>
            <a:off x="6086475" y="1590675"/>
            <a:ext cx="47244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B  注册表约束结构反事实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65F5E4-83E0-4809-AF80-CBE963369DA3}"/>
              </a:ext>
            </a:extLst>
          </p:cNvPr>
          <p:cNvSpPr>
            <a:spLocks noGrp="1"/>
          </p:cNvSpPr>
          <p:nvPr/>
        </p:nvSpPr>
        <p:spPr>
          <a:xfrm>
            <a:off x="6048375" y="2247900"/>
            <a:ext cx="4800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做什么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1B2350-EF39-400C-9375-433A0468C834}"/>
              </a:ext>
            </a:extLst>
          </p:cNvPr>
          <p:cNvSpPr>
            <a:spLocks noGrp="1"/>
          </p:cNvSpPr>
          <p:nvPr/>
        </p:nvSpPr>
        <p:spPr>
          <a:xfrm>
            <a:off x="6048375" y="2667000"/>
            <a:ext cx="48006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从正确对象生成只错一个关键字段的近邻，并保留可核验的来源与变换记录。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0710A2-83F6-4839-BAE3-0EDF896A4D00}"/>
              </a:ext>
            </a:extLst>
          </p:cNvPr>
          <p:cNvSpPr>
            <a:spLocks noGrp="1"/>
          </p:cNvSpPr>
          <p:nvPr/>
        </p:nvSpPr>
        <p:spPr>
          <a:xfrm>
            <a:off x="6048375" y="3657600"/>
            <a:ext cx="4800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新增在哪里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25D14F-AA39-45C5-BA8A-167B37AC5CC7}"/>
              </a:ext>
            </a:extLst>
          </p:cNvPr>
          <p:cNvSpPr>
            <a:spLocks noGrp="1"/>
          </p:cNvSpPr>
          <p:nvPr/>
        </p:nvSpPr>
        <p:spPr>
          <a:xfrm>
            <a:off x="6048375" y="4076700"/>
            <a:ext cx="48006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训练难度明确对应控制字段，分别学习真实错对象与无效标识符。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4DEBE1-A323-43F1-9F87-F931B889633B}"/>
              </a:ext>
            </a:extLst>
          </p:cNvPr>
          <p:cNvSpPr>
            <a:spLocks noGrp="1"/>
          </p:cNvSpPr>
          <p:nvPr/>
        </p:nvSpPr>
        <p:spPr>
          <a:xfrm>
            <a:off x="6048375" y="5067300"/>
            <a:ext cx="4800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成立条件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086796F-7B56-44FD-81E0-33631047FDC2}"/>
              </a:ext>
            </a:extLst>
          </p:cNvPr>
          <p:cNvSpPr>
            <a:spLocks noGrp="1"/>
          </p:cNvSpPr>
          <p:nvPr/>
        </p:nvSpPr>
        <p:spPr>
          <a:xfrm>
            <a:off x="6048375" y="5486400"/>
            <a:ext cx="48006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同数量、同难度下，优于普通 BM25 / ANN 困难负样本。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6327CA5-E2EC-4028-A6B5-B534153ACCC7}"/>
              </a:ext>
            </a:extLst>
          </p:cNvPr>
          <p:cNvSpPr>
            <a:spLocks noGrp="1"/>
          </p:cNvSpPr>
          <p:nvPr/>
        </p:nvSpPr>
        <p:spPr>
          <a:xfrm>
            <a:off x="11296650" y="1400175"/>
            <a:ext cx="5219700" cy="5372100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9525">
            <a:solidFill>
              <a:srgbClr val="999999"/>
            </a:solidFill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71DA2A3-06D3-4A52-AAD7-FB1908B83397}"/>
              </a:ext>
            </a:extLst>
          </p:cNvPr>
          <p:cNvSpPr>
            <a:spLocks noGrp="1"/>
          </p:cNvSpPr>
          <p:nvPr/>
        </p:nvSpPr>
        <p:spPr>
          <a:xfrm>
            <a:off x="11391900" y="1504950"/>
            <a:ext cx="502920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3AEC719-B58A-49DE-B6C5-BB14D0FD49C3}"/>
              </a:ext>
            </a:extLst>
          </p:cNvPr>
          <p:cNvSpPr>
            <a:spLocks noGrp="1"/>
          </p:cNvSpPr>
          <p:nvPr/>
        </p:nvSpPr>
        <p:spPr>
          <a:xfrm>
            <a:off x="11544300" y="1590675"/>
            <a:ext cx="47244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C  风险约束的学习式路由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7DAA64-893C-4ADF-B95C-C9932B689E27}"/>
              </a:ext>
            </a:extLst>
          </p:cNvPr>
          <p:cNvSpPr>
            <a:spLocks noGrp="1"/>
          </p:cNvSpPr>
          <p:nvPr/>
        </p:nvSpPr>
        <p:spPr>
          <a:xfrm>
            <a:off x="11506200" y="2247900"/>
            <a:ext cx="4800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做什么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60F2F21-AAC9-4139-BA62-053931B31CCF}"/>
              </a:ext>
            </a:extLst>
          </p:cNvPr>
          <p:cNvSpPr>
            <a:spLocks noGrp="1"/>
          </p:cNvSpPr>
          <p:nvPr/>
        </p:nvSpPr>
        <p:spPr>
          <a:xfrm>
            <a:off x="11506200" y="2667000"/>
            <a:ext cx="48006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用机器学习为当前查询选择专家权重，必要时再选择调用子集或检索预算。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3D51B70-3EEB-49EE-8850-3432A45906C1}"/>
              </a:ext>
            </a:extLst>
          </p:cNvPr>
          <p:cNvSpPr>
            <a:spLocks noGrp="1"/>
          </p:cNvSpPr>
          <p:nvPr/>
        </p:nvSpPr>
        <p:spPr>
          <a:xfrm>
            <a:off x="11506200" y="3657600"/>
            <a:ext cx="4800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新增在哪里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26C08F4-E73F-43C7-970C-DD06DCD9006F}"/>
              </a:ext>
            </a:extLst>
          </p:cNvPr>
          <p:cNvSpPr>
            <a:spLocks noGrp="1"/>
          </p:cNvSpPr>
          <p:nvPr/>
        </p:nvSpPr>
        <p:spPr>
          <a:xfrm>
            <a:off x="11506200" y="4076700"/>
            <a:ext cx="48006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检验控制结构特征与风险效用，能否在质量与成本之间改善路由决策。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94E128A-7E58-4C08-B707-CCEDF2FDC9AD}"/>
              </a:ext>
            </a:extLst>
          </p:cNvPr>
          <p:cNvSpPr>
            <a:spLocks noGrp="1"/>
          </p:cNvSpPr>
          <p:nvPr/>
        </p:nvSpPr>
        <p:spPr>
          <a:xfrm>
            <a:off x="11506200" y="5067300"/>
            <a:ext cx="4800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成立条件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D9EBD12-5ACE-4B7A-ABB0-0E7C04107CFF}"/>
              </a:ext>
            </a:extLst>
          </p:cNvPr>
          <p:cNvSpPr>
            <a:spLocks noGrp="1"/>
          </p:cNvSpPr>
          <p:nvPr/>
        </p:nvSpPr>
        <p:spPr>
          <a:xfrm>
            <a:off x="11506200" y="5486400"/>
            <a:ext cx="48006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先存在 Oracle 空间，再优于固定融合、规则路由和仅语义路由。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B754FF5-75A0-4617-A29A-25E303971851}"/>
              </a:ext>
            </a:extLst>
          </p:cNvPr>
          <p:cNvSpPr>
            <a:spLocks noGrp="1"/>
          </p:cNvSpPr>
          <p:nvPr/>
        </p:nvSpPr>
        <p:spPr>
          <a:xfrm>
            <a:off x="381000" y="7029450"/>
            <a:ext cx="16135350" cy="790575"/>
          </a:xfrm>
          <a:prstGeom prst="roundRect">
            <a:avLst>
              <a:gd name="adj" fmla="val 12048"/>
            </a:avLst>
          </a:prstGeom>
          <a:solidFill>
            <a:srgbClr val="F5F5F5"/>
          </a:solidFill>
          <a:ln w="9525">
            <a:solidFill>
              <a:srgbClr val="999999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3198B89-D7A3-48A8-AFC6-B347ECBF53E7}"/>
              </a:ext>
            </a:extLst>
          </p:cNvPr>
          <p:cNvSpPr>
            <a:spLocks noGrp="1"/>
          </p:cNvSpPr>
          <p:nvPr/>
        </p:nvSpPr>
        <p:spPr>
          <a:xfrm>
            <a:off x="581025" y="7181850"/>
            <a:ext cx="15716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贡献边界：A、B 是核心研究假设；C 是条件性扩展。通用学习路由与结构 OOD 均已有方法基础，不能仅因引入模块就宣称创新。</a:t>
            </a:r>
          </a:p>
        </p:txBody>
      </p:sp>
    </p:spTree>
    <p:extLst>
      <p:ext uri="{BB962C8B-B14F-4D97-AF65-F5344CB8AC3E}">
        <p14:creationId xmlns:p14="http://schemas.microsoft.com/office/powerpoint/2010/main" val="1177906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EBD5216-DDFE-4F0D-AE53-C4739D506DFE}"/>
              </a:ext>
            </a:extLst>
          </p:cNvPr>
          <p:cNvSpPr>
            <a:spLocks noGrp="1"/>
          </p:cNvSpPr>
          <p:nvPr/>
        </p:nvSpPr>
        <p:spPr>
          <a:xfrm>
            <a:off x="133350" y="133350"/>
            <a:ext cx="16630650" cy="8172450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E84DDE-F23E-4561-9EAE-3AC3A68FCE37}"/>
              </a:ext>
            </a:extLst>
          </p:cNvPr>
          <p:cNvSpPr>
            <a:spLocks noGrp="1"/>
          </p:cNvSpPr>
          <p:nvPr/>
        </p:nvSpPr>
        <p:spPr>
          <a:xfrm>
            <a:off x="381000" y="285750"/>
            <a:ext cx="16002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学习式路由：由查询特征预测专家效用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3CC84D-7E14-44B9-9048-A51233839CF2}"/>
              </a:ext>
            </a:extLst>
          </p:cNvPr>
          <p:cNvSpPr>
            <a:spLocks noGrp="1"/>
          </p:cNvSpPr>
          <p:nvPr/>
        </p:nvSpPr>
        <p:spPr>
          <a:xfrm>
            <a:off x="400050" y="828675"/>
            <a:ext cx="15859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55555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用控制结构特征与风险效用监督，学习当前查询的专家权重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794D7A-4BC0-4E45-AB48-8F615795C3DA}"/>
              </a:ext>
            </a:extLst>
          </p:cNvPr>
          <p:cNvSpPr>
            <a:spLocks noGrp="1"/>
          </p:cNvSpPr>
          <p:nvPr/>
        </p:nvSpPr>
        <p:spPr>
          <a:xfrm>
            <a:off x="15973425" y="7915275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C0916A9-4C2C-4050-B540-3D991482BB22}"/>
              </a:ext>
            </a:extLst>
          </p:cNvPr>
          <p:cNvSpPr>
            <a:spLocks noGrp="1"/>
          </p:cNvSpPr>
          <p:nvPr/>
        </p:nvSpPr>
        <p:spPr>
          <a:xfrm>
            <a:off x="381000" y="1381125"/>
            <a:ext cx="752475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91D672-A70C-4E06-8977-5D02DB5DA27D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72199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输入与决策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B9CE12F-1126-4DAC-92E0-53249DD17B72}"/>
              </a:ext>
            </a:extLst>
          </p:cNvPr>
          <p:cNvSpPr>
            <a:spLocks noGrp="1"/>
          </p:cNvSpPr>
          <p:nvPr/>
        </p:nvSpPr>
        <p:spPr>
          <a:xfrm>
            <a:off x="8134350" y="1381125"/>
            <a:ext cx="838200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B5DDBB-AB58-4FB4-B509-6D829EB5006D}"/>
              </a:ext>
            </a:extLst>
          </p:cNvPr>
          <p:cNvSpPr>
            <a:spLocks noGrp="1"/>
          </p:cNvSpPr>
          <p:nvPr/>
        </p:nvSpPr>
        <p:spPr>
          <a:xfrm>
            <a:off x="8286750" y="1466850"/>
            <a:ext cx="807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监督效用与训练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855E9E-15F6-4E06-B57F-4E766CA6610E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134225" cy="1209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输入特征：查询嵌入 + 词法特征 + 控制结构特征。</a:t>
            </a:r>
          </a:p>
          <a:p>
            <a:pPr>
              <a:defRPr sz="20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重点包含 PV 命名片段、实体完整度、Registry 命中与对象歧义。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73F1F8-152D-4921-9BBF-828F18758B30}"/>
              </a:ext>
            </a:extLst>
          </p:cNvPr>
          <p:cNvSpPr>
            <a:spLocks noGrp="1"/>
          </p:cNvSpPr>
          <p:nvPr/>
        </p:nvSpPr>
        <p:spPr>
          <a:xfrm>
            <a:off x="571500" y="3476625"/>
            <a:ext cx="71247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首版模型：小型 MLP 输出四专家权重；线性模型作简单对照。模型仅读取检索前可得信息。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4525604"/>
            <a:ext cx="7105650" cy="76906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AB444C1-B60D-4539-937D-7ACF72595DAB}"/>
              </a:ext>
            </a:extLst>
          </p:cNvPr>
          <p:cNvSpPr>
            <a:spLocks noGrp="1"/>
          </p:cNvSpPr>
          <p:nvPr/>
        </p:nvSpPr>
        <p:spPr>
          <a:xfrm>
            <a:off x="571500" y="5581650"/>
            <a:ext cx="7096125" cy="1209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权重用于加权 RRF。全通道并行时只主张排序收益；只有实际裁剪专家或预算，才评估节省调用成本。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62950" y="2164149"/>
            <a:ext cx="7905750" cy="54850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9F17CCB-EC5E-4E97-BA3D-E8321C96E89B}"/>
              </a:ext>
            </a:extLst>
          </p:cNvPr>
          <p:cNvSpPr>
            <a:spLocks noGrp="1"/>
          </p:cNvSpPr>
          <p:nvPr/>
        </p:nvSpPr>
        <p:spPr>
          <a:xfrm>
            <a:off x="8362950" y="2886075"/>
            <a:ext cx="7810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效用由离线标注计算：检索质量减去危险近邻暴露与归一化实测成本。测试答案不作为在线特征。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62950" y="3933173"/>
            <a:ext cx="7905750" cy="87760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E4C4397-0F9D-475E-B3A0-F0149E8D64C0}"/>
              </a:ext>
            </a:extLst>
          </p:cNvPr>
          <p:cNvSpPr>
            <a:spLocks noGrp="1"/>
          </p:cNvSpPr>
          <p:nvPr/>
        </p:nvSpPr>
        <p:spPr>
          <a:xfrm>
            <a:off x="8362950" y="5010150"/>
            <a:ext cx="7810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用软效用分布监督路由，避免把性能近似的专家强行标成唯一正确类别。温度与权重在开发集选择。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6AD8F0-CC89-408B-8AF5-A8492DDAD5F0}"/>
              </a:ext>
            </a:extLst>
          </p:cNvPr>
          <p:cNvSpPr>
            <a:spLocks noGrp="1"/>
          </p:cNvSpPr>
          <p:nvPr/>
        </p:nvSpPr>
        <p:spPr>
          <a:xfrm>
            <a:off x="8362950" y="6191250"/>
            <a:ext cx="7810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必要对照：固定混合、规则路由、仅查询嵌入路由；再消融控制结构特征与风险效用。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DA41B31-AAF8-4993-8422-3FFF061F83A8}"/>
              </a:ext>
            </a:extLst>
          </p:cNvPr>
          <p:cNvSpPr>
            <a:spLocks noGrp="1"/>
          </p:cNvSpPr>
          <p:nvPr/>
        </p:nvSpPr>
        <p:spPr>
          <a:xfrm>
            <a:off x="381000" y="7239000"/>
            <a:ext cx="16135350" cy="5715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9525">
            <a:solidFill>
              <a:srgbClr val="999999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196015E-FFF1-438A-9D14-29164C56F171}"/>
              </a:ext>
            </a:extLst>
          </p:cNvPr>
          <p:cNvSpPr>
            <a:spLocks noGrp="1"/>
          </p:cNvSpPr>
          <p:nvPr/>
        </p:nvSpPr>
        <p:spPr>
          <a:xfrm>
            <a:off x="542925" y="7362825"/>
            <a:ext cx="15763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保留门槛：包含固定混合策略的 Oracle 分析显示空间，且严格留出上存在额外收益；3 pp 仅是项目门槛示例。</a:t>
            </a:r>
          </a:p>
        </p:txBody>
      </p:sp>
    </p:spTree>
    <p:extLst>
      <p:ext uri="{BB962C8B-B14F-4D97-AF65-F5344CB8AC3E}">
        <p14:creationId xmlns:p14="http://schemas.microsoft.com/office/powerpoint/2010/main" val="55469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DE4CD22-8671-43A1-9D3A-C0F480587525}"/>
              </a:ext>
            </a:extLst>
          </p:cNvPr>
          <p:cNvSpPr>
            <a:spLocks noGrp="1"/>
          </p:cNvSpPr>
          <p:nvPr/>
        </p:nvSpPr>
        <p:spPr>
          <a:xfrm>
            <a:off x="133350" y="133350"/>
            <a:ext cx="16630650" cy="8172450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5C2FE8-3727-4A11-847B-491BE068B3FC}"/>
              </a:ext>
            </a:extLst>
          </p:cNvPr>
          <p:cNvSpPr>
            <a:spLocks noGrp="1"/>
          </p:cNvSpPr>
          <p:nvPr/>
        </p:nvSpPr>
        <p:spPr>
          <a:xfrm>
            <a:off x="381000" y="285750"/>
            <a:ext cx="16002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候选级风险重排：明确“对象错在哪里”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B105C1-05D1-4B8B-B75D-26802E46BE01}"/>
              </a:ext>
            </a:extLst>
          </p:cNvPr>
          <p:cNvSpPr>
            <a:spLocks noGrp="1"/>
          </p:cNvSpPr>
          <p:nvPr/>
        </p:nvSpPr>
        <p:spPr>
          <a:xfrm>
            <a:off x="400050" y="828675"/>
            <a:ext cx="15859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55555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路由决定哪些通道更值得信任；风险评分进一步修正每个候选的位置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94C935-C374-47B0-B358-56D0FA0EE129}"/>
              </a:ext>
            </a:extLst>
          </p:cNvPr>
          <p:cNvSpPr>
            <a:spLocks noGrp="1"/>
          </p:cNvSpPr>
          <p:nvPr/>
        </p:nvSpPr>
        <p:spPr>
          <a:xfrm>
            <a:off x="15973425" y="7915275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359D4FA-223A-49EC-A4AE-B02881E657D7}"/>
              </a:ext>
            </a:extLst>
          </p:cNvPr>
          <p:cNvSpPr>
            <a:spLocks noGrp="1"/>
          </p:cNvSpPr>
          <p:nvPr/>
        </p:nvSpPr>
        <p:spPr>
          <a:xfrm>
            <a:off x="381000" y="1381125"/>
            <a:ext cx="762000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F3383B-6D4F-43B3-B8E6-F38DCABF48F6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7315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风险定义与融合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0D86127-EE79-4EAD-B3AF-2EC36ABA2C75}"/>
              </a:ext>
            </a:extLst>
          </p:cNvPr>
          <p:cNvSpPr>
            <a:spLocks noGrp="1"/>
          </p:cNvSpPr>
          <p:nvPr/>
        </p:nvSpPr>
        <p:spPr>
          <a:xfrm>
            <a:off x="8229600" y="1381125"/>
            <a:ext cx="828675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9CFD69-FA9B-4569-8DB9-2294B7BF95C9}"/>
              </a:ext>
            </a:extLst>
          </p:cNvPr>
          <p:cNvSpPr>
            <a:spLocks noGrp="1"/>
          </p:cNvSpPr>
          <p:nvPr/>
        </p:nvSpPr>
        <p:spPr>
          <a:xfrm>
            <a:off x="8382000" y="1466850"/>
            <a:ext cx="79819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可信输出与边界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445" y="2009775"/>
            <a:ext cx="7142634" cy="73342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31C1FCB-6815-4F03-936B-B1EB6A54C7F8}"/>
              </a:ext>
            </a:extLst>
          </p:cNvPr>
          <p:cNvSpPr>
            <a:spLocks noGrp="1"/>
          </p:cNvSpPr>
          <p:nvPr/>
        </p:nvSpPr>
        <p:spPr>
          <a:xfrm>
            <a:off x="581025" y="2857500"/>
            <a:ext cx="7191375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风险字段包含 area、subsystem、device、signal、qualifier 与 invalid。查询未限定的字段通过掩码关闭，不把信息缺失当成冲突。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01686" y="4067175"/>
            <a:ext cx="5978627" cy="6858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1500" y="4978103"/>
            <a:ext cx="7239000" cy="50224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AACF287-B6FA-4B16-8877-3A5FF4C57872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71723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风险为非负错配代价；风险权重由专家定义并做敏感性分析。相关性与 RRF 先按开发集方案缩放，再进行加权。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13308C-3A58-4FB9-806D-26CF39443A1D}"/>
              </a:ext>
            </a:extLst>
          </p:cNvPr>
          <p:cNvSpPr>
            <a:spLocks noGrp="1"/>
          </p:cNvSpPr>
          <p:nvPr/>
        </p:nvSpPr>
        <p:spPr>
          <a:xfrm>
            <a:off x="8458200" y="2105025"/>
            <a:ext cx="782955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示例：查询要求 INJ1 的 PHASE 回读量。候选即使存在于 Registry，若区域为 INJ2 或限定符为 SP，仍是需要压低的近邻。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458200" y="3543815"/>
            <a:ext cx="7810500" cy="54189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458200" y="4364115"/>
            <a:ext cx="7810500" cy="549119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7D249923-C0F9-473F-BFD0-D6FF9FAA6D29}"/>
              </a:ext>
            </a:extLst>
          </p:cNvPr>
          <p:cNvSpPr>
            <a:spLocks noGrp="1"/>
          </p:cNvSpPr>
          <p:nvPr/>
        </p:nvSpPr>
        <p:spPr>
          <a:xfrm>
            <a:off x="8458200" y="5153025"/>
            <a:ext cx="7810500" cy="1133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用独立校准集拟合正确性估计，再设置回答阈值。实体歧义时澄清，证据不足时拒答；排序 softmax 不等于正确概率。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1BF544-572F-4797-9951-CD0F48BCF503}"/>
              </a:ext>
            </a:extLst>
          </p:cNvPr>
          <p:cNvSpPr>
            <a:spLocks noGrp="1"/>
          </p:cNvSpPr>
          <p:nvPr/>
        </p:nvSpPr>
        <p:spPr>
          <a:xfrm>
            <a:off x="8458200" y="6496050"/>
            <a:ext cx="781050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研究范围是控制知识检索与对象定位，风险分数表示对象错配代价。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C314826-0644-4904-A7EC-8B83F603624C}"/>
              </a:ext>
            </a:extLst>
          </p:cNvPr>
          <p:cNvSpPr>
            <a:spLocks noGrp="1"/>
          </p:cNvSpPr>
          <p:nvPr/>
        </p:nvSpPr>
        <p:spPr>
          <a:xfrm>
            <a:off x="381000" y="7381875"/>
            <a:ext cx="16135350" cy="466725"/>
          </a:xfrm>
          <a:prstGeom prst="roundRect">
            <a:avLst>
              <a:gd name="adj" fmla="val 20408"/>
            </a:avLst>
          </a:prstGeom>
          <a:solidFill>
            <a:srgbClr val="F5F5F5"/>
          </a:solidFill>
          <a:ln w="9525">
            <a:solidFill>
              <a:srgbClr val="999999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99F3E9-CFC6-42DF-9EC1-1C7C272E7581}"/>
              </a:ext>
            </a:extLst>
          </p:cNvPr>
          <p:cNvSpPr>
            <a:spLocks noGrp="1"/>
          </p:cNvSpPr>
          <p:nvPr/>
        </p:nvSpPr>
        <p:spPr>
          <a:xfrm>
            <a:off x="552450" y="7458075"/>
            <a:ext cx="157543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关键消融：固定同一候选池，比较无风险、规则过滤与学习风险；独立观察召回变化和危险近邻下降。</a:t>
            </a:r>
          </a:p>
        </p:txBody>
      </p:sp>
    </p:spTree>
    <p:extLst>
      <p:ext uri="{BB962C8B-B14F-4D97-AF65-F5344CB8AC3E}">
        <p14:creationId xmlns:p14="http://schemas.microsoft.com/office/powerpoint/2010/main" val="1080841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0F7C80E-360C-4E63-8877-31447294962A}"/>
              </a:ext>
            </a:extLst>
          </p:cNvPr>
          <p:cNvSpPr>
            <a:spLocks noGrp="1"/>
          </p:cNvSpPr>
          <p:nvPr/>
        </p:nvSpPr>
        <p:spPr>
          <a:xfrm>
            <a:off x="133350" y="133350"/>
            <a:ext cx="16630650" cy="8172450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245E2C-4730-4AF6-B8C0-F5AB515D0F97}"/>
              </a:ext>
            </a:extLst>
          </p:cNvPr>
          <p:cNvSpPr>
            <a:spLocks noGrp="1"/>
          </p:cNvSpPr>
          <p:nvPr/>
        </p:nvSpPr>
        <p:spPr>
          <a:xfrm>
            <a:off x="381000" y="285750"/>
            <a:ext cx="16002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结构反事实训练：只错一个决定性字段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73ACF7-659E-4526-ACD0-02832409B912}"/>
              </a:ext>
            </a:extLst>
          </p:cNvPr>
          <p:cNvSpPr>
            <a:spLocks noGrp="1"/>
          </p:cNvSpPr>
          <p:nvPr/>
        </p:nvSpPr>
        <p:spPr>
          <a:xfrm>
            <a:off x="400050" y="828675"/>
            <a:ext cx="15859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55555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目标是让模型区分危险近邻，而非仅记住 PV 字符串或识别不存在的名称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783838-B9EA-44C2-9B38-4E246827C04A}"/>
              </a:ext>
            </a:extLst>
          </p:cNvPr>
          <p:cNvSpPr>
            <a:spLocks noGrp="1"/>
          </p:cNvSpPr>
          <p:nvPr/>
        </p:nvSpPr>
        <p:spPr>
          <a:xfrm>
            <a:off x="15973425" y="7915275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0B41C73-6FF1-4C2A-9296-808DE35A3ACF}"/>
              </a:ext>
            </a:extLst>
          </p:cNvPr>
          <p:cNvSpPr>
            <a:spLocks noGrp="1"/>
          </p:cNvSpPr>
          <p:nvPr/>
        </p:nvSpPr>
        <p:spPr>
          <a:xfrm>
            <a:off x="381000" y="1381125"/>
            <a:ext cx="762000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881602-E5F4-4D8C-B968-70D5E0B5CEF7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7315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数据构造：先分组，再生成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309F45A-8A0D-4DF4-B4AA-226C8B7A9359}"/>
              </a:ext>
            </a:extLst>
          </p:cNvPr>
          <p:cNvSpPr>
            <a:spLocks noGrp="1"/>
          </p:cNvSpPr>
          <p:nvPr/>
        </p:nvSpPr>
        <p:spPr>
          <a:xfrm>
            <a:off x="8229600" y="1381125"/>
            <a:ext cx="828675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E920A1-F81D-4D7E-9A0B-DFBB8E384809}"/>
              </a:ext>
            </a:extLst>
          </p:cNvPr>
          <p:cNvSpPr>
            <a:spLocks noGrp="1"/>
          </p:cNvSpPr>
          <p:nvPr/>
        </p:nvSpPr>
        <p:spPr>
          <a:xfrm>
            <a:off x="8382000" y="1466850"/>
            <a:ext cx="79819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训练目标：排序与逐字段风险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E66D7D-E640-48C8-BBF5-B5BFE825B946}"/>
              </a:ext>
            </a:extLst>
          </p:cNvPr>
          <p:cNvSpPr>
            <a:spLocks noGrp="1"/>
          </p:cNvSpPr>
          <p:nvPr/>
        </p:nvSpPr>
        <p:spPr>
          <a:xfrm>
            <a:off x="571500" y="2066925"/>
            <a:ext cx="7153275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1. 按文档、子系统或设备族划分数据。</a:t>
            </a:r>
          </a:p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2. 在同一划分的 Registry 快照中寻找近邻。</a:t>
            </a:r>
          </a:p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3. 只改变一个控制字段，审核有效性与错配标签。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009" y="3476625"/>
            <a:ext cx="7024732" cy="69532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521913A-49C0-43E9-A5E2-6BF57A7D3B2C}"/>
              </a:ext>
            </a:extLst>
          </p:cNvPr>
          <p:cNvSpPr>
            <a:spLocks noGrp="1"/>
          </p:cNvSpPr>
          <p:nvPr/>
        </p:nvSpPr>
        <p:spPr>
          <a:xfrm>
            <a:off x="571500" y="4352925"/>
            <a:ext cx="7143750" cy="1362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区域：INJ1 换为 INJ2</a:t>
            </a:r>
          </a:p>
          <a:p>
            <a:pPr>
              <a:defRPr sz="20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信号：PHASE 换为 AMP</a:t>
            </a:r>
          </a:p>
          <a:p>
            <a:pPr>
              <a:defRPr sz="20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限定符：RBV 换为 SP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960D9E-5AB9-4D1E-82D2-27D716864CAE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7143750" cy="1352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有效但错误：必须能在 Registry 中核验。</a:t>
            </a:r>
          </a:p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语法合理但无效：另建样本组，单独评估。</a:t>
            </a:r>
          </a:p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不存在合法单字段近邻时跳过，不虚构真实对象。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682990" y="2066925"/>
            <a:ext cx="7341870" cy="7810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13DEC25-1056-432D-BA7F-84E0B30C7770}"/>
              </a:ext>
            </a:extLst>
          </p:cNvPr>
          <p:cNvSpPr>
            <a:spLocks noGrp="1"/>
          </p:cNvSpPr>
          <p:nvPr/>
        </p:nvSpPr>
        <p:spPr>
          <a:xfrm>
            <a:off x="8429625" y="2962275"/>
            <a:ext cx="77819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对比排序：正确对象应排在困难负样本之前。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29625" y="3588017"/>
            <a:ext cx="7848600" cy="80591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77CE42A-23E4-4885-80E4-5A69B2B8E3C7}"/>
              </a:ext>
            </a:extLst>
          </p:cNvPr>
          <p:cNvSpPr>
            <a:spLocks noGrp="1"/>
          </p:cNvSpPr>
          <p:nvPr/>
        </p:nvSpPr>
        <p:spPr>
          <a:xfrm>
            <a:off x="8429625" y="4581525"/>
            <a:ext cx="778192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风险监督逐字段预测冲突；反事实间隔随错误类型设定，避免高风险近邻贴近正确对象。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429625" y="5578579"/>
            <a:ext cx="7848600" cy="530016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34C60AAD-7B79-4053-BA82-6D5892ADBB3D}"/>
              </a:ext>
            </a:extLst>
          </p:cNvPr>
          <p:cNvSpPr>
            <a:spLocks noGrp="1"/>
          </p:cNvSpPr>
          <p:nvPr/>
        </p:nvSpPr>
        <p:spPr>
          <a:xfrm>
            <a:off x="8429625" y="6381750"/>
            <a:ext cx="778192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控制负样本数量、难度和模型容量，比较随机、BM25、ANN 与结构反事实训练。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243369A-8F97-4BAF-8574-455B5DBE777C}"/>
              </a:ext>
            </a:extLst>
          </p:cNvPr>
          <p:cNvSpPr>
            <a:spLocks noGrp="1"/>
          </p:cNvSpPr>
          <p:nvPr/>
        </p:nvSpPr>
        <p:spPr>
          <a:xfrm>
            <a:off x="381000" y="7477125"/>
            <a:ext cx="16135350" cy="409575"/>
          </a:xfrm>
          <a:prstGeom prst="roundRect">
            <a:avLst>
              <a:gd name="adj" fmla="val 23256"/>
            </a:avLst>
          </a:prstGeom>
          <a:solidFill>
            <a:srgbClr val="F5F5F5"/>
          </a:solidFill>
          <a:ln w="9525">
            <a:solidFill>
              <a:srgbClr val="999999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A88BCE-05B7-4FB7-9B23-6C67A7E03711}"/>
              </a:ext>
            </a:extLst>
          </p:cNvPr>
          <p:cNvSpPr>
            <a:spLocks noGrp="1"/>
          </p:cNvSpPr>
          <p:nvPr/>
        </p:nvSpPr>
        <p:spPr>
          <a:xfrm>
            <a:off x="542925" y="7524750"/>
            <a:ext cx="157067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创新成立的证据：同等训练条件下仍降低对象混淆；如普通困难负样本达到同等结果，则收缩为数据构造贡献。</a:t>
            </a:r>
          </a:p>
        </p:txBody>
      </p:sp>
    </p:spTree>
    <p:extLst>
      <p:ext uri="{BB962C8B-B14F-4D97-AF65-F5344CB8AC3E}">
        <p14:creationId xmlns:p14="http://schemas.microsoft.com/office/powerpoint/2010/main" val="717315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E1D3EAF-C492-434D-BF2F-5E700682B66A}"/>
              </a:ext>
            </a:extLst>
          </p:cNvPr>
          <p:cNvSpPr>
            <a:spLocks noGrp="1"/>
          </p:cNvSpPr>
          <p:nvPr/>
        </p:nvSpPr>
        <p:spPr>
          <a:xfrm>
            <a:off x="133350" y="133350"/>
            <a:ext cx="16630650" cy="8172450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3079A4-78E8-442C-96DE-15A1DEEC035C}"/>
              </a:ext>
            </a:extLst>
          </p:cNvPr>
          <p:cNvSpPr>
            <a:spLocks noGrp="1"/>
          </p:cNvSpPr>
          <p:nvPr/>
        </p:nvSpPr>
        <p:spPr>
          <a:xfrm>
            <a:off x="381000" y="285750"/>
            <a:ext cx="16002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评测与研究意义：收益必须能分离、能证伪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A51BE3-E432-4A87-8AE9-5E5FF41E02CB}"/>
              </a:ext>
            </a:extLst>
          </p:cNvPr>
          <p:cNvSpPr>
            <a:spLocks noGrp="1"/>
          </p:cNvSpPr>
          <p:nvPr/>
        </p:nvSpPr>
        <p:spPr>
          <a:xfrm>
            <a:off x="400050" y="828675"/>
            <a:ext cx="15859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55555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结构 OOD 是验证手段；先证明检索层收益，再检验生成答案与拒答行为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3FFFD0-13DC-4C60-BF64-D84C6A96970F}"/>
              </a:ext>
            </a:extLst>
          </p:cNvPr>
          <p:cNvSpPr>
            <a:spLocks noGrp="1"/>
          </p:cNvSpPr>
          <p:nvPr/>
        </p:nvSpPr>
        <p:spPr>
          <a:xfrm>
            <a:off x="15973425" y="7915275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A4EB129-647E-478C-8783-F17F31862F87}"/>
              </a:ext>
            </a:extLst>
          </p:cNvPr>
          <p:cNvSpPr>
            <a:spLocks noGrp="1"/>
          </p:cNvSpPr>
          <p:nvPr/>
        </p:nvSpPr>
        <p:spPr>
          <a:xfrm>
            <a:off x="381000" y="1381125"/>
            <a:ext cx="784860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B95CAB-73F8-4C5D-BF3B-C8AA067D468E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75438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结果报告：质量、风险与成本分别呈现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966BEA-F4B0-4F31-BF90-C4A5BF1A5014}"/>
              </a:ext>
            </a:extLst>
          </p:cNvPr>
          <p:cNvSpPr>
            <a:spLocks noGrp="1"/>
          </p:cNvSpPr>
          <p:nvPr/>
        </p:nvSpPr>
        <p:spPr>
          <a:xfrm>
            <a:off x="8458200" y="1381125"/>
            <a:ext cx="805815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B70B02-BB98-49AE-8690-95068205F694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77533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贡献验证与实验顺序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1B019B-077F-416C-9058-B30F4F0DBFFF}"/>
              </a:ext>
            </a:extLst>
          </p:cNvPr>
          <p:cNvSpPr>
            <a:spLocks noGrp="1"/>
          </p:cNvSpPr>
          <p:nvPr/>
        </p:nvSpPr>
        <p:spPr>
          <a:xfrm>
            <a:off x="571500" y="2066925"/>
            <a:ext cx="74390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基础质量：Recall@K、MRR、nDCG、PV 集合精确匹配。</a:t>
            </a:r>
          </a:p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工程代价：P50 / P95 时延、实际调用数与候选预算。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9362" y="3228975"/>
            <a:ext cx="6602352" cy="8001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1A82DD4-50D1-4634-9312-24964167E5C5}"/>
              </a:ext>
            </a:extLst>
          </p:cNvPr>
          <p:cNvSpPr>
            <a:spLocks noGrp="1"/>
          </p:cNvSpPr>
          <p:nvPr/>
        </p:nvSpPr>
        <p:spPr>
          <a:xfrm>
            <a:off x="571500" y="4133850"/>
            <a:ext cx="74295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风险暴露：对有返回的查询集合计算危险候选平均占比；同时报告零返回率，避免空结果虚降风险。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500" y="5202677"/>
            <a:ext cx="7448550" cy="75794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A09BC60-0F87-4455-9BFE-0C0C24C7B109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74295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拒答评价：同时报告覆盖率与已回答查询的错误率。接收集合为空时风险记为未定义，不记为零。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36411B-6C1E-42B5-AC4A-42DE6696B58B}"/>
              </a:ext>
            </a:extLst>
          </p:cNvPr>
          <p:cNvSpPr>
            <a:spLocks noGrp="1"/>
          </p:cNvSpPr>
          <p:nvPr/>
        </p:nvSpPr>
        <p:spPr>
          <a:xfrm>
            <a:off x="8658225" y="2076450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A：风险模型，固定候选池，与规则过滤和纯相关性重排比较，观察风险—召回权衡。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921DFD-EE35-4671-8710-99939B7F1E36}"/>
              </a:ext>
            </a:extLst>
          </p:cNvPr>
          <p:cNvSpPr>
            <a:spLocks noGrp="1"/>
          </p:cNvSpPr>
          <p:nvPr/>
        </p:nvSpPr>
        <p:spPr>
          <a:xfrm>
            <a:off x="8658225" y="3171825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B：反事实训练，控制负样本规模与难度，逐项消融区域、信号和限定符变换。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2D1C67-4244-4680-AEDE-5391FF287E46}"/>
              </a:ext>
            </a:extLst>
          </p:cNvPr>
          <p:cNvSpPr>
            <a:spLocks noGrp="1"/>
          </p:cNvSpPr>
          <p:nvPr/>
        </p:nvSpPr>
        <p:spPr>
          <a:xfrm>
            <a:off x="8658225" y="4257675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C：学习式路由，先做 Oracle，再比较结构特征与风险效用；统计逐查询差值及置信区间。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17699" y="5248275"/>
            <a:ext cx="7101052" cy="76200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33F096FB-5B8D-47AE-BD24-4D3C911ED5E3}"/>
              </a:ext>
            </a:extLst>
          </p:cNvPr>
          <p:cNvSpPr>
            <a:spLocks noGrp="1"/>
          </p:cNvSpPr>
          <p:nvPr/>
        </p:nvSpPr>
        <p:spPr>
          <a:xfrm>
            <a:off x="8658225" y="6143625"/>
            <a:ext cx="76200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泛化验证：分别进行子系统、设备族、命名模式与时间留出。按独立问题族做 bootstrap，审计别名和模板泄漏。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5433466-BB74-4115-B057-CBA7263F421D}"/>
              </a:ext>
            </a:extLst>
          </p:cNvPr>
          <p:cNvSpPr>
            <a:spLocks noGrp="1"/>
          </p:cNvSpPr>
          <p:nvPr/>
        </p:nvSpPr>
        <p:spPr>
          <a:xfrm>
            <a:off x="381000" y="7381875"/>
            <a:ext cx="16135350" cy="523875"/>
          </a:xfrm>
          <a:prstGeom prst="roundRect">
            <a:avLst>
              <a:gd name="adj" fmla="val 18182"/>
            </a:avLst>
          </a:prstGeom>
          <a:solidFill>
            <a:srgbClr val="F5F5F5"/>
          </a:solidFill>
          <a:ln w="9525">
            <a:solidFill>
              <a:srgbClr val="999999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B8466B-ECD2-4006-8E65-8AE845A79D14}"/>
              </a:ext>
            </a:extLst>
          </p:cNvPr>
          <p:cNvSpPr>
            <a:spLocks noGrp="1"/>
          </p:cNvSpPr>
          <p:nvPr/>
        </p:nvSpPr>
        <p:spPr>
          <a:xfrm>
            <a:off x="542925" y="7458075"/>
            <a:ext cx="157543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研究意义：把控制对象错配变成可监督、可比较的检索决策；若优势仅出现在随机划分，就不主张跨结构泛化。</a:t>
            </a:r>
          </a:p>
        </p:txBody>
      </p:sp>
    </p:spTree>
    <p:extLst>
      <p:ext uri="{BB962C8B-B14F-4D97-AF65-F5344CB8AC3E}">
        <p14:creationId xmlns:p14="http://schemas.microsoft.com/office/powerpoint/2010/main" val="112887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DE3746C-13B4-4F85-83CD-CE7E3E624201}"/>
              </a:ext>
            </a:extLst>
          </p:cNvPr>
          <p:cNvSpPr>
            <a:spLocks noGrp="1"/>
          </p:cNvSpPr>
          <p:nvPr/>
        </p:nvSpPr>
        <p:spPr>
          <a:xfrm>
            <a:off x="133350" y="133350"/>
            <a:ext cx="16630650" cy="8172450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8A3E88-75E9-44E8-BB8E-979A7E0D6AFB}"/>
              </a:ext>
            </a:extLst>
          </p:cNvPr>
          <p:cNvSpPr>
            <a:spLocks noGrp="1"/>
          </p:cNvSpPr>
          <p:nvPr/>
        </p:nvSpPr>
        <p:spPr>
          <a:xfrm>
            <a:off x="381000" y="285750"/>
            <a:ext cx="16002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技术路线：先验证研究空间，再训练并检验方法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B1639E-3768-487A-8BA3-4D809DF290A9}"/>
              </a:ext>
            </a:extLst>
          </p:cNvPr>
          <p:cNvSpPr>
            <a:spLocks noGrp="1"/>
          </p:cNvSpPr>
          <p:nvPr/>
        </p:nvSpPr>
        <p:spPr>
          <a:xfrm>
            <a:off x="400050" y="828675"/>
            <a:ext cx="15859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55555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各阶段形成可审核产物，用实验结果决定学习式路由与风险模型是否保留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BD50F4-28F2-4E08-9BFD-547E88513E47}"/>
              </a:ext>
            </a:extLst>
          </p:cNvPr>
          <p:cNvSpPr>
            <a:spLocks noGrp="1"/>
          </p:cNvSpPr>
          <p:nvPr/>
        </p:nvSpPr>
        <p:spPr>
          <a:xfrm>
            <a:off x="15973425" y="7915275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6CF1F60-8FD8-4E17-84BA-2C3EE19E0D01}"/>
              </a:ext>
            </a:extLst>
          </p:cNvPr>
          <p:cNvSpPr>
            <a:spLocks noGrp="1"/>
          </p:cNvSpPr>
          <p:nvPr/>
        </p:nvSpPr>
        <p:spPr>
          <a:xfrm>
            <a:off x="381000" y="1609725"/>
            <a:ext cx="2876550" cy="2266950"/>
          </a:xfrm>
          <a:prstGeom prst="roundRect">
            <a:avLst>
              <a:gd name="adj" fmla="val 4202"/>
            </a:avLst>
          </a:prstGeom>
          <a:solidFill>
            <a:srgbClr val="FAFAFA"/>
          </a:solidFill>
          <a:ln w="9525">
            <a:solidFill>
              <a:srgbClr val="999999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035F83-C8EF-4EAF-B543-D689395D8600}"/>
              </a:ext>
            </a:extLst>
          </p:cNvPr>
          <p:cNvSpPr>
            <a:spLocks noGrp="1"/>
          </p:cNvSpPr>
          <p:nvPr/>
        </p:nvSpPr>
        <p:spPr>
          <a:xfrm>
            <a:off x="504825" y="1819275"/>
            <a:ext cx="2628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01  数据与问题定义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DB2DCD-60BA-43C0-A586-9ED08082A1D4}"/>
              </a:ext>
            </a:extLst>
          </p:cNvPr>
          <p:cNvSpPr>
            <a:spLocks noGrp="1"/>
          </p:cNvSpPr>
          <p:nvPr/>
        </p:nvSpPr>
        <p:spPr>
          <a:xfrm>
            <a:off x="514350" y="2562225"/>
            <a:ext cx="2609850" cy="1162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版本化文档与 Registry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证据—对象关联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审核危险近邻与风险类型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65E9CB69-1634-45C2-907D-8435916DD8F1}"/>
              </a:ext>
            </a:extLst>
          </p:cNvPr>
          <p:cNvSpPr>
            <a:spLocks noGrp="1"/>
          </p:cNvSpPr>
          <p:nvPr/>
        </p:nvSpPr>
        <p:spPr>
          <a:xfrm>
            <a:off x="3324225" y="2628900"/>
            <a:ext cx="304800" cy="133350"/>
          </a:xfrm>
          <a:prstGeom prst="rightArrow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B7C1851-7F51-4073-8232-5F78935BF6CD}"/>
              </a:ext>
            </a:extLst>
          </p:cNvPr>
          <p:cNvSpPr>
            <a:spLocks noGrp="1"/>
          </p:cNvSpPr>
          <p:nvPr/>
        </p:nvSpPr>
        <p:spPr>
          <a:xfrm>
            <a:off x="3695700" y="1609725"/>
            <a:ext cx="2876550" cy="2266950"/>
          </a:xfrm>
          <a:prstGeom prst="roundRect">
            <a:avLst>
              <a:gd name="adj" fmla="val 4202"/>
            </a:avLst>
          </a:prstGeom>
          <a:solidFill>
            <a:srgbClr val="FAFAFA"/>
          </a:solidFill>
          <a:ln w="9525">
            <a:solidFill>
              <a:srgbClr val="999999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03C4A5-E1EF-4F94-8071-7D66C00F8FD5}"/>
              </a:ext>
            </a:extLst>
          </p:cNvPr>
          <p:cNvSpPr>
            <a:spLocks noGrp="1"/>
          </p:cNvSpPr>
          <p:nvPr/>
        </p:nvSpPr>
        <p:spPr>
          <a:xfrm>
            <a:off x="3819525" y="1819275"/>
            <a:ext cx="2628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02  基线与上限分析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4BE902-17AA-44E6-8705-93570A4E1EA2}"/>
              </a:ext>
            </a:extLst>
          </p:cNvPr>
          <p:cNvSpPr>
            <a:spLocks noGrp="1"/>
          </p:cNvSpPr>
          <p:nvPr/>
        </p:nvSpPr>
        <p:spPr>
          <a:xfrm>
            <a:off x="3829050" y="2562225"/>
            <a:ext cx="2609850" cy="1162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运行四类检索专家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比较固定融合与规则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计算策略 Oracle 增益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71A65213-8F99-4BE1-8682-BFD1161D6562}"/>
              </a:ext>
            </a:extLst>
          </p:cNvPr>
          <p:cNvSpPr>
            <a:spLocks noGrp="1"/>
          </p:cNvSpPr>
          <p:nvPr/>
        </p:nvSpPr>
        <p:spPr>
          <a:xfrm>
            <a:off x="6638925" y="2628900"/>
            <a:ext cx="304800" cy="133350"/>
          </a:xfrm>
          <a:prstGeom prst="rightArrow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F02563F-38AD-4AB9-9B32-0382D278F173}"/>
              </a:ext>
            </a:extLst>
          </p:cNvPr>
          <p:cNvSpPr>
            <a:spLocks noGrp="1"/>
          </p:cNvSpPr>
          <p:nvPr/>
        </p:nvSpPr>
        <p:spPr>
          <a:xfrm>
            <a:off x="7010400" y="1609725"/>
            <a:ext cx="2876550" cy="2266950"/>
          </a:xfrm>
          <a:prstGeom prst="roundRect">
            <a:avLst>
              <a:gd name="adj" fmla="val 4202"/>
            </a:avLst>
          </a:prstGeom>
          <a:solidFill>
            <a:srgbClr val="F1F1F1"/>
          </a:solidFill>
          <a:ln w="9525">
            <a:solidFill>
              <a:srgbClr val="999999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3B119E-4538-4122-86A8-D62D59E1D54D}"/>
              </a:ext>
            </a:extLst>
          </p:cNvPr>
          <p:cNvSpPr>
            <a:spLocks noGrp="1"/>
          </p:cNvSpPr>
          <p:nvPr/>
        </p:nvSpPr>
        <p:spPr>
          <a:xfrm>
            <a:off x="7134225" y="1819275"/>
            <a:ext cx="2628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03  风险与反事实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AB7B52-1201-414B-BF59-BB775F1CFEFB}"/>
              </a:ext>
            </a:extLst>
          </p:cNvPr>
          <p:cNvSpPr>
            <a:spLocks noGrp="1"/>
          </p:cNvSpPr>
          <p:nvPr/>
        </p:nvSpPr>
        <p:spPr>
          <a:xfrm>
            <a:off x="7143750" y="2562225"/>
            <a:ext cx="2609850" cy="1162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构造单字段近邻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训练逐字段风险与排序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校准回答与拒答阈值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DC0B926B-B030-4ABE-9927-E16DDFF38399}"/>
              </a:ext>
            </a:extLst>
          </p:cNvPr>
          <p:cNvSpPr>
            <a:spLocks noGrp="1"/>
          </p:cNvSpPr>
          <p:nvPr/>
        </p:nvSpPr>
        <p:spPr>
          <a:xfrm>
            <a:off x="9953625" y="2628900"/>
            <a:ext cx="304800" cy="133350"/>
          </a:xfrm>
          <a:prstGeom prst="rightArrow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A7A04ED-E14C-43A7-9053-512901B953EF}"/>
              </a:ext>
            </a:extLst>
          </p:cNvPr>
          <p:cNvSpPr>
            <a:spLocks noGrp="1"/>
          </p:cNvSpPr>
          <p:nvPr/>
        </p:nvSpPr>
        <p:spPr>
          <a:xfrm>
            <a:off x="10325100" y="1609725"/>
            <a:ext cx="2876550" cy="2266950"/>
          </a:xfrm>
          <a:prstGeom prst="roundRect">
            <a:avLst>
              <a:gd name="adj" fmla="val 4202"/>
            </a:avLst>
          </a:prstGeom>
          <a:solidFill>
            <a:srgbClr val="F1F1F1"/>
          </a:solidFill>
          <a:ln w="9525">
            <a:solidFill>
              <a:srgbClr val="999999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E3FB69-E980-4F1D-ACFE-A929007D4A05}"/>
              </a:ext>
            </a:extLst>
          </p:cNvPr>
          <p:cNvSpPr>
            <a:spLocks noGrp="1"/>
          </p:cNvSpPr>
          <p:nvPr/>
        </p:nvSpPr>
        <p:spPr>
          <a:xfrm>
            <a:off x="10448925" y="1819275"/>
            <a:ext cx="2628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04  学习式路由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2DBC34-91CF-4CB1-BEA7-1F573EE3A0E6}"/>
              </a:ext>
            </a:extLst>
          </p:cNvPr>
          <p:cNvSpPr>
            <a:spLocks noGrp="1"/>
          </p:cNvSpPr>
          <p:nvPr/>
        </p:nvSpPr>
        <p:spPr>
          <a:xfrm>
            <a:off x="10458450" y="2562225"/>
            <a:ext cx="2609850" cy="1162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控制特征预测专家权重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风险效用提供监督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消融结构特征与成本项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FA8157E9-DF61-40A7-BE84-E7F345F6B29F}"/>
              </a:ext>
            </a:extLst>
          </p:cNvPr>
          <p:cNvSpPr>
            <a:spLocks noGrp="1"/>
          </p:cNvSpPr>
          <p:nvPr/>
        </p:nvSpPr>
        <p:spPr>
          <a:xfrm>
            <a:off x="13268325" y="2628900"/>
            <a:ext cx="304800" cy="133350"/>
          </a:xfrm>
          <a:prstGeom prst="rightArrow">
            <a:avLst/>
          </a:prstGeom>
          <a:solidFill>
            <a:srgbClr val="333333"/>
          </a:solidFill>
          <a:ln w="0">
            <a:noFill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1EC587-BB67-4AE5-8DF6-984F921F25D2}"/>
              </a:ext>
            </a:extLst>
          </p:cNvPr>
          <p:cNvSpPr>
            <a:spLocks noGrp="1"/>
          </p:cNvSpPr>
          <p:nvPr/>
        </p:nvSpPr>
        <p:spPr>
          <a:xfrm>
            <a:off x="13639800" y="1609725"/>
            <a:ext cx="2876550" cy="2266950"/>
          </a:xfrm>
          <a:prstGeom prst="roundRect">
            <a:avLst>
              <a:gd name="adj" fmla="val 4202"/>
            </a:avLst>
          </a:prstGeom>
          <a:solidFill>
            <a:srgbClr val="FAFAFA"/>
          </a:solidFill>
          <a:ln w="9525">
            <a:solidFill>
              <a:srgbClr val="999999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8CF02E-EE42-4140-94B9-8666A03F5D82}"/>
              </a:ext>
            </a:extLst>
          </p:cNvPr>
          <p:cNvSpPr>
            <a:spLocks noGrp="1"/>
          </p:cNvSpPr>
          <p:nvPr/>
        </p:nvSpPr>
        <p:spPr>
          <a:xfrm>
            <a:off x="13763625" y="1819275"/>
            <a:ext cx="2628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05  综合评测与输出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325158-8F67-40A2-9EFF-836AEEF11DE1}"/>
              </a:ext>
            </a:extLst>
          </p:cNvPr>
          <p:cNvSpPr>
            <a:spLocks noGrp="1"/>
          </p:cNvSpPr>
          <p:nvPr/>
        </p:nvSpPr>
        <p:spPr>
          <a:xfrm>
            <a:off x="13773150" y="2562225"/>
            <a:ext cx="2609850" cy="1162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检索质量与风险暴露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结构 / 时间留出</a:t>
            </a:r>
          </a:p>
          <a:p>
            <a:pPr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再评估生成与引用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DC19E7F-83E9-44E6-86B5-765B9ED59740}"/>
              </a:ext>
            </a:extLst>
          </p:cNvPr>
          <p:cNvSpPr>
            <a:spLocks noGrp="1"/>
          </p:cNvSpPr>
          <p:nvPr/>
        </p:nvSpPr>
        <p:spPr>
          <a:xfrm>
            <a:off x="381000" y="4257675"/>
            <a:ext cx="16135350" cy="504825"/>
          </a:xfrm>
          <a:prstGeom prst="roundRect">
            <a:avLst>
              <a:gd name="adj" fmla="val 18868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5423EB-722C-4B83-8720-4C29BA2DDF0E}"/>
              </a:ext>
            </a:extLst>
          </p:cNvPr>
          <p:cNvSpPr>
            <a:spLocks noGrp="1"/>
          </p:cNvSpPr>
          <p:nvPr/>
        </p:nvSpPr>
        <p:spPr>
          <a:xfrm>
            <a:off x="533400" y="4343400"/>
            <a:ext cx="158305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阶段产物与继续条件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CCF2031-5A6B-469B-B7AE-91B70699755F}"/>
              </a:ext>
            </a:extLst>
          </p:cNvPr>
          <p:cNvSpPr>
            <a:spLocks noGrp="1"/>
          </p:cNvSpPr>
          <p:nvPr/>
        </p:nvSpPr>
        <p:spPr>
          <a:xfrm>
            <a:off x="495300" y="5019675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冻结数据集与划分清单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FAF53C6-FA31-4DF6-823D-60179AC33DE1}"/>
              </a:ext>
            </a:extLst>
          </p:cNvPr>
          <p:cNvSpPr>
            <a:spLocks noGrp="1"/>
          </p:cNvSpPr>
          <p:nvPr/>
        </p:nvSpPr>
        <p:spPr>
          <a:xfrm>
            <a:off x="3810000" y="5019675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基线表与 Oracle 报告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9FC7EA6-9166-4A52-9868-6CEE8D30E3FA}"/>
              </a:ext>
            </a:extLst>
          </p:cNvPr>
          <p:cNvSpPr>
            <a:spLocks noGrp="1"/>
          </p:cNvSpPr>
          <p:nvPr/>
        </p:nvSpPr>
        <p:spPr>
          <a:xfrm>
            <a:off x="7124700" y="5019675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风险模型与负样本脚本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F6F24DA-2121-4D6E-BDD8-F73A3771449A}"/>
              </a:ext>
            </a:extLst>
          </p:cNvPr>
          <p:cNvSpPr>
            <a:spLocks noGrp="1"/>
          </p:cNvSpPr>
          <p:nvPr/>
        </p:nvSpPr>
        <p:spPr>
          <a:xfrm>
            <a:off x="10439400" y="5019675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路由模型与消融结果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77E4934-CEB8-4C21-BD7D-B88D3401A444}"/>
              </a:ext>
            </a:extLst>
          </p:cNvPr>
          <p:cNvSpPr>
            <a:spLocks noGrp="1"/>
          </p:cNvSpPr>
          <p:nvPr/>
        </p:nvSpPr>
        <p:spPr>
          <a:xfrm>
            <a:off x="13754100" y="5019675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论文证据链与可复现示例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8D95018-CD9E-4194-852C-66B6FF794B95}"/>
              </a:ext>
            </a:extLst>
          </p:cNvPr>
          <p:cNvSpPr>
            <a:spLocks noGrp="1"/>
          </p:cNvSpPr>
          <p:nvPr/>
        </p:nvSpPr>
        <p:spPr>
          <a:xfrm>
            <a:off x="542925" y="5905500"/>
            <a:ext cx="7524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路由门槛：Oracle 空间小，采用固定混合；学习路由缺少额外收益时，停止增加路由复杂度。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A0E8185-A363-4973-BFA8-C373155C7D37}"/>
              </a:ext>
            </a:extLst>
          </p:cNvPr>
          <p:cNvSpPr>
            <a:spLocks noGrp="1"/>
          </p:cNvSpPr>
          <p:nvPr/>
        </p:nvSpPr>
        <p:spPr>
          <a:xfrm>
            <a:off x="8829675" y="5905500"/>
            <a:ext cx="7477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风险门槛：学习评分与规则过滤相当，保留可解释规则；反事实无额外收益时，收缩相应创新主张。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E2361FF-6AC7-4167-B838-18B2A9D70144}"/>
              </a:ext>
            </a:extLst>
          </p:cNvPr>
          <p:cNvSpPr>
            <a:spLocks noGrp="1"/>
          </p:cNvSpPr>
          <p:nvPr/>
        </p:nvSpPr>
        <p:spPr>
          <a:xfrm>
            <a:off x="381000" y="7200900"/>
            <a:ext cx="16135350" cy="5715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9525">
            <a:solidFill>
              <a:srgbClr val="999999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57657F8-F76B-45FF-B5B7-2BF0208336EF}"/>
              </a:ext>
            </a:extLst>
          </p:cNvPr>
          <p:cNvSpPr>
            <a:spLocks noGrp="1"/>
          </p:cNvSpPr>
          <p:nvPr/>
        </p:nvSpPr>
        <p:spPr>
          <a:xfrm>
            <a:off x="542925" y="7305675"/>
            <a:ext cx="15763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贯穿全程：先分组后生成，训练 / 开发 / 校准 / 测试分离，记录数据快照与配置；评测结果不回流到训练。</a:t>
            </a:r>
          </a:p>
        </p:txBody>
      </p:sp>
    </p:spTree>
    <p:extLst>
      <p:ext uri="{BB962C8B-B14F-4D97-AF65-F5344CB8AC3E}">
        <p14:creationId xmlns:p14="http://schemas.microsoft.com/office/powerpoint/2010/main" val="209261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2410</Words>
  <Application>Microsoft Office PowerPoint</Application>
  <DocSecurity>0</DocSecurity>
  <PresentationFormat>自定义</PresentationFormat>
  <Paragraphs>353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SimSun</vt:lpstr>
      <vt:lpstr>Microsoft YaHei</vt:lpstr>
      <vt:lpstr>Arial</vt:lpstr>
      <vt:lpstr>Symbol</vt:lpstr>
      <vt:lpstr>Times New Roman</vt:lpstr>
      <vt:lpstr>Wingdings</vt:lpstr>
      <vt:lpstr>Office Theme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浩龙 王</cp:lastModifiedBy>
  <cp:revision>1</cp:revision>
  <dcterms:created xsi:type="dcterms:W3CDTF">2026-09-08T09:44:24Z</dcterms:created>
  <dcterms:modified xsi:type="dcterms:W3CDTF">2026-09-09T00:30:42Z</dcterms:modified>
</cp:coreProperties>
</file>